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0" r:id="rId1"/>
  </p:sldMasterIdLst>
  <p:notesMasterIdLst>
    <p:notesMasterId r:id="rId29"/>
  </p:notesMasterIdLst>
  <p:handoutMasterIdLst>
    <p:handoutMasterId r:id="rId30"/>
  </p:handoutMasterIdLst>
  <p:sldIdLst>
    <p:sldId id="262" r:id="rId2"/>
    <p:sldId id="334" r:id="rId3"/>
    <p:sldId id="509" r:id="rId4"/>
    <p:sldId id="511" r:id="rId5"/>
    <p:sldId id="510" r:id="rId6"/>
    <p:sldId id="517" r:id="rId7"/>
    <p:sldId id="518" r:id="rId8"/>
    <p:sldId id="519" r:id="rId9"/>
    <p:sldId id="513" r:id="rId10"/>
    <p:sldId id="515" r:id="rId11"/>
    <p:sldId id="516" r:id="rId12"/>
    <p:sldId id="512" r:id="rId13"/>
    <p:sldId id="514" r:id="rId14"/>
    <p:sldId id="520" r:id="rId15"/>
    <p:sldId id="521" r:id="rId16"/>
    <p:sldId id="524" r:id="rId17"/>
    <p:sldId id="525" r:id="rId18"/>
    <p:sldId id="522" r:id="rId19"/>
    <p:sldId id="526" r:id="rId20"/>
    <p:sldId id="527" r:id="rId21"/>
    <p:sldId id="523" r:id="rId22"/>
    <p:sldId id="448" r:id="rId23"/>
    <p:sldId id="487" r:id="rId24"/>
    <p:sldId id="501" r:id="rId25"/>
    <p:sldId id="502" r:id="rId26"/>
    <p:sldId id="506" r:id="rId27"/>
    <p:sldId id="503" r:id="rId28"/>
  </p:sldIdLst>
  <p:sldSz cx="9144000" cy="6858000" type="screen4x3"/>
  <p:notesSz cx="7102475" cy="10233025"/>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935EA99-08A5-4FFD-BBE4-2ED928D94667}">
          <p14:sldIdLst>
            <p14:sldId id="262"/>
            <p14:sldId id="334"/>
            <p14:sldId id="509"/>
            <p14:sldId id="511"/>
            <p14:sldId id="510"/>
            <p14:sldId id="517"/>
            <p14:sldId id="518"/>
            <p14:sldId id="519"/>
            <p14:sldId id="513"/>
            <p14:sldId id="515"/>
            <p14:sldId id="516"/>
            <p14:sldId id="512"/>
            <p14:sldId id="514"/>
            <p14:sldId id="520"/>
            <p14:sldId id="521"/>
            <p14:sldId id="524"/>
            <p14:sldId id="525"/>
            <p14:sldId id="522"/>
            <p14:sldId id="526"/>
            <p14:sldId id="527"/>
            <p14:sldId id="523"/>
            <p14:sldId id="448"/>
            <p14:sldId id="487"/>
            <p14:sldId id="501"/>
            <p14:sldId id="502"/>
            <p14:sldId id="506"/>
            <p14:sldId id="503"/>
          </p14:sldIdLst>
        </p14:section>
        <p14:section name="Untitled Section" id="{0997A219-2C2E-4E13-9AB9-4E699D2A50AD}">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332" autoAdjust="0"/>
  </p:normalViewPr>
  <p:slideViewPr>
    <p:cSldViewPr>
      <p:cViewPr varScale="1">
        <p:scale>
          <a:sx n="107" d="100"/>
          <a:sy n="107" d="100"/>
        </p:scale>
        <p:origin x="9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3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sz="quarter" idx="1"/>
          </p:nvPr>
        </p:nvSpPr>
        <p:spPr>
          <a:xfrm>
            <a:off x="4022725" y="0"/>
            <a:ext cx="3078163" cy="512763"/>
          </a:xfrm>
          <a:prstGeom prst="rect">
            <a:avLst/>
          </a:prstGeom>
        </p:spPr>
        <p:txBody>
          <a:bodyPr vert="horz" lIns="91440" tIns="45720" rIns="91440" bIns="45720" rtlCol="0"/>
          <a:lstStyle>
            <a:lvl1pPr algn="r">
              <a:defRPr sz="1200"/>
            </a:lvl1pPr>
          </a:lstStyle>
          <a:p>
            <a:fld id="{8819A738-75E1-4C7C-8637-C9E4A538AFEF}" type="datetimeFigureOut">
              <a:rPr lang="pt-PT" smtClean="0"/>
              <a:t>17/05/2026</a:t>
            </a:fld>
            <a:endParaRPr lang="pt-PT"/>
          </a:p>
        </p:txBody>
      </p:sp>
      <p:sp>
        <p:nvSpPr>
          <p:cNvPr id="4" name="Footer Placeholder 3"/>
          <p:cNvSpPr>
            <a:spLocks noGrp="1"/>
          </p:cNvSpPr>
          <p:nvPr>
            <p:ph type="ftr" sz="quarter" idx="2"/>
          </p:nvPr>
        </p:nvSpPr>
        <p:spPr>
          <a:xfrm>
            <a:off x="0" y="9720263"/>
            <a:ext cx="3078163" cy="512762"/>
          </a:xfrm>
          <a:prstGeom prst="rect">
            <a:avLst/>
          </a:prstGeom>
        </p:spPr>
        <p:txBody>
          <a:bodyPr vert="horz" lIns="91440" tIns="45720" rIns="91440" bIns="45720" rtlCol="0" anchor="b"/>
          <a:lstStyle>
            <a:lvl1pPr algn="l">
              <a:defRPr sz="1200"/>
            </a:lvl1pPr>
          </a:lstStyle>
          <a:p>
            <a:endParaRPr lang="pt-PT"/>
          </a:p>
        </p:txBody>
      </p:sp>
      <p:sp>
        <p:nvSpPr>
          <p:cNvPr id="5" name="Slide Number Placeholder 4"/>
          <p:cNvSpPr>
            <a:spLocks noGrp="1"/>
          </p:cNvSpPr>
          <p:nvPr>
            <p:ph type="sldNum" sz="quarter" idx="3"/>
          </p:nvPr>
        </p:nvSpPr>
        <p:spPr>
          <a:xfrm>
            <a:off x="4022725" y="9720263"/>
            <a:ext cx="3078163" cy="512762"/>
          </a:xfrm>
          <a:prstGeom prst="rect">
            <a:avLst/>
          </a:prstGeom>
        </p:spPr>
        <p:txBody>
          <a:bodyPr vert="horz" lIns="91440" tIns="45720" rIns="91440" bIns="45720" rtlCol="0" anchor="b"/>
          <a:lstStyle>
            <a:lvl1pPr algn="r">
              <a:defRPr sz="1200"/>
            </a:lvl1pPr>
          </a:lstStyle>
          <a:p>
            <a:fld id="{D38FCD3E-126B-4443-9336-3182E4D272D4}" type="slidenum">
              <a:rPr lang="pt-PT" smtClean="0"/>
              <a:t>‹#›</a:t>
            </a:fld>
            <a:endParaRPr lang="pt-PT"/>
          </a:p>
        </p:txBody>
      </p:sp>
    </p:spTree>
    <p:extLst>
      <p:ext uri="{BB962C8B-B14F-4D97-AF65-F5344CB8AC3E}">
        <p14:creationId xmlns:p14="http://schemas.microsoft.com/office/powerpoint/2010/main" val="1877049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7739" cy="511651"/>
          </a:xfrm>
          <a:prstGeom prst="rect">
            <a:avLst/>
          </a:prstGeom>
        </p:spPr>
        <p:txBody>
          <a:bodyPr vert="horz" lIns="99053" tIns="49527" rIns="99053" bIns="49527" rtlCol="0"/>
          <a:lstStyle>
            <a:lvl1pPr algn="l">
              <a:defRPr sz="1300"/>
            </a:lvl1pPr>
          </a:lstStyle>
          <a:p>
            <a:endParaRPr lang="pt-PT"/>
          </a:p>
        </p:txBody>
      </p:sp>
      <p:sp>
        <p:nvSpPr>
          <p:cNvPr id="3" name="Date Placeholder 2"/>
          <p:cNvSpPr>
            <a:spLocks noGrp="1"/>
          </p:cNvSpPr>
          <p:nvPr>
            <p:ph type="dt" idx="1"/>
          </p:nvPr>
        </p:nvSpPr>
        <p:spPr>
          <a:xfrm>
            <a:off x="4023093" y="1"/>
            <a:ext cx="3077739" cy="511651"/>
          </a:xfrm>
          <a:prstGeom prst="rect">
            <a:avLst/>
          </a:prstGeom>
        </p:spPr>
        <p:txBody>
          <a:bodyPr vert="horz" lIns="99053" tIns="49527" rIns="99053" bIns="49527" rtlCol="0"/>
          <a:lstStyle>
            <a:lvl1pPr algn="r">
              <a:defRPr sz="1300"/>
            </a:lvl1pPr>
          </a:lstStyle>
          <a:p>
            <a:fld id="{A6809787-5851-46F0-81D5-70A8E9BD1925}" type="datetimeFigureOut">
              <a:rPr lang="pt-PT" smtClean="0"/>
              <a:pPr/>
              <a:t>17/05/2026</a:t>
            </a:fld>
            <a:endParaRPr lang="pt-PT"/>
          </a:p>
        </p:txBody>
      </p:sp>
      <p:sp>
        <p:nvSpPr>
          <p:cNvPr id="4" name="Slide Image Placeholder 3"/>
          <p:cNvSpPr>
            <a:spLocks noGrp="1" noRot="1" noChangeAspect="1"/>
          </p:cNvSpPr>
          <p:nvPr>
            <p:ph type="sldImg" idx="2"/>
          </p:nvPr>
        </p:nvSpPr>
        <p:spPr>
          <a:xfrm>
            <a:off x="992188" y="766763"/>
            <a:ext cx="5118100" cy="3838575"/>
          </a:xfrm>
          <a:prstGeom prst="rect">
            <a:avLst/>
          </a:prstGeom>
          <a:noFill/>
          <a:ln w="12700">
            <a:solidFill>
              <a:prstClr val="black"/>
            </a:solidFill>
          </a:ln>
        </p:spPr>
        <p:txBody>
          <a:bodyPr vert="horz" lIns="99053" tIns="49527" rIns="99053" bIns="49527" rtlCol="0" anchor="ctr"/>
          <a:lstStyle/>
          <a:p>
            <a:endParaRPr lang="pt-PT"/>
          </a:p>
        </p:txBody>
      </p:sp>
      <p:sp>
        <p:nvSpPr>
          <p:cNvPr id="5" name="Notes Placeholder 4"/>
          <p:cNvSpPr>
            <a:spLocks noGrp="1"/>
          </p:cNvSpPr>
          <p:nvPr>
            <p:ph type="body" sz="quarter" idx="3"/>
          </p:nvPr>
        </p:nvSpPr>
        <p:spPr>
          <a:xfrm>
            <a:off x="710248" y="4860688"/>
            <a:ext cx="5681980" cy="4604861"/>
          </a:xfrm>
          <a:prstGeom prst="rect">
            <a:avLst/>
          </a:prstGeom>
        </p:spPr>
        <p:txBody>
          <a:bodyPr vert="horz" lIns="99053" tIns="49527" rIns="99053" bIns="4952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6" name="Footer Placeholder 5"/>
          <p:cNvSpPr>
            <a:spLocks noGrp="1"/>
          </p:cNvSpPr>
          <p:nvPr>
            <p:ph type="ftr" sz="quarter" idx="4"/>
          </p:nvPr>
        </p:nvSpPr>
        <p:spPr>
          <a:xfrm>
            <a:off x="0" y="9719599"/>
            <a:ext cx="3077739" cy="511651"/>
          </a:xfrm>
          <a:prstGeom prst="rect">
            <a:avLst/>
          </a:prstGeom>
        </p:spPr>
        <p:txBody>
          <a:bodyPr vert="horz" lIns="99053" tIns="49527" rIns="99053" bIns="49527" rtlCol="0" anchor="b"/>
          <a:lstStyle>
            <a:lvl1pPr algn="l">
              <a:defRPr sz="1300"/>
            </a:lvl1pPr>
          </a:lstStyle>
          <a:p>
            <a:endParaRPr lang="pt-PT"/>
          </a:p>
        </p:txBody>
      </p:sp>
      <p:sp>
        <p:nvSpPr>
          <p:cNvPr id="7" name="Slide Number Placeholder 6"/>
          <p:cNvSpPr>
            <a:spLocks noGrp="1"/>
          </p:cNvSpPr>
          <p:nvPr>
            <p:ph type="sldNum" sz="quarter" idx="5"/>
          </p:nvPr>
        </p:nvSpPr>
        <p:spPr>
          <a:xfrm>
            <a:off x="4023093" y="9719599"/>
            <a:ext cx="3077739" cy="511651"/>
          </a:xfrm>
          <a:prstGeom prst="rect">
            <a:avLst/>
          </a:prstGeom>
        </p:spPr>
        <p:txBody>
          <a:bodyPr vert="horz" lIns="99053" tIns="49527" rIns="99053" bIns="49527" rtlCol="0" anchor="b"/>
          <a:lstStyle>
            <a:lvl1pPr algn="r">
              <a:defRPr sz="1300"/>
            </a:lvl1pPr>
          </a:lstStyle>
          <a:p>
            <a:fld id="{F1F81DA9-40D6-4B2A-B2DC-E50C551AA1C4}" type="slidenum">
              <a:rPr lang="pt-PT" smtClean="0"/>
              <a:pPr/>
              <a:t>‹#›</a:t>
            </a:fld>
            <a:endParaRPr lang="pt-PT"/>
          </a:p>
        </p:txBody>
      </p:sp>
    </p:spTree>
    <p:extLst>
      <p:ext uri="{BB962C8B-B14F-4D97-AF65-F5344CB8AC3E}">
        <p14:creationId xmlns:p14="http://schemas.microsoft.com/office/powerpoint/2010/main" val="471999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F1F81DA9-40D6-4B2A-B2DC-E50C551AA1C4}" type="slidenum">
              <a:rPr lang="pt-PT" smtClean="0"/>
              <a:pPr/>
              <a:t>1</a:t>
            </a:fld>
            <a:endParaRPr lang="pt-PT"/>
          </a:p>
        </p:txBody>
      </p:sp>
    </p:spTree>
    <p:extLst>
      <p:ext uri="{BB962C8B-B14F-4D97-AF65-F5344CB8AC3E}">
        <p14:creationId xmlns:p14="http://schemas.microsoft.com/office/powerpoint/2010/main" val="3872148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Vcsagslkadsafsd</a:t>
            </a:r>
            <a:endParaRPr lang="en-US" dirty="0"/>
          </a:p>
          <a:p>
            <a:endParaRPr lang="en-US" dirty="0"/>
          </a:p>
          <a:p>
            <a:r>
              <a:rPr lang="en-US" dirty="0" err="1"/>
              <a:t>fsdaf</a:t>
            </a:r>
            <a:endParaRPr lang="pt-PT" dirty="0"/>
          </a:p>
        </p:txBody>
      </p:sp>
      <p:sp>
        <p:nvSpPr>
          <p:cNvPr id="4" name="Slide Number Placeholder 3"/>
          <p:cNvSpPr>
            <a:spLocks noGrp="1"/>
          </p:cNvSpPr>
          <p:nvPr>
            <p:ph type="sldNum" sz="quarter" idx="10"/>
          </p:nvPr>
        </p:nvSpPr>
        <p:spPr/>
        <p:txBody>
          <a:bodyPr/>
          <a:lstStyle/>
          <a:p>
            <a:fld id="{F1F81DA9-40D6-4B2A-B2DC-E50C551AA1C4}" type="slidenum">
              <a:rPr lang="pt-PT" smtClean="0"/>
              <a:pPr/>
              <a:t>23</a:t>
            </a:fld>
            <a:endParaRPr lang="pt-PT"/>
          </a:p>
        </p:txBody>
      </p:sp>
    </p:spTree>
    <p:extLst>
      <p:ext uri="{BB962C8B-B14F-4D97-AF65-F5344CB8AC3E}">
        <p14:creationId xmlns:p14="http://schemas.microsoft.com/office/powerpoint/2010/main" val="2560157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dirty="0"/>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082F2E03-5935-46B7-9C02-2115F005D2A6}" type="datetime1">
              <a:rPr lang="pt-PT" smtClean="0"/>
              <a:t>17/05/2026</a:t>
            </a:fld>
            <a:endParaRPr lang="pt-PT"/>
          </a:p>
        </p:txBody>
      </p:sp>
      <p:sp>
        <p:nvSpPr>
          <p:cNvPr id="17" name="Footer Placeholder 16"/>
          <p:cNvSpPr>
            <a:spLocks noGrp="1"/>
          </p:cNvSpPr>
          <p:nvPr>
            <p:ph type="ftr" sz="quarter" idx="11"/>
          </p:nvPr>
        </p:nvSpPr>
        <p:spPr>
          <a:xfrm>
            <a:off x="2898648" y="6355080"/>
            <a:ext cx="3474720" cy="365760"/>
          </a:xfrm>
        </p:spPr>
        <p:txBody>
          <a:bodyPr/>
          <a:lstStyle/>
          <a:p>
            <a:r>
              <a:rPr lang="pt-PT" dirty="0" err="1"/>
              <a:t>BigData</a:t>
            </a:r>
            <a:r>
              <a:rPr lang="pt-PT" dirty="0"/>
              <a:t> - João Costa</a:t>
            </a:r>
          </a:p>
        </p:txBody>
      </p:sp>
      <p:sp>
        <p:nvSpPr>
          <p:cNvPr id="29" name="Slide Number Placeholder 28"/>
          <p:cNvSpPr>
            <a:spLocks noGrp="1"/>
          </p:cNvSpPr>
          <p:nvPr>
            <p:ph type="sldNum" sz="quarter" idx="12"/>
          </p:nvPr>
        </p:nvSpPr>
        <p:spPr>
          <a:xfrm>
            <a:off x="1216152" y="6355080"/>
            <a:ext cx="1219200" cy="365760"/>
          </a:xfrm>
        </p:spPr>
        <p:txBody>
          <a:bodyPr/>
          <a:lstStyle/>
          <a:p>
            <a:fld id="{51C52B0B-E753-43CA-AAC2-5F5B7738FA84}" type="slidenum">
              <a:rPr lang="pt-PT" smtClean="0"/>
              <a:pPr/>
              <a:t>‹#›</a:t>
            </a:fld>
            <a:endParaRPr lang="pt-PT"/>
          </a:p>
        </p:txBody>
      </p:sp>
      <p:sp>
        <p:nvSpPr>
          <p:cNvPr id="21" name="Rectangle 20"/>
          <p:cNvSpPr/>
          <p:nvPr/>
        </p:nvSpPr>
        <p:spPr>
          <a:xfrm>
            <a:off x="904875" y="3143248"/>
            <a:ext cx="7315200" cy="1784987"/>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143248"/>
            <a:ext cx="228600" cy="1784987"/>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a:xfrm>
            <a:off x="7092280" y="6356350"/>
            <a:ext cx="1597568" cy="365760"/>
          </a:xfrm>
        </p:spPr>
        <p:txBody>
          <a:bodyPr/>
          <a:lstStyle/>
          <a:p>
            <a:fld id="{53F5BB0A-7C06-4878-9FCB-1FB9ADCC065C}" type="datetime1">
              <a:rPr lang="pt-PT" smtClean="0"/>
              <a:t>17/05/2026</a:t>
            </a:fld>
            <a:endParaRPr lang="pt-PT"/>
          </a:p>
        </p:txBody>
      </p:sp>
      <p:sp>
        <p:nvSpPr>
          <p:cNvPr id="5" name="Footer Placeholder 4"/>
          <p:cNvSpPr>
            <a:spLocks noGrp="1"/>
          </p:cNvSpPr>
          <p:nvPr>
            <p:ph type="ftr" sz="quarter" idx="11"/>
          </p:nvPr>
        </p:nvSpPr>
        <p:spPr>
          <a:xfrm>
            <a:off x="1763688" y="6356350"/>
            <a:ext cx="5325544" cy="365760"/>
          </a:xfrm>
        </p:spPr>
        <p:txBody>
          <a:bodyPr/>
          <a:lstStyle>
            <a:lvl1pPr algn="ctr">
              <a:defRPr sz="1200"/>
            </a:lvl1pPr>
          </a:lstStyle>
          <a:p>
            <a:r>
              <a:rPr lang="pt-PT" dirty="0" err="1"/>
              <a:t>BigData</a:t>
            </a:r>
            <a:r>
              <a:rPr lang="pt-PT" dirty="0"/>
              <a:t> - João Costa</a:t>
            </a:r>
          </a:p>
        </p:txBody>
      </p:sp>
      <p:sp>
        <p:nvSpPr>
          <p:cNvPr id="6" name="Slide Number Placeholder 5"/>
          <p:cNvSpPr>
            <a:spLocks noGrp="1"/>
          </p:cNvSpPr>
          <p:nvPr>
            <p:ph type="sldNum" sz="quarter" idx="12"/>
          </p:nvPr>
        </p:nvSpPr>
        <p:spPr/>
        <p:txBody>
          <a:bodyPr/>
          <a:lstStyle/>
          <a:p>
            <a:fld id="{51C52B0B-E753-43CA-AAC2-5F5B7738FA84}" type="slidenum">
              <a:rPr lang="pt-PT" smtClean="0"/>
              <a:pPr/>
              <a:t>‹#›</a:t>
            </a:fld>
            <a:endParaRPr lang="pt-PT"/>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3D2CF42D-0916-4706-9051-6A698DF5949A}" type="datetime1">
              <a:rPr lang="pt-PT" smtClean="0"/>
              <a:t>17/05/2026</a:t>
            </a:fld>
            <a:endParaRPr lang="pt-PT"/>
          </a:p>
        </p:txBody>
      </p:sp>
      <p:sp>
        <p:nvSpPr>
          <p:cNvPr id="5" name="Footer Placeholder 4"/>
          <p:cNvSpPr>
            <a:spLocks noGrp="1"/>
          </p:cNvSpPr>
          <p:nvPr>
            <p:ph type="ftr" sz="quarter" idx="11"/>
          </p:nvPr>
        </p:nvSpPr>
        <p:spPr>
          <a:xfrm>
            <a:off x="2898648" y="6355080"/>
            <a:ext cx="3474720" cy="365760"/>
          </a:xfrm>
        </p:spPr>
        <p:txBody>
          <a:bodyPr/>
          <a:lstStyle/>
          <a:p>
            <a:r>
              <a:rPr lang="pt-PT" dirty="0" err="1"/>
              <a:t>BigData</a:t>
            </a:r>
            <a:r>
              <a:rPr lang="pt-PT" dirty="0"/>
              <a:t> - João Costa</a:t>
            </a:r>
          </a:p>
        </p:txBody>
      </p:sp>
      <p:sp>
        <p:nvSpPr>
          <p:cNvPr id="6" name="Slide Number Placeholder 5"/>
          <p:cNvSpPr>
            <a:spLocks noGrp="1"/>
          </p:cNvSpPr>
          <p:nvPr>
            <p:ph type="sldNum" sz="quarter" idx="12"/>
          </p:nvPr>
        </p:nvSpPr>
        <p:spPr>
          <a:xfrm>
            <a:off x="1069848" y="6355080"/>
            <a:ext cx="1520952" cy="365760"/>
          </a:xfrm>
        </p:spPr>
        <p:txBody>
          <a:bodyPr/>
          <a:lstStyle/>
          <a:p>
            <a:fld id="{51C52B0B-E753-43CA-AAC2-5F5B7738FA84}" type="slidenum">
              <a:rPr lang="pt-PT" smtClean="0"/>
              <a:pPr/>
              <a:t>‹#›</a:t>
            </a:fld>
            <a:endParaRPr lang="pt-PT"/>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E85DF023-566A-4223-AA73-552E38FA57C4}" type="datetime1">
              <a:rPr lang="pt-PT" smtClean="0"/>
              <a:t>17/05/2026</a:t>
            </a:fld>
            <a:endParaRPr lang="pt-PT"/>
          </a:p>
        </p:txBody>
      </p:sp>
      <p:sp>
        <p:nvSpPr>
          <p:cNvPr id="6" name="Footer Placeholder 5"/>
          <p:cNvSpPr>
            <a:spLocks noGrp="1"/>
          </p:cNvSpPr>
          <p:nvPr>
            <p:ph type="ftr" sz="quarter" idx="11"/>
          </p:nvPr>
        </p:nvSpPr>
        <p:spPr/>
        <p:txBody>
          <a:bodyPr/>
          <a:lstStyle/>
          <a:p>
            <a:r>
              <a:rPr lang="pt-PT" dirty="0" err="1"/>
              <a:t>BigData</a:t>
            </a:r>
            <a:r>
              <a:rPr lang="pt-PT" dirty="0"/>
              <a:t> - João Costa</a:t>
            </a:r>
          </a:p>
        </p:txBody>
      </p:sp>
      <p:sp>
        <p:nvSpPr>
          <p:cNvPr id="7" name="Slide Number Placeholder 6"/>
          <p:cNvSpPr>
            <a:spLocks noGrp="1"/>
          </p:cNvSpPr>
          <p:nvPr>
            <p:ph type="sldNum" sz="quarter" idx="12"/>
          </p:nvPr>
        </p:nvSpPr>
        <p:spPr/>
        <p:txBody>
          <a:bodyPr/>
          <a:lstStyle/>
          <a:p>
            <a:fld id="{51C52B0B-E753-43CA-AAC2-5F5B7738FA84}" type="slidenum">
              <a:rPr lang="pt-PT" smtClean="0"/>
              <a:pPr/>
              <a:t>‹#›</a:t>
            </a:fld>
            <a:endParaRPr lang="pt-PT"/>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E3D5DC6-F30C-4E6F-A746-B0D1DF1E1ECB}" type="datetime1">
              <a:rPr lang="pt-PT" smtClean="0"/>
              <a:t>17/05/2026</a:t>
            </a:fld>
            <a:endParaRPr lang="pt-PT"/>
          </a:p>
        </p:txBody>
      </p:sp>
      <p:sp>
        <p:nvSpPr>
          <p:cNvPr id="8" name="Footer Placeholder 7"/>
          <p:cNvSpPr>
            <a:spLocks noGrp="1"/>
          </p:cNvSpPr>
          <p:nvPr>
            <p:ph type="ftr" sz="quarter" idx="11"/>
          </p:nvPr>
        </p:nvSpPr>
        <p:spPr/>
        <p:txBody>
          <a:bodyPr/>
          <a:lstStyle/>
          <a:p>
            <a:r>
              <a:rPr lang="pt-PT" dirty="0" err="1"/>
              <a:t>BigData</a:t>
            </a:r>
            <a:r>
              <a:rPr lang="pt-PT" dirty="0"/>
              <a:t> - João Costa</a:t>
            </a:r>
          </a:p>
        </p:txBody>
      </p:sp>
      <p:sp>
        <p:nvSpPr>
          <p:cNvPr id="9" name="Slide Number Placeholder 8"/>
          <p:cNvSpPr>
            <a:spLocks noGrp="1"/>
          </p:cNvSpPr>
          <p:nvPr>
            <p:ph type="sldNum" sz="quarter" idx="12"/>
          </p:nvPr>
        </p:nvSpPr>
        <p:spPr/>
        <p:txBody>
          <a:bodyPr/>
          <a:lstStyle/>
          <a:p>
            <a:fld id="{51C52B0B-E753-43CA-AAC2-5F5B7738FA84}" type="slidenum">
              <a:rPr lang="pt-PT" smtClean="0"/>
              <a:pPr/>
              <a:t>‹#›</a:t>
            </a:fld>
            <a:endParaRPr lang="pt-PT"/>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E8D6EF2B-5503-437D-B558-160570451171}" type="datetime1">
              <a:rPr lang="pt-PT" smtClean="0"/>
              <a:t>17/05/2026</a:t>
            </a:fld>
            <a:endParaRPr lang="pt-PT"/>
          </a:p>
        </p:txBody>
      </p:sp>
      <p:sp>
        <p:nvSpPr>
          <p:cNvPr id="4" name="Footer Placeholder 3"/>
          <p:cNvSpPr>
            <a:spLocks noGrp="1"/>
          </p:cNvSpPr>
          <p:nvPr>
            <p:ph type="ftr" sz="quarter" idx="11"/>
          </p:nvPr>
        </p:nvSpPr>
        <p:spPr/>
        <p:txBody>
          <a:bodyPr/>
          <a:lstStyle/>
          <a:p>
            <a:r>
              <a:rPr lang="pt-PT" dirty="0" err="1"/>
              <a:t>BigData</a:t>
            </a:r>
            <a:r>
              <a:rPr lang="pt-PT" dirty="0"/>
              <a:t> - João Costa</a:t>
            </a:r>
          </a:p>
        </p:txBody>
      </p:sp>
      <p:sp>
        <p:nvSpPr>
          <p:cNvPr id="5" name="Slide Number Placeholder 4"/>
          <p:cNvSpPr>
            <a:spLocks noGrp="1"/>
          </p:cNvSpPr>
          <p:nvPr>
            <p:ph type="sldNum" sz="quarter" idx="12"/>
          </p:nvPr>
        </p:nvSpPr>
        <p:spPr/>
        <p:txBody>
          <a:bodyPr/>
          <a:lstStyle/>
          <a:p>
            <a:fld id="{51C52B0B-E753-43CA-AAC2-5F5B7738FA84}" type="slidenum">
              <a:rPr lang="pt-PT" smtClean="0"/>
              <a:pPr/>
              <a:t>‹#›</a:t>
            </a:fld>
            <a:endParaRPr lang="pt-PT"/>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B0C1DC-BC03-4E38-A044-1CEE7E7801CA}" type="datetime1">
              <a:rPr lang="pt-PT" smtClean="0"/>
              <a:t>17/05/2026</a:t>
            </a:fld>
            <a:endParaRPr lang="pt-PT"/>
          </a:p>
        </p:txBody>
      </p:sp>
      <p:sp>
        <p:nvSpPr>
          <p:cNvPr id="3" name="Footer Placeholder 2"/>
          <p:cNvSpPr>
            <a:spLocks noGrp="1"/>
          </p:cNvSpPr>
          <p:nvPr>
            <p:ph type="ftr" sz="quarter" idx="11"/>
          </p:nvPr>
        </p:nvSpPr>
        <p:spPr/>
        <p:txBody>
          <a:bodyPr/>
          <a:lstStyle/>
          <a:p>
            <a:r>
              <a:rPr lang="pt-PT" dirty="0" err="1"/>
              <a:t>BigData</a:t>
            </a:r>
            <a:r>
              <a:rPr lang="pt-PT" dirty="0"/>
              <a:t> - João Costa</a:t>
            </a:r>
          </a:p>
        </p:txBody>
      </p:sp>
      <p:sp>
        <p:nvSpPr>
          <p:cNvPr id="4" name="Slide Number Placeholder 3"/>
          <p:cNvSpPr>
            <a:spLocks noGrp="1"/>
          </p:cNvSpPr>
          <p:nvPr>
            <p:ph type="sldNum" sz="quarter" idx="12"/>
          </p:nvPr>
        </p:nvSpPr>
        <p:spPr/>
        <p:txBody>
          <a:bodyPr/>
          <a:lstStyle/>
          <a:p>
            <a:fld id="{51C52B0B-E753-43CA-AAC2-5F5B7738FA84}" type="slidenum">
              <a:rPr lang="pt-PT" smtClean="0"/>
              <a:pPr/>
              <a:t>‹#›</a:t>
            </a:fld>
            <a:endParaRPr lang="pt-PT"/>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0707DBA-F4FE-4160-B298-91AB515A4D8C}" type="datetime1">
              <a:rPr lang="pt-PT" smtClean="0"/>
              <a:t>17/05/2026</a:t>
            </a:fld>
            <a:endParaRPr lang="pt-PT"/>
          </a:p>
        </p:txBody>
      </p:sp>
      <p:sp>
        <p:nvSpPr>
          <p:cNvPr id="6" name="Footer Placeholder 5"/>
          <p:cNvSpPr>
            <a:spLocks noGrp="1"/>
          </p:cNvSpPr>
          <p:nvPr>
            <p:ph type="ftr" sz="quarter" idx="11"/>
          </p:nvPr>
        </p:nvSpPr>
        <p:spPr/>
        <p:txBody>
          <a:bodyPr/>
          <a:lstStyle/>
          <a:p>
            <a:r>
              <a:rPr lang="pt-PT" dirty="0" err="1"/>
              <a:t>BigData</a:t>
            </a:r>
            <a:r>
              <a:rPr lang="pt-PT" dirty="0"/>
              <a:t> - João Costa</a:t>
            </a:r>
          </a:p>
        </p:txBody>
      </p:sp>
      <p:sp>
        <p:nvSpPr>
          <p:cNvPr id="7" name="Slide Number Placeholder 6"/>
          <p:cNvSpPr>
            <a:spLocks noGrp="1"/>
          </p:cNvSpPr>
          <p:nvPr>
            <p:ph type="sldNum" sz="quarter" idx="12"/>
          </p:nvPr>
        </p:nvSpPr>
        <p:spPr/>
        <p:txBody>
          <a:bodyPr/>
          <a:lstStyle/>
          <a:p>
            <a:fld id="{51C52B0B-E753-43CA-AAC2-5F5B7738FA84}" type="slidenum">
              <a:rPr lang="pt-PT" smtClean="0"/>
              <a:pPr/>
              <a:t>‹#›</a:t>
            </a:fld>
            <a:endParaRPr lang="pt-PT"/>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1009A51-5E21-4399-B06D-29EA82242C93}" type="datetime1">
              <a:rPr lang="pt-PT" smtClean="0"/>
              <a:t>17/05/2026</a:t>
            </a:fld>
            <a:endParaRPr lang="pt-PT"/>
          </a:p>
        </p:txBody>
      </p:sp>
      <p:sp>
        <p:nvSpPr>
          <p:cNvPr id="6" name="Footer Placeholder 5"/>
          <p:cNvSpPr>
            <a:spLocks noGrp="1"/>
          </p:cNvSpPr>
          <p:nvPr>
            <p:ph type="ftr" sz="quarter" idx="11"/>
          </p:nvPr>
        </p:nvSpPr>
        <p:spPr/>
        <p:txBody>
          <a:bodyPr/>
          <a:lstStyle/>
          <a:p>
            <a:r>
              <a:rPr lang="pt-PT" dirty="0" err="1"/>
              <a:t>BigData</a:t>
            </a:r>
            <a:r>
              <a:rPr lang="pt-PT" dirty="0"/>
              <a:t> - João Costa</a:t>
            </a:r>
          </a:p>
        </p:txBody>
      </p:sp>
      <p:sp>
        <p:nvSpPr>
          <p:cNvPr id="7" name="Slide Number Placeholder 6"/>
          <p:cNvSpPr>
            <a:spLocks noGrp="1"/>
          </p:cNvSpPr>
          <p:nvPr>
            <p:ph type="sldNum" sz="quarter" idx="12"/>
          </p:nvPr>
        </p:nvSpPr>
        <p:spPr/>
        <p:txBody>
          <a:bodyPr/>
          <a:lstStyle/>
          <a:p>
            <a:fld id="{51C52B0B-E753-43CA-AAC2-5F5B7738FA84}" type="slidenum">
              <a:rPr lang="pt-PT" smtClean="0"/>
              <a:pPr/>
              <a:t>‹#›</a:t>
            </a:fld>
            <a:endParaRPr lang="pt-PT"/>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0AE1902-D30C-4BF6-B6F0-11B7CB4A610C}" type="datetime1">
              <a:rPr lang="pt-PT" smtClean="0"/>
              <a:t>17/05/2026</a:t>
            </a:fld>
            <a:endParaRPr lang="pt-PT"/>
          </a:p>
        </p:txBody>
      </p:sp>
      <p:sp>
        <p:nvSpPr>
          <p:cNvPr id="5" name="Footer Placeholder 4"/>
          <p:cNvSpPr>
            <a:spLocks noGrp="1"/>
          </p:cNvSpPr>
          <p:nvPr>
            <p:ph type="ftr" sz="quarter" idx="11"/>
          </p:nvPr>
        </p:nvSpPr>
        <p:spPr/>
        <p:txBody>
          <a:bodyPr/>
          <a:lstStyle/>
          <a:p>
            <a:r>
              <a:rPr lang="pt-PT" dirty="0" err="1"/>
              <a:t>BigData</a:t>
            </a:r>
            <a:r>
              <a:rPr lang="pt-PT" dirty="0"/>
              <a:t> - João Costa</a:t>
            </a:r>
          </a:p>
        </p:txBody>
      </p:sp>
      <p:sp>
        <p:nvSpPr>
          <p:cNvPr id="6" name="Slide Number Placeholder 5"/>
          <p:cNvSpPr>
            <a:spLocks noGrp="1"/>
          </p:cNvSpPr>
          <p:nvPr>
            <p:ph type="sldNum" sz="quarter" idx="12"/>
          </p:nvPr>
        </p:nvSpPr>
        <p:spPr/>
        <p:txBody>
          <a:bodyPr/>
          <a:lstStyle/>
          <a:p>
            <a:fld id="{51C52B0B-E753-43CA-AAC2-5F5B7738FA84}" type="slidenum">
              <a:rPr lang="pt-PT" smtClean="0"/>
              <a:pPr/>
              <a:t>‹#›</a:t>
            </a:fld>
            <a:endParaRPr lang="pt-P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D2F2F83-0534-4243-96B4-8D1065EDF515}" type="datetime1">
              <a:rPr lang="pt-PT" smtClean="0"/>
              <a:t>17/05/2026</a:t>
            </a:fld>
            <a:endParaRPr lang="pt-PT"/>
          </a:p>
        </p:txBody>
      </p:sp>
      <p:sp>
        <p:nvSpPr>
          <p:cNvPr id="5" name="Footer Placeholder 4"/>
          <p:cNvSpPr>
            <a:spLocks noGrp="1"/>
          </p:cNvSpPr>
          <p:nvPr>
            <p:ph type="ftr" sz="quarter" idx="11"/>
          </p:nvPr>
        </p:nvSpPr>
        <p:spPr/>
        <p:txBody>
          <a:bodyPr/>
          <a:lstStyle/>
          <a:p>
            <a:r>
              <a:rPr lang="pt-PT" dirty="0" err="1"/>
              <a:t>BigData</a:t>
            </a:r>
            <a:r>
              <a:rPr lang="pt-PT" dirty="0"/>
              <a:t> - João Costa</a:t>
            </a:r>
          </a:p>
        </p:txBody>
      </p:sp>
      <p:sp>
        <p:nvSpPr>
          <p:cNvPr id="6" name="Slide Number Placeholder 5"/>
          <p:cNvSpPr>
            <a:spLocks noGrp="1"/>
          </p:cNvSpPr>
          <p:nvPr>
            <p:ph type="sldNum" sz="quarter" idx="12"/>
          </p:nvPr>
        </p:nvSpPr>
        <p:spPr/>
        <p:txBody>
          <a:bodyPr/>
          <a:lstStyle/>
          <a:p>
            <a:fld id="{51C52B0B-E753-43CA-AAC2-5F5B7738FA84}" type="slidenum">
              <a:rPr lang="pt-PT" smtClean="0"/>
              <a:pPr/>
              <a:t>‹#›</a:t>
            </a:fld>
            <a:endParaRPr lang="pt-PT"/>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164A9E3C-FEE7-47C9-992B-336D200F58FC}" type="datetime1">
              <a:rPr lang="pt-PT" smtClean="0"/>
              <a:t>17/05/2026</a:t>
            </a:fld>
            <a:endParaRPr lang="pt-PT"/>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pt-PT" dirty="0" err="1"/>
              <a:t>BigData</a:t>
            </a:r>
            <a:r>
              <a:rPr lang="pt-PT" dirty="0"/>
              <a:t> - João Costa</a:t>
            </a:r>
          </a:p>
        </p:txBody>
      </p:sp>
      <p:sp>
        <p:nvSpPr>
          <p:cNvPr id="23" name="Slide Number Placeholder 22"/>
          <p:cNvSpPr>
            <a:spLocks noGrp="1"/>
          </p:cNvSpPr>
          <p:nvPr>
            <p:ph type="sldNum" sz="quarter" idx="4"/>
          </p:nvPr>
        </p:nvSpPr>
        <p:spPr>
          <a:xfrm>
            <a:off x="8183832" y="6351213"/>
            <a:ext cx="502968" cy="365760"/>
          </a:xfrm>
          <a:prstGeom prst="rect">
            <a:avLst/>
          </a:prstGeom>
        </p:spPr>
        <p:txBody>
          <a:bodyPr vert="horz"/>
          <a:lstStyle>
            <a:lvl1pPr algn="r" eaLnBrk="1" latinLnBrk="0" hangingPunct="1">
              <a:defRPr kumimoji="0" sz="1400">
                <a:solidFill>
                  <a:schemeClr val="tx2"/>
                </a:solidFill>
              </a:defRPr>
            </a:lvl1pPr>
          </a:lstStyle>
          <a:p>
            <a:fld id="{51C52B0B-E753-43CA-AAC2-5F5B7738FA84}" type="slidenum">
              <a:rPr lang="pt-PT" smtClean="0"/>
              <a:pPr/>
              <a:t>‹#›</a:t>
            </a:fld>
            <a:endParaRPr lang="pt-PT"/>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costa@isec.p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moodle.isec.pt/moodle/mod/wiki/view.php?id=245844" TargetMode="External"/><Relationship Id="rId2" Type="http://schemas.openxmlformats.org/officeDocument/2006/relationships/hyperlink" Target="https://moodle.isec.pt/moodle/mod/groupselect/view.php?id=245841"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42976" y="3717032"/>
            <a:ext cx="7072362" cy="1159768"/>
          </a:xfrm>
        </p:spPr>
        <p:txBody>
          <a:bodyPr>
            <a:normAutofit/>
          </a:bodyPr>
          <a:lstStyle/>
          <a:p>
            <a:r>
              <a:rPr lang="en-GB" noProof="0" dirty="0"/>
              <a:t>Big Data</a:t>
            </a:r>
            <a:br>
              <a:rPr lang="en-GB" sz="2200" noProof="0" dirty="0"/>
            </a:br>
            <a:r>
              <a:rPr lang="en-GB" sz="2200" noProof="0" dirty="0"/>
              <a:t>(MEI)</a:t>
            </a:r>
            <a:endParaRPr lang="en-GB" noProof="0" dirty="0"/>
          </a:p>
        </p:txBody>
      </p:sp>
      <p:sp>
        <p:nvSpPr>
          <p:cNvPr id="7" name="Subtitle 6"/>
          <p:cNvSpPr>
            <a:spLocks noGrp="1"/>
          </p:cNvSpPr>
          <p:nvPr>
            <p:ph type="subTitle" idx="1"/>
          </p:nvPr>
        </p:nvSpPr>
        <p:spPr/>
        <p:txBody>
          <a:bodyPr>
            <a:normAutofit fontScale="70000" lnSpcReduction="20000"/>
          </a:bodyPr>
          <a:lstStyle/>
          <a:p>
            <a:r>
              <a:rPr lang="en-GB" noProof="0" dirty="0"/>
              <a:t>João Pedro Costa</a:t>
            </a:r>
          </a:p>
          <a:p>
            <a:r>
              <a:rPr lang="en-GB" noProof="0" dirty="0">
                <a:hlinkClick r:id="rId3"/>
              </a:rPr>
              <a:t>jcosta@isec.pt</a:t>
            </a:r>
            <a:endParaRPr lang="en-GB"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BigData</a:t>
            </a:r>
            <a:endParaRPr lang="pt-PT" dirty="0"/>
          </a:p>
        </p:txBody>
      </p:sp>
      <p:sp>
        <p:nvSpPr>
          <p:cNvPr id="4" name="Content Placeholder 3"/>
          <p:cNvSpPr>
            <a:spLocks noGrp="1"/>
          </p:cNvSpPr>
          <p:nvPr>
            <p:ph sz="quarter" idx="1"/>
          </p:nvPr>
        </p:nvSpPr>
        <p:spPr/>
        <p:txBody>
          <a:bodyPr>
            <a:normAutofit/>
          </a:bodyPr>
          <a:lstStyle/>
          <a:p>
            <a:r>
              <a:rPr lang="en-US" sz="2000" dirty="0"/>
              <a:t>Big data refers to datasets that are so </a:t>
            </a:r>
            <a:r>
              <a:rPr lang="en-US" sz="2000" b="1" u="sng" dirty="0"/>
              <a:t>large </a:t>
            </a:r>
            <a:r>
              <a:rPr lang="en-US" sz="2000" dirty="0"/>
              <a:t>or </a:t>
            </a:r>
            <a:r>
              <a:rPr lang="en-US" sz="2000" b="1" u="sng" dirty="0"/>
              <a:t>complex </a:t>
            </a:r>
            <a:r>
              <a:rPr lang="en-US" sz="2000" dirty="0"/>
              <a:t>that traditional data processing application software is inadequate to deal with them. </a:t>
            </a:r>
          </a:p>
          <a:p>
            <a:r>
              <a:rPr lang="en-US" sz="2000" dirty="0"/>
              <a:t>Big data analysis challenges include </a:t>
            </a:r>
            <a:r>
              <a:rPr lang="en-US" sz="2000" b="1" dirty="0"/>
              <a:t>capturing data, data storage, data analysis, search, sharing, transfer, visualization, querying, updating, information privacy, </a:t>
            </a:r>
            <a:r>
              <a:rPr lang="en-US" sz="2000" dirty="0"/>
              <a:t>and</a:t>
            </a:r>
            <a:r>
              <a:rPr lang="en-US" sz="2000" b="1" dirty="0"/>
              <a:t> data source</a:t>
            </a:r>
            <a:r>
              <a:rPr lang="en-US" sz="2000" dirty="0"/>
              <a:t>. </a:t>
            </a:r>
          </a:p>
          <a:p>
            <a:r>
              <a:rPr lang="en-US" sz="2000" dirty="0"/>
              <a:t>Big data often includes data with sizes that exceed the capacity of traditional software to process within an acceptable time and value.</a:t>
            </a:r>
            <a:endParaRPr lang="pt-PT" sz="2000" dirty="0"/>
          </a:p>
          <a:p>
            <a:endParaRPr lang="en-US" sz="2000" dirty="0"/>
          </a:p>
        </p:txBody>
      </p:sp>
      <p:sp>
        <p:nvSpPr>
          <p:cNvPr id="5" name="Footer Placeholder 4"/>
          <p:cNvSpPr>
            <a:spLocks noGrp="1"/>
          </p:cNvSpPr>
          <p:nvPr>
            <p:ph type="ftr" sz="quarter" idx="11"/>
          </p:nvPr>
        </p:nvSpPr>
        <p:spPr/>
        <p:txBody>
          <a:bodyPr/>
          <a:lstStyle/>
          <a:p>
            <a:r>
              <a:rPr lang="pt-PT" dirty="0" err="1"/>
              <a:t>BigData</a:t>
            </a:r>
            <a:r>
              <a:rPr lang="pt-PT" dirty="0"/>
              <a:t> - João Costa</a:t>
            </a:r>
          </a:p>
        </p:txBody>
      </p:sp>
      <p:sp>
        <p:nvSpPr>
          <p:cNvPr id="6" name="Slide Number Placeholder 5"/>
          <p:cNvSpPr>
            <a:spLocks noGrp="1"/>
          </p:cNvSpPr>
          <p:nvPr>
            <p:ph type="sldNum" sz="quarter" idx="12"/>
          </p:nvPr>
        </p:nvSpPr>
        <p:spPr/>
        <p:txBody>
          <a:bodyPr/>
          <a:lstStyle/>
          <a:p>
            <a:fld id="{51C52B0B-E753-43CA-AAC2-5F5B7738FA84}" type="slidenum">
              <a:rPr lang="pt-PT" smtClean="0"/>
              <a:pPr/>
              <a:t>2</a:t>
            </a:fld>
            <a:endParaRPr lang="pt-PT"/>
          </a:p>
        </p:txBody>
      </p:sp>
    </p:spTree>
    <p:extLst>
      <p:ext uri="{BB962C8B-B14F-4D97-AF65-F5344CB8AC3E}">
        <p14:creationId xmlns:p14="http://schemas.microsoft.com/office/powerpoint/2010/main" val="4251478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10BB6C2-C735-69BD-29E1-A185AF7E01FE}"/>
              </a:ext>
            </a:extLst>
          </p:cNvPr>
          <p:cNvSpPr>
            <a:spLocks noGrp="1"/>
          </p:cNvSpPr>
          <p:nvPr>
            <p:ph type="title"/>
          </p:nvPr>
        </p:nvSpPr>
        <p:spPr/>
        <p:txBody>
          <a:bodyPr/>
          <a:lstStyle/>
          <a:p>
            <a:r>
              <a:rPr lang="pt-PT" dirty="0" err="1"/>
              <a:t>Context</a:t>
            </a:r>
            <a:endParaRPr lang="pt-PT" dirty="0"/>
          </a:p>
        </p:txBody>
      </p:sp>
      <p:sp>
        <p:nvSpPr>
          <p:cNvPr id="3" name="Footer Placeholder 2">
            <a:extLst>
              <a:ext uri="{FF2B5EF4-FFF2-40B4-BE49-F238E27FC236}">
                <a16:creationId xmlns:a16="http://schemas.microsoft.com/office/drawing/2014/main" id="{E4FBF374-3F4A-5A42-5522-EAB035F26DD9}"/>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82FA0AFE-B7AD-EC22-8F89-FDE769970E77}"/>
              </a:ext>
            </a:extLst>
          </p:cNvPr>
          <p:cNvSpPr>
            <a:spLocks noGrp="1"/>
          </p:cNvSpPr>
          <p:nvPr>
            <p:ph type="sldNum" sz="quarter" idx="12"/>
          </p:nvPr>
        </p:nvSpPr>
        <p:spPr/>
        <p:txBody>
          <a:bodyPr/>
          <a:lstStyle/>
          <a:p>
            <a:fld id="{51C52B0B-E753-43CA-AAC2-5F5B7738FA84}" type="slidenum">
              <a:rPr lang="pt-PT" smtClean="0"/>
              <a:pPr/>
              <a:t>3</a:t>
            </a:fld>
            <a:endParaRPr lang="pt-PT"/>
          </a:p>
        </p:txBody>
      </p:sp>
      <p:sp>
        <p:nvSpPr>
          <p:cNvPr id="9" name="Content Placeholder 8">
            <a:extLst>
              <a:ext uri="{FF2B5EF4-FFF2-40B4-BE49-F238E27FC236}">
                <a16:creationId xmlns:a16="http://schemas.microsoft.com/office/drawing/2014/main" id="{4117144F-7B87-988E-2C19-2BAC736E4331}"/>
              </a:ext>
            </a:extLst>
          </p:cNvPr>
          <p:cNvSpPr>
            <a:spLocks noGrp="1"/>
          </p:cNvSpPr>
          <p:nvPr>
            <p:ph sz="quarter" idx="1"/>
          </p:nvPr>
        </p:nvSpPr>
        <p:spPr/>
        <p:txBody>
          <a:bodyPr/>
          <a:lstStyle/>
          <a:p>
            <a:pPr marL="0" indent="0">
              <a:buNone/>
            </a:pPr>
            <a:r>
              <a:rPr lang="pt-PT" dirty="0" err="1"/>
              <a:t>Using</a:t>
            </a:r>
            <a:r>
              <a:rPr lang="pt-PT" dirty="0"/>
              <a:t> </a:t>
            </a:r>
            <a:r>
              <a:rPr lang="pt-PT" dirty="0" err="1"/>
              <a:t>the</a:t>
            </a:r>
            <a:r>
              <a:rPr lang="pt-PT" dirty="0"/>
              <a:t> </a:t>
            </a:r>
            <a:r>
              <a:rPr lang="pt-PT" dirty="0" err="1"/>
              <a:t>MovieLens</a:t>
            </a:r>
            <a:r>
              <a:rPr lang="pt-PT" dirty="0"/>
              <a:t> </a:t>
            </a:r>
            <a:r>
              <a:rPr lang="pt-PT" dirty="0" err="1"/>
              <a:t>schema</a:t>
            </a:r>
            <a:r>
              <a:rPr lang="pt-PT" dirty="0"/>
              <a:t> </a:t>
            </a:r>
            <a:r>
              <a:rPr lang="pt-PT" dirty="0" err="1"/>
              <a:t>used</a:t>
            </a:r>
            <a:r>
              <a:rPr lang="pt-PT" dirty="0"/>
              <a:t> in classes</a:t>
            </a:r>
          </a:p>
          <a:p>
            <a:endParaRPr lang="pt-PT" dirty="0"/>
          </a:p>
          <a:p>
            <a:pPr lvl="1"/>
            <a:endParaRPr lang="pt-PT" dirty="0"/>
          </a:p>
        </p:txBody>
      </p:sp>
      <p:sp>
        <p:nvSpPr>
          <p:cNvPr id="10" name="Content Placeholder 4">
            <a:extLst>
              <a:ext uri="{FF2B5EF4-FFF2-40B4-BE49-F238E27FC236}">
                <a16:creationId xmlns:a16="http://schemas.microsoft.com/office/drawing/2014/main" id="{44FBB45F-E8FD-8DF3-2F7D-45C9A580E909}"/>
              </a:ext>
            </a:extLst>
          </p:cNvPr>
          <p:cNvSpPr txBox="1">
            <a:spLocks/>
          </p:cNvSpPr>
          <p:nvPr/>
        </p:nvSpPr>
        <p:spPr>
          <a:xfrm>
            <a:off x="457200" y="1844824"/>
            <a:ext cx="4317301" cy="2497832"/>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800" dirty="0">
                <a:latin typeface="Consolas" panose="020B0609020204030204" pitchFamily="49" charset="0"/>
                <a:cs typeface="Courier New" panose="02070309020205020404" pitchFamily="49" charset="0"/>
              </a:rPr>
              <a:t>movie ratings. </a:t>
            </a:r>
          </a:p>
          <a:p>
            <a:r>
              <a:rPr lang="en-US" sz="1800" dirty="0">
                <a:latin typeface="Consolas" panose="020B0609020204030204" pitchFamily="49" charset="0"/>
                <a:cs typeface="Courier New" panose="02070309020205020404" pitchFamily="49" charset="0"/>
              </a:rPr>
              <a:t>stable benchmark dataset</a:t>
            </a:r>
          </a:p>
          <a:p>
            <a:r>
              <a:rPr lang="en-US" sz="1800" dirty="0">
                <a:latin typeface="Consolas" panose="020B0609020204030204" pitchFamily="49" charset="0"/>
                <a:cs typeface="Courier New" panose="02070309020205020404" pitchFamily="49" charset="0"/>
              </a:rPr>
              <a:t>100,000 ratings </a:t>
            </a:r>
          </a:p>
          <a:p>
            <a:r>
              <a:rPr lang="en-US" sz="1800" dirty="0">
                <a:latin typeface="Consolas" panose="020B0609020204030204" pitchFamily="49" charset="0"/>
                <a:cs typeface="Courier New" panose="02070309020205020404" pitchFamily="49" charset="0"/>
              </a:rPr>
              <a:t>from 1000 users </a:t>
            </a:r>
          </a:p>
          <a:p>
            <a:r>
              <a:rPr lang="en-US" sz="1800" dirty="0">
                <a:latin typeface="Consolas" panose="020B0609020204030204" pitchFamily="49" charset="0"/>
                <a:cs typeface="Courier New" panose="02070309020205020404" pitchFamily="49" charset="0"/>
              </a:rPr>
              <a:t>on 1700 movies</a:t>
            </a:r>
          </a:p>
          <a:p>
            <a:r>
              <a:rPr lang="en-US" sz="1800" dirty="0">
                <a:latin typeface="Consolas" panose="020B0609020204030204" pitchFamily="49" charset="0"/>
                <a:cs typeface="Courier New" panose="02070309020205020404" pitchFamily="49" charset="0"/>
              </a:rPr>
              <a:t>Released 4/1998 </a:t>
            </a:r>
          </a:p>
        </p:txBody>
      </p:sp>
      <p:pic>
        <p:nvPicPr>
          <p:cNvPr id="11" name="Picture 10">
            <a:extLst>
              <a:ext uri="{FF2B5EF4-FFF2-40B4-BE49-F238E27FC236}">
                <a16:creationId xmlns:a16="http://schemas.microsoft.com/office/drawing/2014/main" id="{6E9323D2-A5B5-E636-907D-02ECD1EEE32D}"/>
              </a:ext>
            </a:extLst>
          </p:cNvPr>
          <p:cNvPicPr>
            <a:picLocks noChangeAspect="1"/>
          </p:cNvPicPr>
          <p:nvPr/>
        </p:nvPicPr>
        <p:blipFill>
          <a:blip r:embed="rId2">
            <a:clrChange>
              <a:clrFrom>
                <a:srgbClr val="FFFFFF"/>
              </a:clrFrom>
              <a:clrTo>
                <a:srgbClr val="FFFFFF">
                  <a:alpha val="0"/>
                </a:srgbClr>
              </a:clrTo>
            </a:clrChange>
          </a:blip>
          <a:srcRect l="65089" t="3029" b="21214"/>
          <a:stretch>
            <a:fillRect/>
          </a:stretch>
        </p:blipFill>
        <p:spPr>
          <a:xfrm>
            <a:off x="6167979" y="1717829"/>
            <a:ext cx="1006653" cy="3888433"/>
          </a:xfrm>
          <a:prstGeom prst="rect">
            <a:avLst/>
          </a:prstGeom>
        </p:spPr>
      </p:pic>
      <p:pic>
        <p:nvPicPr>
          <p:cNvPr id="12" name="Picture 11">
            <a:extLst>
              <a:ext uri="{FF2B5EF4-FFF2-40B4-BE49-F238E27FC236}">
                <a16:creationId xmlns:a16="http://schemas.microsoft.com/office/drawing/2014/main" id="{3240EBD9-D098-4E9E-FC61-241E4EC85FF8}"/>
              </a:ext>
            </a:extLst>
          </p:cNvPr>
          <p:cNvPicPr>
            <a:picLocks noChangeAspect="1"/>
          </p:cNvPicPr>
          <p:nvPr/>
        </p:nvPicPr>
        <p:blipFill>
          <a:blip r:embed="rId2">
            <a:clrChange>
              <a:clrFrom>
                <a:srgbClr val="FFFFFF"/>
              </a:clrFrom>
              <a:clrTo>
                <a:srgbClr val="FFFFFF">
                  <a:alpha val="0"/>
                </a:srgbClr>
              </a:clrTo>
            </a:clrChange>
          </a:blip>
          <a:srcRect t="1223" r="47558"/>
          <a:stretch>
            <a:fillRect/>
          </a:stretch>
        </p:blipFill>
        <p:spPr>
          <a:xfrm>
            <a:off x="7427748" y="1219200"/>
            <a:ext cx="1512168" cy="5069995"/>
          </a:xfrm>
          <a:prstGeom prst="rect">
            <a:avLst/>
          </a:prstGeom>
        </p:spPr>
      </p:pic>
      <p:sp>
        <p:nvSpPr>
          <p:cNvPr id="13" name="Rectangle 12">
            <a:extLst>
              <a:ext uri="{FF2B5EF4-FFF2-40B4-BE49-F238E27FC236}">
                <a16:creationId xmlns:a16="http://schemas.microsoft.com/office/drawing/2014/main" id="{C90198B6-39BD-D5E3-A81C-AB63E3DAAAB8}"/>
              </a:ext>
            </a:extLst>
          </p:cNvPr>
          <p:cNvSpPr/>
          <p:nvPr/>
        </p:nvSpPr>
        <p:spPr>
          <a:xfrm>
            <a:off x="286843" y="5867980"/>
            <a:ext cx="7381502" cy="369332"/>
          </a:xfrm>
          <a:prstGeom prst="rect">
            <a:avLst/>
          </a:prstGeom>
        </p:spPr>
        <p:txBody>
          <a:bodyPr wrap="square">
            <a:spAutoFit/>
          </a:bodyPr>
          <a:lstStyle/>
          <a:p>
            <a:r>
              <a:rPr lang="pt-PT" dirty="0">
                <a:latin typeface="Consolas" panose="020B0609020204030204" pitchFamily="49" charset="0"/>
                <a:cs typeface="Courier New" panose="02070309020205020404" pitchFamily="49" charset="0"/>
              </a:rPr>
              <a:t>http://files.grouplens.org/datasets/movielens/ml-100k.zip</a:t>
            </a:r>
            <a:endParaRPr lang="pt-PT" dirty="0">
              <a:latin typeface="Consolas" panose="020B0609020204030204" pitchFamily="49" charset="0"/>
            </a:endParaRPr>
          </a:p>
        </p:txBody>
      </p:sp>
    </p:spTree>
    <p:extLst>
      <p:ext uri="{BB962C8B-B14F-4D97-AF65-F5344CB8AC3E}">
        <p14:creationId xmlns:p14="http://schemas.microsoft.com/office/powerpoint/2010/main" val="2122334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7C2AE-C968-D0D6-00FF-1BE502A1AA9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8A85890-0958-863C-13F7-CC4A6544A43F}"/>
              </a:ext>
            </a:extLst>
          </p:cNvPr>
          <p:cNvSpPr>
            <a:spLocks noGrp="1"/>
          </p:cNvSpPr>
          <p:nvPr>
            <p:ph type="title"/>
          </p:nvPr>
        </p:nvSpPr>
        <p:spPr/>
        <p:txBody>
          <a:bodyPr/>
          <a:lstStyle/>
          <a:p>
            <a:r>
              <a:rPr lang="pt-PT" dirty="0" err="1"/>
              <a:t>MovieLens</a:t>
            </a:r>
            <a:endParaRPr lang="pt-PT" dirty="0"/>
          </a:p>
        </p:txBody>
      </p:sp>
      <p:sp>
        <p:nvSpPr>
          <p:cNvPr id="3" name="Footer Placeholder 2">
            <a:extLst>
              <a:ext uri="{FF2B5EF4-FFF2-40B4-BE49-F238E27FC236}">
                <a16:creationId xmlns:a16="http://schemas.microsoft.com/office/drawing/2014/main" id="{29DEC0AC-31BE-605A-98D6-3CBEAFA23402}"/>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3691A5D8-8D1D-8217-5C75-28917362FF12}"/>
              </a:ext>
            </a:extLst>
          </p:cNvPr>
          <p:cNvSpPr>
            <a:spLocks noGrp="1"/>
          </p:cNvSpPr>
          <p:nvPr>
            <p:ph type="sldNum" sz="quarter" idx="12"/>
          </p:nvPr>
        </p:nvSpPr>
        <p:spPr/>
        <p:txBody>
          <a:bodyPr/>
          <a:lstStyle/>
          <a:p>
            <a:fld id="{51C52B0B-E753-43CA-AAC2-5F5B7738FA84}" type="slidenum">
              <a:rPr lang="pt-PT" smtClean="0"/>
              <a:pPr/>
              <a:t>4</a:t>
            </a:fld>
            <a:endParaRPr lang="pt-PT"/>
          </a:p>
        </p:txBody>
      </p:sp>
      <p:sp>
        <p:nvSpPr>
          <p:cNvPr id="9" name="Content Placeholder 8">
            <a:extLst>
              <a:ext uri="{FF2B5EF4-FFF2-40B4-BE49-F238E27FC236}">
                <a16:creationId xmlns:a16="http://schemas.microsoft.com/office/drawing/2014/main" id="{99676BEF-4D8B-DBA1-7D10-99AC3EF97CAB}"/>
              </a:ext>
            </a:extLst>
          </p:cNvPr>
          <p:cNvSpPr>
            <a:spLocks noGrp="1"/>
          </p:cNvSpPr>
          <p:nvPr>
            <p:ph sz="quarter" idx="1"/>
          </p:nvPr>
        </p:nvSpPr>
        <p:spPr>
          <a:xfrm>
            <a:off x="457200" y="1219200"/>
            <a:ext cx="8229600" cy="4226024"/>
          </a:xfrm>
        </p:spPr>
        <p:txBody>
          <a:bodyPr/>
          <a:lstStyle/>
          <a:p>
            <a:r>
              <a:rPr lang="en-US" noProof="0">
                <a:latin typeface="Consolas" panose="020B0609020204030204" pitchFamily="49" charset="0"/>
              </a:rPr>
              <a:t>Volume:</a:t>
            </a:r>
          </a:p>
          <a:p>
            <a:pPr lvl="1"/>
            <a:r>
              <a:rPr lang="en-US" noProof="0" dirty="0">
                <a:latin typeface="Consolas" panose="020B0609020204030204" pitchFamily="49" charset="0"/>
              </a:rPr>
              <a:t>Files with past movie ratings (lots of files)</a:t>
            </a:r>
          </a:p>
          <a:p>
            <a:endParaRPr lang="en-US" noProof="0" dirty="0">
              <a:latin typeface="Consolas" panose="020B0609020204030204" pitchFamily="49" charset="0"/>
            </a:endParaRPr>
          </a:p>
          <a:p>
            <a:r>
              <a:rPr lang="en-US" noProof="0" dirty="0">
                <a:latin typeface="Consolas" panose="020B0609020204030204" pitchFamily="49" charset="0"/>
              </a:rPr>
              <a:t>Velocity:</a:t>
            </a:r>
          </a:p>
          <a:p>
            <a:pPr lvl="1"/>
            <a:r>
              <a:rPr lang="en-US" noProof="0" dirty="0">
                <a:latin typeface="Consolas" panose="020B0609020204030204" pitchFamily="49" charset="0"/>
              </a:rPr>
              <a:t>New ratings are submitted in real time</a:t>
            </a:r>
          </a:p>
          <a:p>
            <a:endParaRPr lang="en-US" noProof="0" dirty="0">
              <a:latin typeface="Consolas" panose="020B0609020204030204" pitchFamily="49" charset="0"/>
            </a:endParaRPr>
          </a:p>
          <a:p>
            <a:r>
              <a:rPr lang="en-US" noProof="0" dirty="0">
                <a:latin typeface="Consolas" panose="020B0609020204030204" pitchFamily="49" charset="0"/>
              </a:rPr>
              <a:t>Value:</a:t>
            </a:r>
          </a:p>
          <a:p>
            <a:pPr lvl="1"/>
            <a:r>
              <a:rPr lang="en-US" noProof="0" dirty="0">
                <a:latin typeface="Consolas" panose="020B0609020204030204" pitchFamily="49" charset="0"/>
              </a:rPr>
              <a:t>Determine movie’ ratings above and below average +/- 10%</a:t>
            </a:r>
          </a:p>
          <a:p>
            <a:pPr lvl="1"/>
            <a:endParaRPr lang="en-US" noProof="0" dirty="0">
              <a:latin typeface="Consolas" panose="020B0609020204030204" pitchFamily="49" charset="0"/>
            </a:endParaRPr>
          </a:p>
        </p:txBody>
      </p:sp>
      <p:sp>
        <p:nvSpPr>
          <p:cNvPr id="2" name="Rectangle 1">
            <a:extLst>
              <a:ext uri="{FF2B5EF4-FFF2-40B4-BE49-F238E27FC236}">
                <a16:creationId xmlns:a16="http://schemas.microsoft.com/office/drawing/2014/main" id="{FA26B0CB-E2B1-EE80-6A7F-A0AE18D96400}"/>
              </a:ext>
            </a:extLst>
          </p:cNvPr>
          <p:cNvSpPr/>
          <p:nvPr/>
        </p:nvSpPr>
        <p:spPr>
          <a:xfrm>
            <a:off x="1907704" y="5864408"/>
            <a:ext cx="5797325" cy="369332"/>
          </a:xfrm>
          <a:prstGeom prst="rect">
            <a:avLst/>
          </a:prstGeom>
        </p:spPr>
        <p:txBody>
          <a:bodyPr wrap="square">
            <a:spAutoFit/>
          </a:bodyPr>
          <a:lstStyle/>
          <a:p>
            <a:r>
              <a:rPr lang="en-US" noProof="0" dirty="0">
                <a:latin typeface="Consolas" panose="020B0609020204030204" pitchFamily="49" charset="0"/>
                <a:cs typeface="Courier New" panose="02070309020205020404" pitchFamily="49" charset="0"/>
              </a:rPr>
              <a:t>A better example could be betting system</a:t>
            </a:r>
            <a:endParaRPr lang="en-US" noProof="0" dirty="0">
              <a:latin typeface="Consolas" panose="020B0609020204030204" pitchFamily="49" charset="0"/>
            </a:endParaRPr>
          </a:p>
        </p:txBody>
      </p:sp>
    </p:spTree>
    <p:extLst>
      <p:ext uri="{BB962C8B-B14F-4D97-AF65-F5344CB8AC3E}">
        <p14:creationId xmlns:p14="http://schemas.microsoft.com/office/powerpoint/2010/main" val="2543208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4AED2-02F4-04F9-34E2-07D46A20EB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6E8188-0127-D08C-AFD5-CBF03379D827}"/>
              </a:ext>
            </a:extLst>
          </p:cNvPr>
          <p:cNvSpPr>
            <a:spLocks noGrp="1"/>
          </p:cNvSpPr>
          <p:nvPr>
            <p:ph type="title"/>
          </p:nvPr>
        </p:nvSpPr>
        <p:spPr/>
        <p:txBody>
          <a:bodyPr/>
          <a:lstStyle/>
          <a:p>
            <a:r>
              <a:rPr lang="pt-PT" dirty="0" err="1"/>
              <a:t>MovieLens</a:t>
            </a:r>
            <a:r>
              <a:rPr lang="pt-PT" dirty="0"/>
              <a:t>: </a:t>
            </a:r>
            <a:r>
              <a:rPr lang="pt-PT" dirty="0" err="1"/>
              <a:t>Batch</a:t>
            </a:r>
            <a:endParaRPr lang="pt-PT" dirty="0"/>
          </a:p>
        </p:txBody>
      </p:sp>
      <p:sp>
        <p:nvSpPr>
          <p:cNvPr id="3" name="Footer Placeholder 2">
            <a:extLst>
              <a:ext uri="{FF2B5EF4-FFF2-40B4-BE49-F238E27FC236}">
                <a16:creationId xmlns:a16="http://schemas.microsoft.com/office/drawing/2014/main" id="{4620512F-487B-D71C-B24D-557A281011B6}"/>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DD333F70-99CC-2010-E460-4938812B6C3C}"/>
              </a:ext>
            </a:extLst>
          </p:cNvPr>
          <p:cNvSpPr>
            <a:spLocks noGrp="1"/>
          </p:cNvSpPr>
          <p:nvPr>
            <p:ph type="sldNum" sz="quarter" idx="12"/>
          </p:nvPr>
        </p:nvSpPr>
        <p:spPr/>
        <p:txBody>
          <a:bodyPr/>
          <a:lstStyle/>
          <a:p>
            <a:fld id="{51C52B0B-E753-43CA-AAC2-5F5B7738FA84}" type="slidenum">
              <a:rPr lang="pt-PT" smtClean="0"/>
              <a:pPr/>
              <a:t>5</a:t>
            </a:fld>
            <a:endParaRPr lang="pt-PT"/>
          </a:p>
        </p:txBody>
      </p:sp>
      <p:sp>
        <p:nvSpPr>
          <p:cNvPr id="11" name="Content Placeholder 10">
            <a:extLst>
              <a:ext uri="{FF2B5EF4-FFF2-40B4-BE49-F238E27FC236}">
                <a16:creationId xmlns:a16="http://schemas.microsoft.com/office/drawing/2014/main" id="{2C7E1196-EA03-2FE9-D2E7-D65B11AD25BF}"/>
              </a:ext>
            </a:extLst>
          </p:cNvPr>
          <p:cNvSpPr>
            <a:spLocks noGrp="1"/>
          </p:cNvSpPr>
          <p:nvPr>
            <p:ph sz="quarter" idx="1"/>
          </p:nvPr>
        </p:nvSpPr>
        <p:spPr/>
        <p:txBody>
          <a:bodyPr>
            <a:normAutofit/>
          </a:bodyPr>
          <a:lstStyle/>
          <a:p>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Read</a:t>
            </a:r>
            <a:r>
              <a:rPr lang="pt-PT" dirty="0">
                <a:latin typeface="Consolas" panose="020B0609020204030204" pitchFamily="49" charset="0"/>
              </a:rPr>
              <a:t> files </a:t>
            </a:r>
            <a:r>
              <a:rPr lang="pt-PT" dirty="0" err="1">
                <a:latin typeface="Consolas" panose="020B0609020204030204" pitchFamily="49" charset="0"/>
              </a:rPr>
              <a:t>from</a:t>
            </a:r>
            <a:r>
              <a:rPr lang="pt-PT" dirty="0">
                <a:latin typeface="Consolas" panose="020B0609020204030204" pitchFamily="49" charset="0"/>
              </a:rPr>
              <a:t> HDFS </a:t>
            </a:r>
            <a:r>
              <a:rPr lang="pt-PT" dirty="0" err="1">
                <a:latin typeface="Consolas" panose="020B0609020204030204" pitchFamily="49" charset="0"/>
              </a:rPr>
              <a:t>folder</a:t>
            </a:r>
            <a:r>
              <a:rPr lang="pt-PT" dirty="0">
                <a:latin typeface="Consolas" panose="020B0609020204030204" pitchFamily="49" charset="0"/>
              </a:rPr>
              <a:t> </a:t>
            </a:r>
          </a:p>
          <a:p>
            <a:endParaRPr lang="pt-PT" dirty="0">
              <a:latin typeface="Consolas" panose="020B0609020204030204" pitchFamily="49" charset="0"/>
            </a:endParaRPr>
          </a:p>
          <a:p>
            <a:pPr algn="ctr"/>
            <a:r>
              <a:rPr lang="pt-PT" dirty="0">
                <a:latin typeface="Consolas" panose="020B0609020204030204" pitchFamily="49" charset="0"/>
              </a:rPr>
              <a:t>Compute </a:t>
            </a:r>
            <a:r>
              <a:rPr lang="pt-PT" dirty="0" err="1">
                <a:latin typeface="Consolas" panose="020B0609020204030204" pitchFamily="49" charset="0"/>
              </a:rPr>
              <a:t>Statistics</a:t>
            </a:r>
            <a:r>
              <a:rPr lang="pt-PT" dirty="0">
                <a:latin typeface="Consolas" panose="020B0609020204030204" pitchFamily="49" charset="0"/>
              </a:rPr>
              <a:t> </a:t>
            </a:r>
          </a:p>
          <a:p>
            <a:pPr algn="ctr"/>
            <a:endParaRPr lang="pt-PT" dirty="0">
              <a:latin typeface="Consolas" panose="020B0609020204030204" pitchFamily="49" charset="0"/>
            </a:endParaRPr>
          </a:p>
          <a:p>
            <a:pPr algn="ctr"/>
            <a:endParaRPr lang="pt-PT" dirty="0">
              <a:latin typeface="Consolas" panose="020B0609020204030204" pitchFamily="49" charset="0"/>
            </a:endParaRPr>
          </a:p>
          <a:p>
            <a:pPr algn="ctr"/>
            <a:endParaRPr lang="pt-PT" dirty="0">
              <a:latin typeface="Consolas" panose="020B0609020204030204" pitchFamily="49" charset="0"/>
            </a:endParaRPr>
          </a:p>
          <a:p>
            <a:pPr algn="ctr"/>
            <a:endParaRPr lang="pt-PT" dirty="0">
              <a:latin typeface="Consolas" panose="020B0609020204030204" pitchFamily="49" charset="0"/>
            </a:endParaRPr>
          </a:p>
          <a:p>
            <a:pPr algn="r"/>
            <a:r>
              <a:rPr lang="pt-PT" dirty="0" err="1">
                <a:latin typeface="Consolas" panose="020B0609020204030204" pitchFamily="49" charset="0"/>
              </a:rPr>
              <a:t>Store</a:t>
            </a:r>
            <a:r>
              <a:rPr lang="pt-PT" dirty="0">
                <a:latin typeface="Consolas" panose="020B0609020204030204" pitchFamily="49" charset="0"/>
              </a:rPr>
              <a:t> for </a:t>
            </a:r>
            <a:r>
              <a:rPr lang="pt-PT" dirty="0" err="1">
                <a:latin typeface="Consolas" panose="020B0609020204030204" pitchFamily="49" charset="0"/>
              </a:rPr>
              <a:t>reference</a:t>
            </a:r>
            <a:endParaRPr lang="pt-PT" dirty="0">
              <a:latin typeface="Consolas" panose="020B0609020204030204" pitchFamily="49" charset="0"/>
            </a:endParaRPr>
          </a:p>
        </p:txBody>
      </p:sp>
      <p:sp>
        <p:nvSpPr>
          <p:cNvPr id="7" name="Flowchart: Magnetic Disk 6">
            <a:extLst>
              <a:ext uri="{FF2B5EF4-FFF2-40B4-BE49-F238E27FC236}">
                <a16:creationId xmlns:a16="http://schemas.microsoft.com/office/drawing/2014/main" id="{FDBB112C-238F-DF53-5EAC-D140A20F4C7F}"/>
              </a:ext>
            </a:extLst>
          </p:cNvPr>
          <p:cNvSpPr/>
          <p:nvPr/>
        </p:nvSpPr>
        <p:spPr>
          <a:xfrm>
            <a:off x="6924454" y="3789040"/>
            <a:ext cx="1224136" cy="13681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latin typeface="Consolas" panose="020B0609020204030204" pitchFamily="49" charset="0"/>
              </a:rPr>
              <a:t>Reference Data</a:t>
            </a:r>
          </a:p>
        </p:txBody>
      </p:sp>
      <p:sp>
        <p:nvSpPr>
          <p:cNvPr id="8" name="Flowchart: Multidocument 7">
            <a:extLst>
              <a:ext uri="{FF2B5EF4-FFF2-40B4-BE49-F238E27FC236}">
                <a16:creationId xmlns:a16="http://schemas.microsoft.com/office/drawing/2014/main" id="{4B0412F3-918E-3B9E-F18E-96B1C3ADF7E9}"/>
              </a:ext>
            </a:extLst>
          </p:cNvPr>
          <p:cNvSpPr/>
          <p:nvPr/>
        </p:nvSpPr>
        <p:spPr>
          <a:xfrm>
            <a:off x="731766" y="3933056"/>
            <a:ext cx="1169296" cy="129614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Historical Past Data</a:t>
            </a:r>
          </a:p>
        </p:txBody>
      </p:sp>
      <p:sp>
        <p:nvSpPr>
          <p:cNvPr id="5" name="Arrow: Chevron 4">
            <a:extLst>
              <a:ext uri="{FF2B5EF4-FFF2-40B4-BE49-F238E27FC236}">
                <a16:creationId xmlns:a16="http://schemas.microsoft.com/office/drawing/2014/main" id="{AE60DDBD-E96F-C0ED-A606-003807503F1C}"/>
              </a:ext>
            </a:extLst>
          </p:cNvPr>
          <p:cNvSpPr/>
          <p:nvPr/>
        </p:nvSpPr>
        <p:spPr>
          <a:xfrm>
            <a:off x="2243934"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400" b="1" dirty="0" err="1">
                <a:solidFill>
                  <a:schemeClr val="tx1"/>
                </a:solidFill>
                <a:latin typeface="Consolas" panose="020B0609020204030204" pitchFamily="49" charset="0"/>
              </a:rPr>
              <a:t>Read</a:t>
            </a:r>
            <a:endParaRPr lang="pt-PT" sz="1400" b="1" dirty="0">
              <a:solidFill>
                <a:schemeClr val="tx1"/>
              </a:solidFill>
              <a:latin typeface="Consolas" panose="020B0609020204030204" pitchFamily="49" charset="0"/>
            </a:endParaRPr>
          </a:p>
        </p:txBody>
      </p:sp>
      <p:sp>
        <p:nvSpPr>
          <p:cNvPr id="9" name="Arrow: Chevron 8">
            <a:extLst>
              <a:ext uri="{FF2B5EF4-FFF2-40B4-BE49-F238E27FC236}">
                <a16:creationId xmlns:a16="http://schemas.microsoft.com/office/drawing/2014/main" id="{9D78DC0C-A426-C9D1-B387-4C7CEF40A81B}"/>
              </a:ext>
            </a:extLst>
          </p:cNvPr>
          <p:cNvSpPr/>
          <p:nvPr/>
        </p:nvSpPr>
        <p:spPr>
          <a:xfrm>
            <a:off x="5323111"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400" b="1" dirty="0" err="1">
                <a:solidFill>
                  <a:schemeClr val="tx1"/>
                </a:solidFill>
                <a:latin typeface="Consolas" panose="020B0609020204030204" pitchFamily="49" charset="0"/>
              </a:rPr>
              <a:t>Store</a:t>
            </a:r>
            <a:endParaRPr lang="pt-PT" sz="1400" b="1" dirty="0">
              <a:solidFill>
                <a:schemeClr val="tx1"/>
              </a:solidFill>
              <a:latin typeface="Consolas" panose="020B0609020204030204" pitchFamily="49" charset="0"/>
            </a:endParaRPr>
          </a:p>
        </p:txBody>
      </p:sp>
      <p:sp>
        <p:nvSpPr>
          <p:cNvPr id="10" name="Sun 9">
            <a:extLst>
              <a:ext uri="{FF2B5EF4-FFF2-40B4-BE49-F238E27FC236}">
                <a16:creationId xmlns:a16="http://schemas.microsoft.com/office/drawing/2014/main" id="{4D5DE08F-96FE-1A44-E516-1538F37F51CC}"/>
              </a:ext>
            </a:extLst>
          </p:cNvPr>
          <p:cNvSpPr/>
          <p:nvPr/>
        </p:nvSpPr>
        <p:spPr>
          <a:xfrm>
            <a:off x="3601959" y="3819114"/>
            <a:ext cx="1594303" cy="1482094"/>
          </a:xfrm>
          <a:prstGeom prst="sun">
            <a:avLst>
              <a:gd name="adj" fmla="val 19587"/>
            </a:avLst>
          </a:prstGeom>
        </p:spPr>
        <p:style>
          <a:lnRef idx="1">
            <a:schemeClr val="accent2"/>
          </a:lnRef>
          <a:fillRef idx="2">
            <a:schemeClr val="accent2"/>
          </a:fillRef>
          <a:effectRef idx="1">
            <a:schemeClr val="accent2"/>
          </a:effectRef>
          <a:fontRef idx="minor">
            <a:schemeClr val="dk1"/>
          </a:fontRef>
        </p:style>
        <p:txBody>
          <a:bodyPr wrap="none" lIns="36000" tIns="36000" rIns="36000" bIns="36000" rtlCol="0" anchor="ctr"/>
          <a:lstStyle/>
          <a:p>
            <a:pPr algn="ctr"/>
            <a:r>
              <a:rPr lang="pt-PT" sz="1400" b="1" dirty="0">
                <a:latin typeface="Consolas" panose="020B0609020204030204" pitchFamily="49" charset="0"/>
              </a:rPr>
              <a:t>Compute</a:t>
            </a:r>
          </a:p>
        </p:txBody>
      </p:sp>
    </p:spTree>
    <p:extLst>
      <p:ext uri="{BB962C8B-B14F-4D97-AF65-F5344CB8AC3E}">
        <p14:creationId xmlns:p14="http://schemas.microsoft.com/office/powerpoint/2010/main" val="3805814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5008D-F24C-36D1-6BED-5DD07CACCCA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ECA611D-FEE3-B2F5-FB78-A3607440400C}"/>
              </a:ext>
            </a:extLst>
          </p:cNvPr>
          <p:cNvSpPr>
            <a:spLocks noGrp="1"/>
          </p:cNvSpPr>
          <p:nvPr>
            <p:ph type="title"/>
          </p:nvPr>
        </p:nvSpPr>
        <p:spPr/>
        <p:txBody>
          <a:bodyPr/>
          <a:lstStyle/>
          <a:p>
            <a:r>
              <a:rPr lang="pt-PT" dirty="0" err="1"/>
              <a:t>MovieLens</a:t>
            </a:r>
            <a:r>
              <a:rPr lang="pt-PT" dirty="0"/>
              <a:t>: </a:t>
            </a:r>
            <a:r>
              <a:rPr lang="pt-PT" dirty="0" err="1"/>
              <a:t>Stream</a:t>
            </a:r>
            <a:endParaRPr lang="pt-PT" dirty="0"/>
          </a:p>
        </p:txBody>
      </p:sp>
      <p:sp>
        <p:nvSpPr>
          <p:cNvPr id="3" name="Footer Placeholder 2">
            <a:extLst>
              <a:ext uri="{FF2B5EF4-FFF2-40B4-BE49-F238E27FC236}">
                <a16:creationId xmlns:a16="http://schemas.microsoft.com/office/drawing/2014/main" id="{A67B3562-6EF2-0B73-F7DA-18A0FEEBFEBC}"/>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4CCEB1D9-2300-391E-D5B5-72E1F3780DC5}"/>
              </a:ext>
            </a:extLst>
          </p:cNvPr>
          <p:cNvSpPr>
            <a:spLocks noGrp="1"/>
          </p:cNvSpPr>
          <p:nvPr>
            <p:ph type="sldNum" sz="quarter" idx="12"/>
          </p:nvPr>
        </p:nvSpPr>
        <p:spPr/>
        <p:txBody>
          <a:bodyPr/>
          <a:lstStyle/>
          <a:p>
            <a:fld id="{51C52B0B-E753-43CA-AAC2-5F5B7738FA84}" type="slidenum">
              <a:rPr lang="pt-PT" smtClean="0"/>
              <a:pPr/>
              <a:t>6</a:t>
            </a:fld>
            <a:endParaRPr lang="pt-PT"/>
          </a:p>
        </p:txBody>
      </p:sp>
      <p:sp>
        <p:nvSpPr>
          <p:cNvPr id="5" name="Content Placeholder 4">
            <a:extLst>
              <a:ext uri="{FF2B5EF4-FFF2-40B4-BE49-F238E27FC236}">
                <a16:creationId xmlns:a16="http://schemas.microsoft.com/office/drawing/2014/main" id="{33FEE39B-F832-E062-FEDE-53BBC0DFF808}"/>
              </a:ext>
            </a:extLst>
          </p:cNvPr>
          <p:cNvSpPr>
            <a:spLocks noGrp="1"/>
          </p:cNvSpPr>
          <p:nvPr>
            <p:ph sz="quarter" idx="1"/>
          </p:nvPr>
        </p:nvSpPr>
        <p:spPr/>
        <p:txBody>
          <a:bodyPr>
            <a:normAutofit/>
          </a:bodyPr>
          <a:lstStyle/>
          <a:p>
            <a:r>
              <a:rPr lang="pt-PT" dirty="0" err="1">
                <a:latin typeface="Consolas" panose="020B0609020204030204" pitchFamily="49" charset="0"/>
              </a:rPr>
              <a:t>readStream</a:t>
            </a:r>
            <a:endParaRPr lang="pt-PT" dirty="0">
              <a:latin typeface="Consolas" panose="020B0609020204030204" pitchFamily="49" charset="0"/>
            </a:endParaRPr>
          </a:p>
        </p:txBody>
      </p:sp>
      <p:pic>
        <p:nvPicPr>
          <p:cNvPr id="7" name="Picture 6">
            <a:extLst>
              <a:ext uri="{FF2B5EF4-FFF2-40B4-BE49-F238E27FC236}">
                <a16:creationId xmlns:a16="http://schemas.microsoft.com/office/drawing/2014/main" id="{CF0C8B85-625D-711B-735A-C7AFEA03D684}"/>
              </a:ext>
            </a:extLst>
          </p:cNvPr>
          <p:cNvPicPr>
            <a:picLocks noChangeAspect="1"/>
          </p:cNvPicPr>
          <p:nvPr/>
        </p:nvPicPr>
        <p:blipFill>
          <a:blip r:embed="rId2"/>
          <a:stretch>
            <a:fillRect/>
          </a:stretch>
        </p:blipFill>
        <p:spPr>
          <a:xfrm>
            <a:off x="3635896" y="1219200"/>
            <a:ext cx="4686954" cy="4686954"/>
          </a:xfrm>
          <a:prstGeom prst="rect">
            <a:avLst/>
          </a:prstGeom>
        </p:spPr>
      </p:pic>
      <p:grpSp>
        <p:nvGrpSpPr>
          <p:cNvPr id="15" name="Group 14">
            <a:extLst>
              <a:ext uri="{FF2B5EF4-FFF2-40B4-BE49-F238E27FC236}">
                <a16:creationId xmlns:a16="http://schemas.microsoft.com/office/drawing/2014/main" id="{C7890750-3A7D-D6FA-2069-BAD9A0693730}"/>
              </a:ext>
            </a:extLst>
          </p:cNvPr>
          <p:cNvGrpSpPr/>
          <p:nvPr/>
        </p:nvGrpSpPr>
        <p:grpSpPr>
          <a:xfrm>
            <a:off x="457200" y="5817512"/>
            <a:ext cx="3504582" cy="576064"/>
            <a:chOff x="731766" y="3789040"/>
            <a:chExt cx="7416824" cy="1512168"/>
          </a:xfrm>
        </p:grpSpPr>
        <p:sp>
          <p:nvSpPr>
            <p:cNvPr id="8" name="Flowchart: Magnetic Disk 7">
              <a:extLst>
                <a:ext uri="{FF2B5EF4-FFF2-40B4-BE49-F238E27FC236}">
                  <a16:creationId xmlns:a16="http://schemas.microsoft.com/office/drawing/2014/main" id="{661665D5-0877-B826-AD40-01969B303825}"/>
                </a:ext>
              </a:extLst>
            </p:cNvPr>
            <p:cNvSpPr/>
            <p:nvPr/>
          </p:nvSpPr>
          <p:spPr>
            <a:xfrm>
              <a:off x="6924454" y="3789040"/>
              <a:ext cx="1224136" cy="13681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noProof="0" dirty="0">
                  <a:latin typeface="Consolas" panose="020B0609020204030204" pitchFamily="49" charset="0"/>
                </a:rPr>
                <a:t>Reference Data</a:t>
              </a:r>
            </a:p>
          </p:txBody>
        </p:sp>
        <p:sp>
          <p:nvSpPr>
            <p:cNvPr id="9" name="Flowchart: Multidocument 8">
              <a:extLst>
                <a:ext uri="{FF2B5EF4-FFF2-40B4-BE49-F238E27FC236}">
                  <a16:creationId xmlns:a16="http://schemas.microsoft.com/office/drawing/2014/main" id="{6647F9D7-BDDE-F302-507E-7DE7524EB914}"/>
                </a:ext>
              </a:extLst>
            </p:cNvPr>
            <p:cNvSpPr/>
            <p:nvPr/>
          </p:nvSpPr>
          <p:spPr>
            <a:xfrm>
              <a:off x="731766" y="3933056"/>
              <a:ext cx="1169296" cy="129614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wrap="none" lIns="36000" tIns="0" rIns="36000" bIns="36000" rtlCol="0" anchor="ctr"/>
            <a:lstStyle/>
            <a:p>
              <a:pPr algn="ctr"/>
              <a:r>
                <a:rPr lang="en-US" sz="1050" dirty="0">
                  <a:latin typeface="Consolas" panose="020B0609020204030204" pitchFamily="49" charset="0"/>
                </a:rPr>
                <a:t>Source</a:t>
              </a:r>
            </a:p>
            <a:p>
              <a:pPr algn="ctr"/>
              <a:r>
                <a:rPr lang="en-US" sz="1050" dirty="0">
                  <a:latin typeface="Consolas" panose="020B0609020204030204" pitchFamily="49" charset="0"/>
                </a:rPr>
                <a:t>Data</a:t>
              </a:r>
            </a:p>
          </p:txBody>
        </p:sp>
        <p:sp>
          <p:nvSpPr>
            <p:cNvPr id="11" name="Arrow: Chevron 10">
              <a:extLst>
                <a:ext uri="{FF2B5EF4-FFF2-40B4-BE49-F238E27FC236}">
                  <a16:creationId xmlns:a16="http://schemas.microsoft.com/office/drawing/2014/main" id="{592BA1F0-E3CD-586A-501F-7F885A30B246}"/>
                </a:ext>
              </a:extLst>
            </p:cNvPr>
            <p:cNvSpPr/>
            <p:nvPr/>
          </p:nvSpPr>
          <p:spPr>
            <a:xfrm>
              <a:off x="2243934"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Read</a:t>
              </a:r>
              <a:endParaRPr lang="pt-PT" sz="1050" b="1" dirty="0">
                <a:solidFill>
                  <a:schemeClr val="tx1"/>
                </a:solidFill>
                <a:latin typeface="Consolas" panose="020B0609020204030204" pitchFamily="49" charset="0"/>
              </a:endParaRPr>
            </a:p>
          </p:txBody>
        </p:sp>
        <p:sp>
          <p:nvSpPr>
            <p:cNvPr id="13" name="Arrow: Chevron 12">
              <a:extLst>
                <a:ext uri="{FF2B5EF4-FFF2-40B4-BE49-F238E27FC236}">
                  <a16:creationId xmlns:a16="http://schemas.microsoft.com/office/drawing/2014/main" id="{5EDF64D7-AE5C-C72B-406E-E4AB27EF2A48}"/>
                </a:ext>
              </a:extLst>
            </p:cNvPr>
            <p:cNvSpPr/>
            <p:nvPr/>
          </p:nvSpPr>
          <p:spPr>
            <a:xfrm>
              <a:off x="5323111"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Store</a:t>
              </a:r>
              <a:endParaRPr lang="pt-PT" sz="1050" b="1" dirty="0">
                <a:solidFill>
                  <a:schemeClr val="tx1"/>
                </a:solidFill>
                <a:latin typeface="Consolas" panose="020B0609020204030204" pitchFamily="49" charset="0"/>
              </a:endParaRPr>
            </a:p>
          </p:txBody>
        </p:sp>
        <p:sp>
          <p:nvSpPr>
            <p:cNvPr id="14" name="Sun 13">
              <a:extLst>
                <a:ext uri="{FF2B5EF4-FFF2-40B4-BE49-F238E27FC236}">
                  <a16:creationId xmlns:a16="http://schemas.microsoft.com/office/drawing/2014/main" id="{F25A2C51-16B9-58C4-59FF-70A4957ECCEB}"/>
                </a:ext>
              </a:extLst>
            </p:cNvPr>
            <p:cNvSpPr/>
            <p:nvPr/>
          </p:nvSpPr>
          <p:spPr>
            <a:xfrm>
              <a:off x="3601959" y="3819114"/>
              <a:ext cx="1594303" cy="1482094"/>
            </a:xfrm>
            <a:prstGeom prst="sun">
              <a:avLst>
                <a:gd name="adj" fmla="val 19587"/>
              </a:avLst>
            </a:prstGeom>
          </p:spPr>
          <p:style>
            <a:lnRef idx="1">
              <a:schemeClr val="accent2"/>
            </a:lnRef>
            <a:fillRef idx="2">
              <a:schemeClr val="accent2"/>
            </a:fillRef>
            <a:effectRef idx="1">
              <a:schemeClr val="accent2"/>
            </a:effectRef>
            <a:fontRef idx="minor">
              <a:schemeClr val="dk1"/>
            </a:fontRef>
          </p:style>
          <p:txBody>
            <a:bodyPr wrap="none" lIns="36000" tIns="36000" rIns="36000" bIns="36000" rtlCol="0" anchor="ctr"/>
            <a:lstStyle/>
            <a:p>
              <a:pPr algn="ctr"/>
              <a:r>
                <a:rPr lang="pt-PT" sz="1050" b="1" dirty="0">
                  <a:latin typeface="Consolas" panose="020B0609020204030204" pitchFamily="49" charset="0"/>
                </a:rPr>
                <a:t>Compute</a:t>
              </a:r>
            </a:p>
          </p:txBody>
        </p:sp>
      </p:grpSp>
    </p:spTree>
    <p:extLst>
      <p:ext uri="{BB962C8B-B14F-4D97-AF65-F5344CB8AC3E}">
        <p14:creationId xmlns:p14="http://schemas.microsoft.com/office/powerpoint/2010/main" val="1470075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92086-8E0D-1BBC-8B14-9270BF7C920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A1E7216-0688-7BAE-7C39-0C1112E706D6}"/>
              </a:ext>
            </a:extLst>
          </p:cNvPr>
          <p:cNvSpPr>
            <a:spLocks noGrp="1"/>
          </p:cNvSpPr>
          <p:nvPr>
            <p:ph type="title"/>
          </p:nvPr>
        </p:nvSpPr>
        <p:spPr/>
        <p:txBody>
          <a:bodyPr/>
          <a:lstStyle/>
          <a:p>
            <a:r>
              <a:rPr lang="pt-PT" dirty="0" err="1"/>
              <a:t>MovieLens</a:t>
            </a:r>
            <a:r>
              <a:rPr lang="pt-PT" dirty="0"/>
              <a:t>: </a:t>
            </a:r>
            <a:r>
              <a:rPr lang="pt-PT" dirty="0" err="1"/>
              <a:t>Stream</a:t>
            </a:r>
            <a:endParaRPr lang="pt-PT" dirty="0"/>
          </a:p>
        </p:txBody>
      </p:sp>
      <p:sp>
        <p:nvSpPr>
          <p:cNvPr id="3" name="Footer Placeholder 2">
            <a:extLst>
              <a:ext uri="{FF2B5EF4-FFF2-40B4-BE49-F238E27FC236}">
                <a16:creationId xmlns:a16="http://schemas.microsoft.com/office/drawing/2014/main" id="{239ECD51-EF60-B7FB-96CD-E5C677DAABB3}"/>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9228FEDD-0859-56E6-0E12-F295B306FDD1}"/>
              </a:ext>
            </a:extLst>
          </p:cNvPr>
          <p:cNvSpPr>
            <a:spLocks noGrp="1"/>
          </p:cNvSpPr>
          <p:nvPr>
            <p:ph type="sldNum" sz="quarter" idx="12"/>
          </p:nvPr>
        </p:nvSpPr>
        <p:spPr/>
        <p:txBody>
          <a:bodyPr/>
          <a:lstStyle/>
          <a:p>
            <a:fld id="{51C52B0B-E753-43CA-AAC2-5F5B7738FA84}" type="slidenum">
              <a:rPr lang="pt-PT" smtClean="0"/>
              <a:pPr/>
              <a:t>7</a:t>
            </a:fld>
            <a:endParaRPr lang="pt-PT"/>
          </a:p>
        </p:txBody>
      </p:sp>
      <p:sp>
        <p:nvSpPr>
          <p:cNvPr id="5" name="Content Placeholder 4">
            <a:extLst>
              <a:ext uri="{FF2B5EF4-FFF2-40B4-BE49-F238E27FC236}">
                <a16:creationId xmlns:a16="http://schemas.microsoft.com/office/drawing/2014/main" id="{B31DFE77-345A-7995-6DE7-79AC6CB98789}"/>
              </a:ext>
            </a:extLst>
          </p:cNvPr>
          <p:cNvSpPr>
            <a:spLocks noGrp="1"/>
          </p:cNvSpPr>
          <p:nvPr>
            <p:ph sz="quarter" idx="1"/>
          </p:nvPr>
        </p:nvSpPr>
        <p:spPr/>
        <p:txBody>
          <a:bodyPr>
            <a:normAutofit/>
          </a:bodyPr>
          <a:lstStyle/>
          <a:p>
            <a:r>
              <a:rPr lang="pt-PT" dirty="0" err="1">
                <a:latin typeface="Consolas" panose="020B0609020204030204" pitchFamily="49" charset="0"/>
              </a:rPr>
              <a:t>processBatch</a:t>
            </a:r>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processRow</a:t>
            </a:r>
            <a:endParaRPr lang="pt-PT" dirty="0">
              <a:latin typeface="Consolas" panose="020B0609020204030204" pitchFamily="49" charset="0"/>
            </a:endParaRPr>
          </a:p>
        </p:txBody>
      </p:sp>
      <p:pic>
        <p:nvPicPr>
          <p:cNvPr id="10" name="Picture 9">
            <a:extLst>
              <a:ext uri="{FF2B5EF4-FFF2-40B4-BE49-F238E27FC236}">
                <a16:creationId xmlns:a16="http://schemas.microsoft.com/office/drawing/2014/main" id="{978B1D5F-1ABF-8D67-81D1-336BADBA1605}"/>
              </a:ext>
            </a:extLst>
          </p:cNvPr>
          <p:cNvPicPr>
            <a:picLocks noChangeAspect="1"/>
          </p:cNvPicPr>
          <p:nvPr/>
        </p:nvPicPr>
        <p:blipFill>
          <a:blip r:embed="rId2"/>
          <a:stretch>
            <a:fillRect/>
          </a:stretch>
        </p:blipFill>
        <p:spPr>
          <a:xfrm>
            <a:off x="2572808" y="1628800"/>
            <a:ext cx="6544588" cy="3277057"/>
          </a:xfrm>
          <a:prstGeom prst="rect">
            <a:avLst/>
          </a:prstGeom>
        </p:spPr>
      </p:pic>
      <p:pic>
        <p:nvPicPr>
          <p:cNvPr id="12" name="Picture 11">
            <a:extLst>
              <a:ext uri="{FF2B5EF4-FFF2-40B4-BE49-F238E27FC236}">
                <a16:creationId xmlns:a16="http://schemas.microsoft.com/office/drawing/2014/main" id="{D504660D-697D-7CD3-E3D5-8141879B62E9}"/>
              </a:ext>
            </a:extLst>
          </p:cNvPr>
          <p:cNvPicPr>
            <a:picLocks noChangeAspect="1"/>
          </p:cNvPicPr>
          <p:nvPr/>
        </p:nvPicPr>
        <p:blipFill>
          <a:blip r:embed="rId3"/>
          <a:stretch>
            <a:fillRect/>
          </a:stretch>
        </p:blipFill>
        <p:spPr>
          <a:xfrm>
            <a:off x="4144935" y="5169289"/>
            <a:ext cx="2695951" cy="990738"/>
          </a:xfrm>
          <a:prstGeom prst="rect">
            <a:avLst/>
          </a:prstGeom>
        </p:spPr>
      </p:pic>
      <p:grpSp>
        <p:nvGrpSpPr>
          <p:cNvPr id="14" name="Group 13">
            <a:extLst>
              <a:ext uri="{FF2B5EF4-FFF2-40B4-BE49-F238E27FC236}">
                <a16:creationId xmlns:a16="http://schemas.microsoft.com/office/drawing/2014/main" id="{2122BD8B-1E0F-5DBA-1110-72E5357E5DA1}"/>
              </a:ext>
            </a:extLst>
          </p:cNvPr>
          <p:cNvGrpSpPr/>
          <p:nvPr/>
        </p:nvGrpSpPr>
        <p:grpSpPr>
          <a:xfrm>
            <a:off x="457200" y="5817512"/>
            <a:ext cx="3504582" cy="576064"/>
            <a:chOff x="731766" y="3789040"/>
            <a:chExt cx="7416824" cy="1512168"/>
          </a:xfrm>
        </p:grpSpPr>
        <p:sp>
          <p:nvSpPr>
            <p:cNvPr id="15" name="Flowchart: Magnetic Disk 14">
              <a:extLst>
                <a:ext uri="{FF2B5EF4-FFF2-40B4-BE49-F238E27FC236}">
                  <a16:creationId xmlns:a16="http://schemas.microsoft.com/office/drawing/2014/main" id="{D6CB79A7-CDB6-F5B7-33E4-419F20080569}"/>
                </a:ext>
              </a:extLst>
            </p:cNvPr>
            <p:cNvSpPr/>
            <p:nvPr/>
          </p:nvSpPr>
          <p:spPr>
            <a:xfrm>
              <a:off x="6924454" y="3789040"/>
              <a:ext cx="1224136" cy="13681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noProof="0" dirty="0">
                  <a:latin typeface="Consolas" panose="020B0609020204030204" pitchFamily="49" charset="0"/>
                </a:rPr>
                <a:t>Reference Data</a:t>
              </a:r>
            </a:p>
          </p:txBody>
        </p:sp>
        <p:sp>
          <p:nvSpPr>
            <p:cNvPr id="16" name="Flowchart: Multidocument 15">
              <a:extLst>
                <a:ext uri="{FF2B5EF4-FFF2-40B4-BE49-F238E27FC236}">
                  <a16:creationId xmlns:a16="http://schemas.microsoft.com/office/drawing/2014/main" id="{A92F3968-36E6-F7AE-7D29-842617686A95}"/>
                </a:ext>
              </a:extLst>
            </p:cNvPr>
            <p:cNvSpPr/>
            <p:nvPr/>
          </p:nvSpPr>
          <p:spPr>
            <a:xfrm>
              <a:off x="731766" y="3933056"/>
              <a:ext cx="1169296" cy="129614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wrap="none" lIns="36000" tIns="0" rIns="36000" bIns="36000" rtlCol="0" anchor="ctr"/>
            <a:lstStyle/>
            <a:p>
              <a:pPr algn="ctr"/>
              <a:r>
                <a:rPr lang="en-US" sz="1050" dirty="0">
                  <a:latin typeface="Consolas" panose="020B0609020204030204" pitchFamily="49" charset="0"/>
                </a:rPr>
                <a:t>Source</a:t>
              </a:r>
            </a:p>
            <a:p>
              <a:pPr algn="ctr"/>
              <a:r>
                <a:rPr lang="en-US" sz="1050" dirty="0">
                  <a:latin typeface="Consolas" panose="020B0609020204030204" pitchFamily="49" charset="0"/>
                </a:rPr>
                <a:t>Data</a:t>
              </a:r>
            </a:p>
          </p:txBody>
        </p:sp>
        <p:sp>
          <p:nvSpPr>
            <p:cNvPr id="17" name="Arrow: Chevron 16">
              <a:extLst>
                <a:ext uri="{FF2B5EF4-FFF2-40B4-BE49-F238E27FC236}">
                  <a16:creationId xmlns:a16="http://schemas.microsoft.com/office/drawing/2014/main" id="{50E1D577-BBF1-2C36-B5A5-E442B7354C34}"/>
                </a:ext>
              </a:extLst>
            </p:cNvPr>
            <p:cNvSpPr/>
            <p:nvPr/>
          </p:nvSpPr>
          <p:spPr>
            <a:xfrm>
              <a:off x="2243934"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Read</a:t>
              </a:r>
              <a:endParaRPr lang="pt-PT" sz="1050" b="1" dirty="0">
                <a:solidFill>
                  <a:schemeClr val="tx1"/>
                </a:solidFill>
                <a:latin typeface="Consolas" panose="020B0609020204030204" pitchFamily="49" charset="0"/>
              </a:endParaRPr>
            </a:p>
          </p:txBody>
        </p:sp>
        <p:sp>
          <p:nvSpPr>
            <p:cNvPr id="18" name="Arrow: Chevron 17">
              <a:extLst>
                <a:ext uri="{FF2B5EF4-FFF2-40B4-BE49-F238E27FC236}">
                  <a16:creationId xmlns:a16="http://schemas.microsoft.com/office/drawing/2014/main" id="{C8A77649-FFBB-91A3-580B-70F0227C1F3B}"/>
                </a:ext>
              </a:extLst>
            </p:cNvPr>
            <p:cNvSpPr/>
            <p:nvPr/>
          </p:nvSpPr>
          <p:spPr>
            <a:xfrm>
              <a:off x="5323111"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Store</a:t>
              </a:r>
              <a:endParaRPr lang="pt-PT" sz="1050" b="1" dirty="0">
                <a:solidFill>
                  <a:schemeClr val="tx1"/>
                </a:solidFill>
                <a:latin typeface="Consolas" panose="020B0609020204030204" pitchFamily="49" charset="0"/>
              </a:endParaRPr>
            </a:p>
          </p:txBody>
        </p:sp>
        <p:sp>
          <p:nvSpPr>
            <p:cNvPr id="19" name="Sun 18">
              <a:extLst>
                <a:ext uri="{FF2B5EF4-FFF2-40B4-BE49-F238E27FC236}">
                  <a16:creationId xmlns:a16="http://schemas.microsoft.com/office/drawing/2014/main" id="{8AA92550-C774-0659-B08B-C994CE1F678B}"/>
                </a:ext>
              </a:extLst>
            </p:cNvPr>
            <p:cNvSpPr/>
            <p:nvPr/>
          </p:nvSpPr>
          <p:spPr>
            <a:xfrm>
              <a:off x="3601959" y="3819114"/>
              <a:ext cx="1594303" cy="1482094"/>
            </a:xfrm>
            <a:prstGeom prst="sun">
              <a:avLst>
                <a:gd name="adj" fmla="val 19587"/>
              </a:avLst>
            </a:prstGeom>
          </p:spPr>
          <p:style>
            <a:lnRef idx="1">
              <a:schemeClr val="accent2"/>
            </a:lnRef>
            <a:fillRef idx="2">
              <a:schemeClr val="accent2"/>
            </a:fillRef>
            <a:effectRef idx="1">
              <a:schemeClr val="accent2"/>
            </a:effectRef>
            <a:fontRef idx="minor">
              <a:schemeClr val="dk1"/>
            </a:fontRef>
          </p:style>
          <p:txBody>
            <a:bodyPr wrap="none" lIns="36000" tIns="36000" rIns="36000" bIns="36000" rtlCol="0" anchor="ctr"/>
            <a:lstStyle/>
            <a:p>
              <a:pPr algn="ctr"/>
              <a:r>
                <a:rPr lang="pt-PT" sz="1050" b="1" dirty="0">
                  <a:latin typeface="Consolas" panose="020B0609020204030204" pitchFamily="49" charset="0"/>
                </a:rPr>
                <a:t>Compute</a:t>
              </a:r>
            </a:p>
          </p:txBody>
        </p:sp>
      </p:grpSp>
    </p:spTree>
    <p:extLst>
      <p:ext uri="{BB962C8B-B14F-4D97-AF65-F5344CB8AC3E}">
        <p14:creationId xmlns:p14="http://schemas.microsoft.com/office/powerpoint/2010/main" val="2726948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AEA71-F4D5-CD3B-9A6A-FA42CF3F1E3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CEA0EB4-764F-B6FD-FE0A-45D4EAC22EB7}"/>
              </a:ext>
            </a:extLst>
          </p:cNvPr>
          <p:cNvSpPr>
            <a:spLocks noGrp="1"/>
          </p:cNvSpPr>
          <p:nvPr>
            <p:ph type="title"/>
          </p:nvPr>
        </p:nvSpPr>
        <p:spPr/>
        <p:txBody>
          <a:bodyPr/>
          <a:lstStyle/>
          <a:p>
            <a:r>
              <a:rPr lang="pt-PT" dirty="0" err="1"/>
              <a:t>MovieLens</a:t>
            </a:r>
            <a:r>
              <a:rPr lang="pt-PT" dirty="0"/>
              <a:t>: </a:t>
            </a:r>
            <a:r>
              <a:rPr lang="pt-PT" dirty="0" err="1"/>
              <a:t>Stream</a:t>
            </a:r>
            <a:endParaRPr lang="pt-PT" dirty="0"/>
          </a:p>
        </p:txBody>
      </p:sp>
      <p:sp>
        <p:nvSpPr>
          <p:cNvPr id="3" name="Footer Placeholder 2">
            <a:extLst>
              <a:ext uri="{FF2B5EF4-FFF2-40B4-BE49-F238E27FC236}">
                <a16:creationId xmlns:a16="http://schemas.microsoft.com/office/drawing/2014/main" id="{AE8142BC-E6DB-BC0F-0E31-9D43DFFBD584}"/>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780D0323-4F2F-CD7C-569C-A63912E76ED1}"/>
              </a:ext>
            </a:extLst>
          </p:cNvPr>
          <p:cNvSpPr>
            <a:spLocks noGrp="1"/>
          </p:cNvSpPr>
          <p:nvPr>
            <p:ph type="sldNum" sz="quarter" idx="12"/>
          </p:nvPr>
        </p:nvSpPr>
        <p:spPr/>
        <p:txBody>
          <a:bodyPr/>
          <a:lstStyle/>
          <a:p>
            <a:fld id="{51C52B0B-E753-43CA-AAC2-5F5B7738FA84}" type="slidenum">
              <a:rPr lang="pt-PT" smtClean="0"/>
              <a:pPr/>
              <a:t>8</a:t>
            </a:fld>
            <a:endParaRPr lang="pt-PT"/>
          </a:p>
        </p:txBody>
      </p:sp>
      <p:sp>
        <p:nvSpPr>
          <p:cNvPr id="5" name="Content Placeholder 4">
            <a:extLst>
              <a:ext uri="{FF2B5EF4-FFF2-40B4-BE49-F238E27FC236}">
                <a16:creationId xmlns:a16="http://schemas.microsoft.com/office/drawing/2014/main" id="{2493DC8D-6126-D241-C351-B5DFCBEDF975}"/>
              </a:ext>
            </a:extLst>
          </p:cNvPr>
          <p:cNvSpPr>
            <a:spLocks noGrp="1"/>
          </p:cNvSpPr>
          <p:nvPr>
            <p:ph sz="quarter" idx="1"/>
          </p:nvPr>
        </p:nvSpPr>
        <p:spPr/>
        <p:txBody>
          <a:bodyPr>
            <a:normAutofit/>
          </a:bodyPr>
          <a:lstStyle/>
          <a:p>
            <a:r>
              <a:rPr lang="pt-PT" dirty="0" err="1">
                <a:latin typeface="Consolas" panose="020B0609020204030204" pitchFamily="49" charset="0"/>
              </a:rPr>
              <a:t>writeStream</a:t>
            </a:r>
            <a:endParaRPr lang="pt-PT" dirty="0">
              <a:latin typeface="Consolas" panose="020B0609020204030204" pitchFamily="49" charset="0"/>
            </a:endParaRPr>
          </a:p>
        </p:txBody>
      </p:sp>
      <p:pic>
        <p:nvPicPr>
          <p:cNvPr id="8" name="Picture 7">
            <a:extLst>
              <a:ext uri="{FF2B5EF4-FFF2-40B4-BE49-F238E27FC236}">
                <a16:creationId xmlns:a16="http://schemas.microsoft.com/office/drawing/2014/main" id="{347A2163-8B5E-B411-8298-B4FC256CEB69}"/>
              </a:ext>
            </a:extLst>
          </p:cNvPr>
          <p:cNvPicPr>
            <a:picLocks noChangeAspect="1"/>
          </p:cNvPicPr>
          <p:nvPr/>
        </p:nvPicPr>
        <p:blipFill>
          <a:blip r:embed="rId2"/>
          <a:stretch>
            <a:fillRect/>
          </a:stretch>
        </p:blipFill>
        <p:spPr>
          <a:xfrm>
            <a:off x="2709602" y="1700808"/>
            <a:ext cx="3724795" cy="1171739"/>
          </a:xfrm>
          <a:prstGeom prst="rect">
            <a:avLst/>
          </a:prstGeom>
        </p:spPr>
      </p:pic>
      <p:grpSp>
        <p:nvGrpSpPr>
          <p:cNvPr id="9" name="Group 8">
            <a:extLst>
              <a:ext uri="{FF2B5EF4-FFF2-40B4-BE49-F238E27FC236}">
                <a16:creationId xmlns:a16="http://schemas.microsoft.com/office/drawing/2014/main" id="{4A6D042A-FEC5-E1C1-2B2B-AAECAA383078}"/>
              </a:ext>
            </a:extLst>
          </p:cNvPr>
          <p:cNvGrpSpPr/>
          <p:nvPr/>
        </p:nvGrpSpPr>
        <p:grpSpPr>
          <a:xfrm>
            <a:off x="457200" y="5817512"/>
            <a:ext cx="3504582" cy="576064"/>
            <a:chOff x="731766" y="3789040"/>
            <a:chExt cx="7416824" cy="1512168"/>
          </a:xfrm>
        </p:grpSpPr>
        <p:sp>
          <p:nvSpPr>
            <p:cNvPr id="10" name="Flowchart: Magnetic Disk 9">
              <a:extLst>
                <a:ext uri="{FF2B5EF4-FFF2-40B4-BE49-F238E27FC236}">
                  <a16:creationId xmlns:a16="http://schemas.microsoft.com/office/drawing/2014/main" id="{C0806115-03BD-8544-90CD-1B6B7A23326D}"/>
                </a:ext>
              </a:extLst>
            </p:cNvPr>
            <p:cNvSpPr/>
            <p:nvPr/>
          </p:nvSpPr>
          <p:spPr>
            <a:xfrm>
              <a:off x="6924454" y="3789040"/>
              <a:ext cx="1224136" cy="13681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noProof="0" dirty="0">
                  <a:latin typeface="Consolas" panose="020B0609020204030204" pitchFamily="49" charset="0"/>
                </a:rPr>
                <a:t>Reference Data</a:t>
              </a:r>
            </a:p>
          </p:txBody>
        </p:sp>
        <p:sp>
          <p:nvSpPr>
            <p:cNvPr id="11" name="Flowchart: Multidocument 10">
              <a:extLst>
                <a:ext uri="{FF2B5EF4-FFF2-40B4-BE49-F238E27FC236}">
                  <a16:creationId xmlns:a16="http://schemas.microsoft.com/office/drawing/2014/main" id="{311B370E-E054-BEE1-7D52-520A4B6499CD}"/>
                </a:ext>
              </a:extLst>
            </p:cNvPr>
            <p:cNvSpPr/>
            <p:nvPr/>
          </p:nvSpPr>
          <p:spPr>
            <a:xfrm>
              <a:off x="731766" y="3933056"/>
              <a:ext cx="1169296" cy="129614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wrap="none" lIns="36000" tIns="0" rIns="36000" bIns="36000" rtlCol="0" anchor="ctr"/>
            <a:lstStyle/>
            <a:p>
              <a:pPr algn="ctr"/>
              <a:r>
                <a:rPr lang="en-US" sz="1050" dirty="0">
                  <a:latin typeface="Consolas" panose="020B0609020204030204" pitchFamily="49" charset="0"/>
                </a:rPr>
                <a:t>Source</a:t>
              </a:r>
            </a:p>
            <a:p>
              <a:pPr algn="ctr"/>
              <a:r>
                <a:rPr lang="en-US" sz="1050" dirty="0">
                  <a:latin typeface="Consolas" panose="020B0609020204030204" pitchFamily="49" charset="0"/>
                </a:rPr>
                <a:t>Data</a:t>
              </a:r>
            </a:p>
          </p:txBody>
        </p:sp>
        <p:sp>
          <p:nvSpPr>
            <p:cNvPr id="12" name="Arrow: Chevron 11">
              <a:extLst>
                <a:ext uri="{FF2B5EF4-FFF2-40B4-BE49-F238E27FC236}">
                  <a16:creationId xmlns:a16="http://schemas.microsoft.com/office/drawing/2014/main" id="{5590FF01-8807-67E8-F225-77CBAC570F61}"/>
                </a:ext>
              </a:extLst>
            </p:cNvPr>
            <p:cNvSpPr/>
            <p:nvPr/>
          </p:nvSpPr>
          <p:spPr>
            <a:xfrm>
              <a:off x="2243934"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Read</a:t>
              </a:r>
              <a:endParaRPr lang="pt-PT" sz="1050" b="1" dirty="0">
                <a:solidFill>
                  <a:schemeClr val="tx1"/>
                </a:solidFill>
                <a:latin typeface="Consolas" panose="020B0609020204030204" pitchFamily="49" charset="0"/>
              </a:endParaRPr>
            </a:p>
          </p:txBody>
        </p:sp>
        <p:sp>
          <p:nvSpPr>
            <p:cNvPr id="13" name="Arrow: Chevron 12">
              <a:extLst>
                <a:ext uri="{FF2B5EF4-FFF2-40B4-BE49-F238E27FC236}">
                  <a16:creationId xmlns:a16="http://schemas.microsoft.com/office/drawing/2014/main" id="{9B575F24-F5CB-627F-33C4-268035A33825}"/>
                </a:ext>
              </a:extLst>
            </p:cNvPr>
            <p:cNvSpPr/>
            <p:nvPr/>
          </p:nvSpPr>
          <p:spPr>
            <a:xfrm>
              <a:off x="5323111"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Store</a:t>
              </a:r>
              <a:endParaRPr lang="pt-PT" sz="1050" b="1" dirty="0">
                <a:solidFill>
                  <a:schemeClr val="tx1"/>
                </a:solidFill>
                <a:latin typeface="Consolas" panose="020B0609020204030204" pitchFamily="49" charset="0"/>
              </a:endParaRPr>
            </a:p>
          </p:txBody>
        </p:sp>
        <p:sp>
          <p:nvSpPr>
            <p:cNvPr id="14" name="Sun 13">
              <a:extLst>
                <a:ext uri="{FF2B5EF4-FFF2-40B4-BE49-F238E27FC236}">
                  <a16:creationId xmlns:a16="http://schemas.microsoft.com/office/drawing/2014/main" id="{70E52581-C95B-4125-4FFA-64F5245C5B19}"/>
                </a:ext>
              </a:extLst>
            </p:cNvPr>
            <p:cNvSpPr/>
            <p:nvPr/>
          </p:nvSpPr>
          <p:spPr>
            <a:xfrm>
              <a:off x="3601959" y="3819114"/>
              <a:ext cx="1594303" cy="1482094"/>
            </a:xfrm>
            <a:prstGeom prst="sun">
              <a:avLst>
                <a:gd name="adj" fmla="val 19587"/>
              </a:avLst>
            </a:prstGeom>
          </p:spPr>
          <p:style>
            <a:lnRef idx="1">
              <a:schemeClr val="accent2"/>
            </a:lnRef>
            <a:fillRef idx="2">
              <a:schemeClr val="accent2"/>
            </a:fillRef>
            <a:effectRef idx="1">
              <a:schemeClr val="accent2"/>
            </a:effectRef>
            <a:fontRef idx="minor">
              <a:schemeClr val="dk1"/>
            </a:fontRef>
          </p:style>
          <p:txBody>
            <a:bodyPr wrap="none" lIns="36000" tIns="36000" rIns="36000" bIns="36000" rtlCol="0" anchor="ctr"/>
            <a:lstStyle/>
            <a:p>
              <a:pPr algn="ctr"/>
              <a:r>
                <a:rPr lang="pt-PT" sz="1050" b="1" dirty="0">
                  <a:latin typeface="Consolas" panose="020B0609020204030204" pitchFamily="49" charset="0"/>
                </a:rPr>
                <a:t>Compute</a:t>
              </a:r>
            </a:p>
          </p:txBody>
        </p:sp>
      </p:grpSp>
    </p:spTree>
    <p:extLst>
      <p:ext uri="{BB962C8B-B14F-4D97-AF65-F5344CB8AC3E}">
        <p14:creationId xmlns:p14="http://schemas.microsoft.com/office/powerpoint/2010/main" val="1129949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F46B6-83A3-E2E9-A2FA-10D2A20D585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3CAB863-2DEA-01FD-348C-112B978310E1}"/>
              </a:ext>
            </a:extLst>
          </p:cNvPr>
          <p:cNvSpPr>
            <a:spLocks noGrp="1"/>
          </p:cNvSpPr>
          <p:nvPr>
            <p:ph type="title"/>
          </p:nvPr>
        </p:nvSpPr>
        <p:spPr/>
        <p:txBody>
          <a:bodyPr/>
          <a:lstStyle/>
          <a:p>
            <a:r>
              <a:rPr lang="pt-PT" dirty="0" err="1"/>
              <a:t>MovieLens</a:t>
            </a:r>
            <a:r>
              <a:rPr lang="pt-PT" dirty="0"/>
              <a:t>: </a:t>
            </a:r>
            <a:r>
              <a:rPr lang="pt-PT" dirty="0" err="1"/>
              <a:t>Batch</a:t>
            </a:r>
            <a:endParaRPr lang="pt-PT" dirty="0"/>
          </a:p>
        </p:txBody>
      </p:sp>
      <p:sp>
        <p:nvSpPr>
          <p:cNvPr id="3" name="Footer Placeholder 2">
            <a:extLst>
              <a:ext uri="{FF2B5EF4-FFF2-40B4-BE49-F238E27FC236}">
                <a16:creationId xmlns:a16="http://schemas.microsoft.com/office/drawing/2014/main" id="{DB4DD687-FED0-81D2-916D-E4919BAB6873}"/>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30A62569-C0FE-FFF2-AEE1-62060BB996EE}"/>
              </a:ext>
            </a:extLst>
          </p:cNvPr>
          <p:cNvSpPr>
            <a:spLocks noGrp="1"/>
          </p:cNvSpPr>
          <p:nvPr>
            <p:ph type="sldNum" sz="quarter" idx="12"/>
          </p:nvPr>
        </p:nvSpPr>
        <p:spPr/>
        <p:txBody>
          <a:bodyPr/>
          <a:lstStyle/>
          <a:p>
            <a:fld id="{51C52B0B-E753-43CA-AAC2-5F5B7738FA84}" type="slidenum">
              <a:rPr lang="pt-PT" smtClean="0"/>
              <a:pPr/>
              <a:t>9</a:t>
            </a:fld>
            <a:endParaRPr lang="pt-PT"/>
          </a:p>
        </p:txBody>
      </p:sp>
      <p:sp>
        <p:nvSpPr>
          <p:cNvPr id="5" name="Content Placeholder 4">
            <a:extLst>
              <a:ext uri="{FF2B5EF4-FFF2-40B4-BE49-F238E27FC236}">
                <a16:creationId xmlns:a16="http://schemas.microsoft.com/office/drawing/2014/main" id="{F6D8C2DE-B185-858A-BDDE-5091E736E997}"/>
              </a:ext>
            </a:extLst>
          </p:cNvPr>
          <p:cNvSpPr>
            <a:spLocks noGrp="1"/>
          </p:cNvSpPr>
          <p:nvPr>
            <p:ph sz="quarter" idx="1"/>
          </p:nvPr>
        </p:nvSpPr>
        <p:spPr/>
        <p:txBody>
          <a:bodyPr>
            <a:normAutofit/>
          </a:bodyPr>
          <a:lstStyle/>
          <a:p>
            <a:r>
              <a:rPr lang="pt-PT" dirty="0" err="1">
                <a:latin typeface="Consolas" panose="020B0609020204030204" pitchFamily="49" charset="0"/>
              </a:rPr>
              <a:t>Spark</a:t>
            </a:r>
            <a:r>
              <a:rPr lang="pt-PT" dirty="0">
                <a:latin typeface="Consolas" panose="020B0609020204030204" pitchFamily="49" charset="0"/>
              </a:rPr>
              <a:t>...</a:t>
            </a:r>
            <a:r>
              <a:rPr lang="pt-PT" dirty="0" err="1">
                <a:latin typeface="Consolas" panose="020B0609020204030204" pitchFamily="49" charset="0"/>
              </a:rPr>
              <a:t>getOrCreate</a:t>
            </a:r>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ComputeAndStore</a:t>
            </a:r>
            <a:endParaRPr lang="pt-PT" dirty="0">
              <a:latin typeface="Consolas" panose="020B0609020204030204" pitchFamily="49" charset="0"/>
            </a:endParaRPr>
          </a:p>
          <a:p>
            <a:pPr marL="0" indent="0">
              <a:buNone/>
            </a:pPr>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pPr marL="0" indent="0">
              <a:buNone/>
            </a:pPr>
            <a:endParaRPr lang="pt-PT" dirty="0">
              <a:latin typeface="Consolas" panose="020B0609020204030204" pitchFamily="49" charset="0"/>
            </a:endParaRPr>
          </a:p>
          <a:p>
            <a:r>
              <a:rPr lang="pt-PT" dirty="0" err="1">
                <a:latin typeface="Consolas" panose="020B0609020204030204" pitchFamily="49" charset="0"/>
              </a:rPr>
              <a:t>spark.stop</a:t>
            </a:r>
            <a:r>
              <a:rPr lang="pt-PT" dirty="0">
                <a:latin typeface="Consolas" panose="020B0609020204030204" pitchFamily="49" charset="0"/>
              </a:rPr>
              <a:t>()</a:t>
            </a:r>
          </a:p>
        </p:txBody>
      </p:sp>
      <p:pic>
        <p:nvPicPr>
          <p:cNvPr id="10" name="Picture 9">
            <a:extLst>
              <a:ext uri="{FF2B5EF4-FFF2-40B4-BE49-F238E27FC236}">
                <a16:creationId xmlns:a16="http://schemas.microsoft.com/office/drawing/2014/main" id="{47D1F74E-0E09-6BF2-801A-EF3885AC7FD5}"/>
              </a:ext>
            </a:extLst>
          </p:cNvPr>
          <p:cNvPicPr>
            <a:picLocks noChangeAspect="1"/>
          </p:cNvPicPr>
          <p:nvPr/>
        </p:nvPicPr>
        <p:blipFill>
          <a:blip r:embed="rId2"/>
          <a:stretch>
            <a:fillRect/>
          </a:stretch>
        </p:blipFill>
        <p:spPr>
          <a:xfrm>
            <a:off x="4283968" y="1196752"/>
            <a:ext cx="4848902" cy="4229690"/>
          </a:xfrm>
          <a:prstGeom prst="rect">
            <a:avLst/>
          </a:prstGeom>
        </p:spPr>
      </p:pic>
      <p:pic>
        <p:nvPicPr>
          <p:cNvPr id="12" name="Picture 11">
            <a:extLst>
              <a:ext uri="{FF2B5EF4-FFF2-40B4-BE49-F238E27FC236}">
                <a16:creationId xmlns:a16="http://schemas.microsoft.com/office/drawing/2014/main" id="{609A4417-A0C9-4278-4638-FC3DE558755E}"/>
              </a:ext>
            </a:extLst>
          </p:cNvPr>
          <p:cNvPicPr>
            <a:picLocks noChangeAspect="1"/>
          </p:cNvPicPr>
          <p:nvPr/>
        </p:nvPicPr>
        <p:blipFill>
          <a:blip r:embed="rId3"/>
          <a:stretch>
            <a:fillRect/>
          </a:stretch>
        </p:blipFill>
        <p:spPr>
          <a:xfrm>
            <a:off x="4283968" y="5529908"/>
            <a:ext cx="1343212" cy="285790"/>
          </a:xfrm>
          <a:prstGeom prst="rect">
            <a:avLst/>
          </a:prstGeom>
        </p:spPr>
      </p:pic>
      <p:grpSp>
        <p:nvGrpSpPr>
          <p:cNvPr id="13" name="Group 12">
            <a:extLst>
              <a:ext uri="{FF2B5EF4-FFF2-40B4-BE49-F238E27FC236}">
                <a16:creationId xmlns:a16="http://schemas.microsoft.com/office/drawing/2014/main" id="{B7A5725D-5A57-D650-3B00-C11A5C0F4D96}"/>
              </a:ext>
            </a:extLst>
          </p:cNvPr>
          <p:cNvGrpSpPr/>
          <p:nvPr/>
        </p:nvGrpSpPr>
        <p:grpSpPr>
          <a:xfrm>
            <a:off x="457200" y="5817512"/>
            <a:ext cx="3504582" cy="576064"/>
            <a:chOff x="731766" y="3789040"/>
            <a:chExt cx="7416824" cy="1512168"/>
          </a:xfrm>
        </p:grpSpPr>
        <p:sp>
          <p:nvSpPr>
            <p:cNvPr id="14" name="Flowchart: Magnetic Disk 13">
              <a:extLst>
                <a:ext uri="{FF2B5EF4-FFF2-40B4-BE49-F238E27FC236}">
                  <a16:creationId xmlns:a16="http://schemas.microsoft.com/office/drawing/2014/main" id="{7F6F4C90-F4A2-E7F5-AFDD-E07B4F5BEE42}"/>
                </a:ext>
              </a:extLst>
            </p:cNvPr>
            <p:cNvSpPr/>
            <p:nvPr/>
          </p:nvSpPr>
          <p:spPr>
            <a:xfrm>
              <a:off x="6924454" y="3789040"/>
              <a:ext cx="1224136" cy="13681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noProof="0" dirty="0">
                  <a:latin typeface="Consolas" panose="020B0609020204030204" pitchFamily="49" charset="0"/>
                </a:rPr>
                <a:t>Reference Data</a:t>
              </a:r>
            </a:p>
          </p:txBody>
        </p:sp>
        <p:sp>
          <p:nvSpPr>
            <p:cNvPr id="15" name="Flowchart: Multidocument 14">
              <a:extLst>
                <a:ext uri="{FF2B5EF4-FFF2-40B4-BE49-F238E27FC236}">
                  <a16:creationId xmlns:a16="http://schemas.microsoft.com/office/drawing/2014/main" id="{301CE115-1E88-37E6-1040-9B9A2E6AC866}"/>
                </a:ext>
              </a:extLst>
            </p:cNvPr>
            <p:cNvSpPr/>
            <p:nvPr/>
          </p:nvSpPr>
          <p:spPr>
            <a:xfrm>
              <a:off x="731766" y="3933056"/>
              <a:ext cx="1169296" cy="129614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wrap="none" lIns="36000" tIns="0" rIns="36000" bIns="36000" rtlCol="0" anchor="ctr"/>
            <a:lstStyle/>
            <a:p>
              <a:pPr algn="ctr"/>
              <a:r>
                <a:rPr lang="en-US" sz="1050" dirty="0">
                  <a:latin typeface="Consolas" panose="020B0609020204030204" pitchFamily="49" charset="0"/>
                </a:rPr>
                <a:t>Source</a:t>
              </a:r>
            </a:p>
            <a:p>
              <a:pPr algn="ctr"/>
              <a:r>
                <a:rPr lang="en-US" sz="1050" dirty="0">
                  <a:latin typeface="Consolas" panose="020B0609020204030204" pitchFamily="49" charset="0"/>
                </a:rPr>
                <a:t>Data</a:t>
              </a:r>
            </a:p>
          </p:txBody>
        </p:sp>
        <p:sp>
          <p:nvSpPr>
            <p:cNvPr id="16" name="Arrow: Chevron 15">
              <a:extLst>
                <a:ext uri="{FF2B5EF4-FFF2-40B4-BE49-F238E27FC236}">
                  <a16:creationId xmlns:a16="http://schemas.microsoft.com/office/drawing/2014/main" id="{4A3CE382-CAF8-416A-3235-49EBA3795C8B}"/>
                </a:ext>
              </a:extLst>
            </p:cNvPr>
            <p:cNvSpPr/>
            <p:nvPr/>
          </p:nvSpPr>
          <p:spPr>
            <a:xfrm>
              <a:off x="2243934"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Read</a:t>
              </a:r>
              <a:endParaRPr lang="pt-PT" sz="1050" b="1" dirty="0">
                <a:solidFill>
                  <a:schemeClr val="tx1"/>
                </a:solidFill>
                <a:latin typeface="Consolas" panose="020B0609020204030204" pitchFamily="49" charset="0"/>
              </a:endParaRPr>
            </a:p>
          </p:txBody>
        </p:sp>
        <p:sp>
          <p:nvSpPr>
            <p:cNvPr id="17" name="Arrow: Chevron 16">
              <a:extLst>
                <a:ext uri="{FF2B5EF4-FFF2-40B4-BE49-F238E27FC236}">
                  <a16:creationId xmlns:a16="http://schemas.microsoft.com/office/drawing/2014/main" id="{0D6B3823-1322-C2D9-59B6-EE9DF4E9E16E}"/>
                </a:ext>
              </a:extLst>
            </p:cNvPr>
            <p:cNvSpPr/>
            <p:nvPr/>
          </p:nvSpPr>
          <p:spPr>
            <a:xfrm>
              <a:off x="5323111"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Store</a:t>
              </a:r>
              <a:endParaRPr lang="pt-PT" sz="1050" b="1" dirty="0">
                <a:solidFill>
                  <a:schemeClr val="tx1"/>
                </a:solidFill>
                <a:latin typeface="Consolas" panose="020B0609020204030204" pitchFamily="49" charset="0"/>
              </a:endParaRPr>
            </a:p>
          </p:txBody>
        </p:sp>
        <p:sp>
          <p:nvSpPr>
            <p:cNvPr id="18" name="Sun 17">
              <a:extLst>
                <a:ext uri="{FF2B5EF4-FFF2-40B4-BE49-F238E27FC236}">
                  <a16:creationId xmlns:a16="http://schemas.microsoft.com/office/drawing/2014/main" id="{1C22BF69-4255-66BA-0C30-3274B6460AF2}"/>
                </a:ext>
              </a:extLst>
            </p:cNvPr>
            <p:cNvSpPr/>
            <p:nvPr/>
          </p:nvSpPr>
          <p:spPr>
            <a:xfrm>
              <a:off x="3601959" y="3819114"/>
              <a:ext cx="1594303" cy="1482094"/>
            </a:xfrm>
            <a:prstGeom prst="sun">
              <a:avLst>
                <a:gd name="adj" fmla="val 19587"/>
              </a:avLst>
            </a:prstGeom>
          </p:spPr>
          <p:style>
            <a:lnRef idx="1">
              <a:schemeClr val="accent2"/>
            </a:lnRef>
            <a:fillRef idx="2">
              <a:schemeClr val="accent2"/>
            </a:fillRef>
            <a:effectRef idx="1">
              <a:schemeClr val="accent2"/>
            </a:effectRef>
            <a:fontRef idx="minor">
              <a:schemeClr val="dk1"/>
            </a:fontRef>
          </p:style>
          <p:txBody>
            <a:bodyPr wrap="none" lIns="36000" tIns="36000" rIns="36000" bIns="36000" rtlCol="0" anchor="ctr"/>
            <a:lstStyle/>
            <a:p>
              <a:pPr algn="ctr"/>
              <a:r>
                <a:rPr lang="pt-PT" sz="1050" b="1" dirty="0">
                  <a:latin typeface="Consolas" panose="020B0609020204030204" pitchFamily="49" charset="0"/>
                </a:rPr>
                <a:t>Compute</a:t>
              </a:r>
            </a:p>
          </p:txBody>
        </p:sp>
      </p:grpSp>
    </p:spTree>
    <p:extLst>
      <p:ext uri="{BB962C8B-B14F-4D97-AF65-F5344CB8AC3E}">
        <p14:creationId xmlns:p14="http://schemas.microsoft.com/office/powerpoint/2010/main" val="440044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14382-5DBB-CE19-8CE3-4AB00366B2F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ECDA9CB-AFDE-54C8-9052-9C11E1B419CA}"/>
              </a:ext>
            </a:extLst>
          </p:cNvPr>
          <p:cNvSpPr>
            <a:spLocks noGrp="1"/>
          </p:cNvSpPr>
          <p:nvPr>
            <p:ph type="title"/>
          </p:nvPr>
        </p:nvSpPr>
        <p:spPr/>
        <p:txBody>
          <a:bodyPr/>
          <a:lstStyle/>
          <a:p>
            <a:r>
              <a:rPr lang="pt-PT" dirty="0" err="1"/>
              <a:t>MovieLens</a:t>
            </a:r>
            <a:r>
              <a:rPr lang="pt-PT" dirty="0"/>
              <a:t>: </a:t>
            </a:r>
            <a:r>
              <a:rPr lang="pt-PT" dirty="0" err="1"/>
              <a:t>ReBatch</a:t>
            </a:r>
            <a:endParaRPr lang="pt-PT" dirty="0"/>
          </a:p>
        </p:txBody>
      </p:sp>
      <p:sp>
        <p:nvSpPr>
          <p:cNvPr id="3" name="Footer Placeholder 2">
            <a:extLst>
              <a:ext uri="{FF2B5EF4-FFF2-40B4-BE49-F238E27FC236}">
                <a16:creationId xmlns:a16="http://schemas.microsoft.com/office/drawing/2014/main" id="{F4633FA8-8E8C-ABAB-8E28-5ADABE0CA853}"/>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EE3BB6D2-FD1F-6038-BB4B-075E7435FA86}"/>
              </a:ext>
            </a:extLst>
          </p:cNvPr>
          <p:cNvSpPr>
            <a:spLocks noGrp="1"/>
          </p:cNvSpPr>
          <p:nvPr>
            <p:ph type="sldNum" sz="quarter" idx="12"/>
          </p:nvPr>
        </p:nvSpPr>
        <p:spPr/>
        <p:txBody>
          <a:bodyPr/>
          <a:lstStyle/>
          <a:p>
            <a:fld id="{51C52B0B-E753-43CA-AAC2-5F5B7738FA84}" type="slidenum">
              <a:rPr lang="pt-PT" smtClean="0"/>
              <a:pPr/>
              <a:t>10</a:t>
            </a:fld>
            <a:endParaRPr lang="pt-PT"/>
          </a:p>
        </p:txBody>
      </p:sp>
      <p:sp>
        <p:nvSpPr>
          <p:cNvPr id="5" name="Content Placeholder 4">
            <a:extLst>
              <a:ext uri="{FF2B5EF4-FFF2-40B4-BE49-F238E27FC236}">
                <a16:creationId xmlns:a16="http://schemas.microsoft.com/office/drawing/2014/main" id="{0ADEA5CF-1790-D3EE-34C1-59C666C3DF8D}"/>
              </a:ext>
            </a:extLst>
          </p:cNvPr>
          <p:cNvSpPr>
            <a:spLocks noGrp="1"/>
          </p:cNvSpPr>
          <p:nvPr>
            <p:ph sz="quarter" idx="1"/>
          </p:nvPr>
        </p:nvSpPr>
        <p:spPr/>
        <p:txBody>
          <a:bodyPr>
            <a:normAutofit lnSpcReduction="10000"/>
          </a:bodyPr>
          <a:lstStyle/>
          <a:p>
            <a:r>
              <a:rPr lang="pt-PT" dirty="0" err="1">
                <a:latin typeface="Consolas" panose="020B0609020204030204" pitchFamily="49" charset="0"/>
              </a:rPr>
              <a:t>Spark</a:t>
            </a:r>
            <a:r>
              <a:rPr lang="pt-PT" dirty="0">
                <a:latin typeface="Consolas" panose="020B0609020204030204" pitchFamily="49" charset="0"/>
              </a:rPr>
              <a:t>...</a:t>
            </a:r>
            <a:r>
              <a:rPr lang="pt-PT" dirty="0" err="1">
                <a:latin typeface="Consolas" panose="020B0609020204030204" pitchFamily="49" charset="0"/>
              </a:rPr>
              <a:t>getOrCreate</a:t>
            </a:r>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ComputeAndStore</a:t>
            </a:r>
            <a:endParaRPr lang="pt-PT" dirty="0">
              <a:latin typeface="Consolas" panose="020B0609020204030204" pitchFamily="49" charset="0"/>
            </a:endParaRPr>
          </a:p>
          <a:p>
            <a:pPr marL="0" indent="0">
              <a:buNone/>
            </a:pPr>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spark.stop</a:t>
            </a:r>
            <a:r>
              <a:rPr lang="pt-PT" dirty="0">
                <a:latin typeface="Consolas" panose="020B0609020204030204" pitchFamily="49" charset="0"/>
              </a:rPr>
              <a:t>()</a:t>
            </a:r>
          </a:p>
        </p:txBody>
      </p:sp>
      <p:pic>
        <p:nvPicPr>
          <p:cNvPr id="12" name="Picture 11">
            <a:extLst>
              <a:ext uri="{FF2B5EF4-FFF2-40B4-BE49-F238E27FC236}">
                <a16:creationId xmlns:a16="http://schemas.microsoft.com/office/drawing/2014/main" id="{75E2307F-90A1-1FE8-0D9A-ACF41B483207}"/>
              </a:ext>
            </a:extLst>
          </p:cNvPr>
          <p:cNvPicPr>
            <a:picLocks noChangeAspect="1"/>
          </p:cNvPicPr>
          <p:nvPr/>
        </p:nvPicPr>
        <p:blipFill>
          <a:blip r:embed="rId2"/>
          <a:stretch>
            <a:fillRect/>
          </a:stretch>
        </p:blipFill>
        <p:spPr>
          <a:xfrm>
            <a:off x="4283968" y="5529908"/>
            <a:ext cx="1343212" cy="285790"/>
          </a:xfrm>
          <a:prstGeom prst="rect">
            <a:avLst/>
          </a:prstGeom>
        </p:spPr>
      </p:pic>
      <p:pic>
        <p:nvPicPr>
          <p:cNvPr id="7" name="Picture 6">
            <a:extLst>
              <a:ext uri="{FF2B5EF4-FFF2-40B4-BE49-F238E27FC236}">
                <a16:creationId xmlns:a16="http://schemas.microsoft.com/office/drawing/2014/main" id="{828AE6B8-8448-8A31-2463-46A1F30C7AD8}"/>
              </a:ext>
            </a:extLst>
          </p:cNvPr>
          <p:cNvPicPr>
            <a:picLocks noChangeAspect="1"/>
          </p:cNvPicPr>
          <p:nvPr/>
        </p:nvPicPr>
        <p:blipFill>
          <a:blip r:embed="rId3"/>
          <a:stretch>
            <a:fillRect/>
          </a:stretch>
        </p:blipFill>
        <p:spPr>
          <a:xfrm>
            <a:off x="3495374" y="1103114"/>
            <a:ext cx="5738726" cy="5575429"/>
          </a:xfrm>
          <a:prstGeom prst="rect">
            <a:avLst/>
          </a:prstGeom>
        </p:spPr>
      </p:pic>
    </p:spTree>
    <p:extLst>
      <p:ext uri="{BB962C8B-B14F-4D97-AF65-F5344CB8AC3E}">
        <p14:creationId xmlns:p14="http://schemas.microsoft.com/office/powerpoint/2010/main" val="625823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8E5F-9440-AC43-D515-ED28239F490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018ABC7-E2B3-CAE6-3709-69B32D9ECA26}"/>
              </a:ext>
            </a:extLst>
          </p:cNvPr>
          <p:cNvSpPr>
            <a:spLocks noGrp="1"/>
          </p:cNvSpPr>
          <p:nvPr>
            <p:ph type="title"/>
          </p:nvPr>
        </p:nvSpPr>
        <p:spPr/>
        <p:txBody>
          <a:bodyPr/>
          <a:lstStyle/>
          <a:p>
            <a:r>
              <a:rPr lang="pt-PT" dirty="0" err="1"/>
              <a:t>MovieLens</a:t>
            </a:r>
            <a:r>
              <a:rPr lang="pt-PT" dirty="0"/>
              <a:t>: </a:t>
            </a:r>
            <a:r>
              <a:rPr lang="pt-PT" dirty="0" err="1"/>
              <a:t>ReBatch</a:t>
            </a:r>
            <a:endParaRPr lang="pt-PT" dirty="0"/>
          </a:p>
        </p:txBody>
      </p:sp>
      <p:sp>
        <p:nvSpPr>
          <p:cNvPr id="3" name="Footer Placeholder 2">
            <a:extLst>
              <a:ext uri="{FF2B5EF4-FFF2-40B4-BE49-F238E27FC236}">
                <a16:creationId xmlns:a16="http://schemas.microsoft.com/office/drawing/2014/main" id="{A35E3858-C5B6-17AE-BC6C-DC6F6E0D8CE2}"/>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41F01EE1-9954-0515-4C36-A119F4ABC836}"/>
              </a:ext>
            </a:extLst>
          </p:cNvPr>
          <p:cNvSpPr>
            <a:spLocks noGrp="1"/>
          </p:cNvSpPr>
          <p:nvPr>
            <p:ph type="sldNum" sz="quarter" idx="12"/>
          </p:nvPr>
        </p:nvSpPr>
        <p:spPr/>
        <p:txBody>
          <a:bodyPr/>
          <a:lstStyle/>
          <a:p>
            <a:fld id="{51C52B0B-E753-43CA-AAC2-5F5B7738FA84}" type="slidenum">
              <a:rPr lang="pt-PT" smtClean="0"/>
              <a:pPr/>
              <a:t>11</a:t>
            </a:fld>
            <a:endParaRPr lang="pt-PT"/>
          </a:p>
        </p:txBody>
      </p:sp>
      <p:sp>
        <p:nvSpPr>
          <p:cNvPr id="5" name="Content Placeholder 4">
            <a:extLst>
              <a:ext uri="{FF2B5EF4-FFF2-40B4-BE49-F238E27FC236}">
                <a16:creationId xmlns:a16="http://schemas.microsoft.com/office/drawing/2014/main" id="{07A5DB92-A16E-E538-BD94-0F291093D5BB}"/>
              </a:ext>
            </a:extLst>
          </p:cNvPr>
          <p:cNvSpPr>
            <a:spLocks noGrp="1"/>
          </p:cNvSpPr>
          <p:nvPr>
            <p:ph sz="quarter" idx="1"/>
          </p:nvPr>
        </p:nvSpPr>
        <p:spPr/>
        <p:txBody>
          <a:bodyPr>
            <a:normAutofit/>
          </a:bodyPr>
          <a:lstStyle/>
          <a:p>
            <a:r>
              <a:rPr lang="pt-PT" dirty="0" err="1">
                <a:latin typeface="Consolas" panose="020B0609020204030204" pitchFamily="49" charset="0"/>
              </a:rPr>
              <a:t>Load</a:t>
            </a:r>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ComputeAndStore</a:t>
            </a:r>
            <a:endParaRPr lang="pt-PT" dirty="0">
              <a:latin typeface="Consolas" panose="020B0609020204030204" pitchFamily="49" charset="0"/>
            </a:endParaRPr>
          </a:p>
          <a:p>
            <a:pPr marL="0" indent="0">
              <a:buNone/>
            </a:pPr>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endParaRPr lang="pt-PT" dirty="0">
              <a:latin typeface="Consolas" panose="020B0609020204030204" pitchFamily="49" charset="0"/>
            </a:endParaRPr>
          </a:p>
          <a:p>
            <a:pPr marL="0" indent="0">
              <a:buNone/>
            </a:pPr>
            <a:endParaRPr lang="pt-PT" dirty="0">
              <a:latin typeface="Consolas" panose="020B0609020204030204" pitchFamily="49" charset="0"/>
            </a:endParaRPr>
          </a:p>
          <a:p>
            <a:r>
              <a:rPr lang="pt-PT" dirty="0" err="1">
                <a:latin typeface="Consolas" panose="020B0609020204030204" pitchFamily="49" charset="0"/>
              </a:rPr>
              <a:t>processBatch</a:t>
            </a:r>
            <a:endParaRPr lang="pt-PT" dirty="0">
              <a:latin typeface="Consolas" panose="020B0609020204030204" pitchFamily="49" charset="0"/>
            </a:endParaRPr>
          </a:p>
        </p:txBody>
      </p:sp>
      <p:pic>
        <p:nvPicPr>
          <p:cNvPr id="12" name="Picture 11">
            <a:extLst>
              <a:ext uri="{FF2B5EF4-FFF2-40B4-BE49-F238E27FC236}">
                <a16:creationId xmlns:a16="http://schemas.microsoft.com/office/drawing/2014/main" id="{3ED6FA5D-ACDC-580F-7D03-9004FAB5D7F4}"/>
              </a:ext>
            </a:extLst>
          </p:cNvPr>
          <p:cNvPicPr>
            <a:picLocks noChangeAspect="1"/>
          </p:cNvPicPr>
          <p:nvPr/>
        </p:nvPicPr>
        <p:blipFill>
          <a:blip r:embed="rId2"/>
          <a:stretch>
            <a:fillRect/>
          </a:stretch>
        </p:blipFill>
        <p:spPr>
          <a:xfrm>
            <a:off x="4283968" y="5529908"/>
            <a:ext cx="1343212" cy="285790"/>
          </a:xfrm>
          <a:prstGeom prst="rect">
            <a:avLst/>
          </a:prstGeom>
        </p:spPr>
      </p:pic>
      <p:pic>
        <p:nvPicPr>
          <p:cNvPr id="7" name="Picture 6">
            <a:extLst>
              <a:ext uri="{FF2B5EF4-FFF2-40B4-BE49-F238E27FC236}">
                <a16:creationId xmlns:a16="http://schemas.microsoft.com/office/drawing/2014/main" id="{8B98064F-757D-BD5E-00D1-E9016AF2F6A8}"/>
              </a:ext>
            </a:extLst>
          </p:cNvPr>
          <p:cNvPicPr>
            <a:picLocks noChangeAspect="1"/>
          </p:cNvPicPr>
          <p:nvPr/>
        </p:nvPicPr>
        <p:blipFill>
          <a:blip r:embed="rId3"/>
          <a:stretch>
            <a:fillRect/>
          </a:stretch>
        </p:blipFill>
        <p:spPr>
          <a:xfrm>
            <a:off x="3580624" y="998658"/>
            <a:ext cx="5563376" cy="5401429"/>
          </a:xfrm>
          <a:prstGeom prst="rect">
            <a:avLst/>
          </a:prstGeom>
        </p:spPr>
      </p:pic>
      <p:grpSp>
        <p:nvGrpSpPr>
          <p:cNvPr id="8" name="Group 7">
            <a:extLst>
              <a:ext uri="{FF2B5EF4-FFF2-40B4-BE49-F238E27FC236}">
                <a16:creationId xmlns:a16="http://schemas.microsoft.com/office/drawing/2014/main" id="{F4D88666-C8F4-FD61-97D3-1733D95B177B}"/>
              </a:ext>
            </a:extLst>
          </p:cNvPr>
          <p:cNvGrpSpPr/>
          <p:nvPr/>
        </p:nvGrpSpPr>
        <p:grpSpPr>
          <a:xfrm>
            <a:off x="457200" y="5817511"/>
            <a:ext cx="3123424" cy="582575"/>
            <a:chOff x="731766" y="3789040"/>
            <a:chExt cx="7416824" cy="1512168"/>
          </a:xfrm>
        </p:grpSpPr>
        <p:sp>
          <p:nvSpPr>
            <p:cNvPr id="9" name="Flowchart: Magnetic Disk 8">
              <a:extLst>
                <a:ext uri="{FF2B5EF4-FFF2-40B4-BE49-F238E27FC236}">
                  <a16:creationId xmlns:a16="http://schemas.microsoft.com/office/drawing/2014/main" id="{CE01B7EE-D13A-AB8F-0077-382B74923C86}"/>
                </a:ext>
              </a:extLst>
            </p:cNvPr>
            <p:cNvSpPr/>
            <p:nvPr/>
          </p:nvSpPr>
          <p:spPr>
            <a:xfrm>
              <a:off x="6924454" y="3789040"/>
              <a:ext cx="1224136" cy="13681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noProof="0" dirty="0">
                  <a:latin typeface="Consolas" panose="020B0609020204030204" pitchFamily="49" charset="0"/>
                </a:rPr>
                <a:t>Reference Data</a:t>
              </a:r>
            </a:p>
          </p:txBody>
        </p:sp>
        <p:sp>
          <p:nvSpPr>
            <p:cNvPr id="11" name="Flowchart: Multidocument 10">
              <a:extLst>
                <a:ext uri="{FF2B5EF4-FFF2-40B4-BE49-F238E27FC236}">
                  <a16:creationId xmlns:a16="http://schemas.microsoft.com/office/drawing/2014/main" id="{46B6B65A-D084-59A7-D6A7-D586D4028A90}"/>
                </a:ext>
              </a:extLst>
            </p:cNvPr>
            <p:cNvSpPr/>
            <p:nvPr/>
          </p:nvSpPr>
          <p:spPr>
            <a:xfrm>
              <a:off x="731766" y="3933056"/>
              <a:ext cx="1169296" cy="129614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wrap="none" lIns="36000" tIns="0" rIns="36000" bIns="36000" rtlCol="0" anchor="ctr"/>
            <a:lstStyle/>
            <a:p>
              <a:pPr algn="ctr"/>
              <a:r>
                <a:rPr lang="en-US" sz="1050" dirty="0">
                  <a:latin typeface="Consolas" panose="020B0609020204030204" pitchFamily="49" charset="0"/>
                </a:rPr>
                <a:t>Source</a:t>
              </a:r>
            </a:p>
            <a:p>
              <a:pPr algn="ctr"/>
              <a:r>
                <a:rPr lang="en-US" sz="1050" dirty="0">
                  <a:latin typeface="Consolas" panose="020B0609020204030204" pitchFamily="49" charset="0"/>
                </a:rPr>
                <a:t>Data</a:t>
              </a:r>
            </a:p>
          </p:txBody>
        </p:sp>
        <p:sp>
          <p:nvSpPr>
            <p:cNvPr id="13" name="Arrow: Chevron 12">
              <a:extLst>
                <a:ext uri="{FF2B5EF4-FFF2-40B4-BE49-F238E27FC236}">
                  <a16:creationId xmlns:a16="http://schemas.microsoft.com/office/drawing/2014/main" id="{44C86AD8-3C1B-93FA-12B0-AC38E8A35A1F}"/>
                </a:ext>
              </a:extLst>
            </p:cNvPr>
            <p:cNvSpPr/>
            <p:nvPr/>
          </p:nvSpPr>
          <p:spPr>
            <a:xfrm>
              <a:off x="2243934"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Read</a:t>
              </a:r>
              <a:endParaRPr lang="pt-PT" sz="1050" b="1" dirty="0">
                <a:solidFill>
                  <a:schemeClr val="tx1"/>
                </a:solidFill>
                <a:latin typeface="Consolas" panose="020B0609020204030204" pitchFamily="49" charset="0"/>
              </a:endParaRPr>
            </a:p>
          </p:txBody>
        </p:sp>
        <p:sp>
          <p:nvSpPr>
            <p:cNvPr id="14" name="Arrow: Chevron 13">
              <a:extLst>
                <a:ext uri="{FF2B5EF4-FFF2-40B4-BE49-F238E27FC236}">
                  <a16:creationId xmlns:a16="http://schemas.microsoft.com/office/drawing/2014/main" id="{BF2D7A54-330F-523D-91B1-D6985D1A15A3}"/>
                </a:ext>
              </a:extLst>
            </p:cNvPr>
            <p:cNvSpPr/>
            <p:nvPr/>
          </p:nvSpPr>
          <p:spPr>
            <a:xfrm>
              <a:off x="5323111"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Store</a:t>
              </a:r>
              <a:endParaRPr lang="pt-PT" sz="1050" b="1" dirty="0">
                <a:solidFill>
                  <a:schemeClr val="tx1"/>
                </a:solidFill>
                <a:latin typeface="Consolas" panose="020B0609020204030204" pitchFamily="49" charset="0"/>
              </a:endParaRPr>
            </a:p>
          </p:txBody>
        </p:sp>
        <p:sp>
          <p:nvSpPr>
            <p:cNvPr id="15" name="Sun 14">
              <a:extLst>
                <a:ext uri="{FF2B5EF4-FFF2-40B4-BE49-F238E27FC236}">
                  <a16:creationId xmlns:a16="http://schemas.microsoft.com/office/drawing/2014/main" id="{199A6C60-192A-9636-67B2-B634AC67545F}"/>
                </a:ext>
              </a:extLst>
            </p:cNvPr>
            <p:cNvSpPr/>
            <p:nvPr/>
          </p:nvSpPr>
          <p:spPr>
            <a:xfrm>
              <a:off x="3601959" y="3819114"/>
              <a:ext cx="1594303" cy="1482094"/>
            </a:xfrm>
            <a:prstGeom prst="sun">
              <a:avLst>
                <a:gd name="adj" fmla="val 19587"/>
              </a:avLst>
            </a:prstGeom>
          </p:spPr>
          <p:style>
            <a:lnRef idx="1">
              <a:schemeClr val="accent2"/>
            </a:lnRef>
            <a:fillRef idx="2">
              <a:schemeClr val="accent2"/>
            </a:fillRef>
            <a:effectRef idx="1">
              <a:schemeClr val="accent2"/>
            </a:effectRef>
            <a:fontRef idx="minor">
              <a:schemeClr val="dk1"/>
            </a:fontRef>
          </p:style>
          <p:txBody>
            <a:bodyPr wrap="none" lIns="36000" tIns="36000" rIns="36000" bIns="36000" rtlCol="0" anchor="ctr"/>
            <a:lstStyle/>
            <a:p>
              <a:pPr algn="ctr"/>
              <a:r>
                <a:rPr lang="pt-PT" sz="1050" b="1" dirty="0">
                  <a:latin typeface="Consolas" panose="020B0609020204030204" pitchFamily="49" charset="0"/>
                </a:rPr>
                <a:t>Compute</a:t>
              </a:r>
            </a:p>
          </p:txBody>
        </p:sp>
      </p:grpSp>
    </p:spTree>
    <p:extLst>
      <p:ext uri="{BB962C8B-B14F-4D97-AF65-F5344CB8AC3E}">
        <p14:creationId xmlns:p14="http://schemas.microsoft.com/office/powerpoint/2010/main" val="1550177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F857-3E09-86FD-C2EB-B831A2B13C5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5FF385F-117F-F8BA-28AD-006FB5DA35FE}"/>
              </a:ext>
            </a:extLst>
          </p:cNvPr>
          <p:cNvSpPr>
            <a:spLocks noGrp="1"/>
          </p:cNvSpPr>
          <p:nvPr>
            <p:ph type="title"/>
          </p:nvPr>
        </p:nvSpPr>
        <p:spPr/>
        <p:txBody>
          <a:bodyPr/>
          <a:lstStyle/>
          <a:p>
            <a:r>
              <a:rPr lang="pt-PT" dirty="0" err="1"/>
              <a:t>MovieLens</a:t>
            </a:r>
            <a:r>
              <a:rPr lang="pt-PT" dirty="0"/>
              <a:t>: </a:t>
            </a:r>
            <a:r>
              <a:rPr lang="pt-PT" dirty="0" err="1"/>
              <a:t>Makefile</a:t>
            </a:r>
            <a:endParaRPr lang="pt-PT" dirty="0"/>
          </a:p>
        </p:txBody>
      </p:sp>
      <p:sp>
        <p:nvSpPr>
          <p:cNvPr id="3" name="Footer Placeholder 2">
            <a:extLst>
              <a:ext uri="{FF2B5EF4-FFF2-40B4-BE49-F238E27FC236}">
                <a16:creationId xmlns:a16="http://schemas.microsoft.com/office/drawing/2014/main" id="{BC62CFB5-53E6-6FB4-1C2E-E23B6A1A5310}"/>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EE954BA1-2F37-CEAA-6768-BAD4E71C9729}"/>
              </a:ext>
            </a:extLst>
          </p:cNvPr>
          <p:cNvSpPr>
            <a:spLocks noGrp="1"/>
          </p:cNvSpPr>
          <p:nvPr>
            <p:ph type="sldNum" sz="quarter" idx="12"/>
          </p:nvPr>
        </p:nvSpPr>
        <p:spPr/>
        <p:txBody>
          <a:bodyPr/>
          <a:lstStyle/>
          <a:p>
            <a:fld id="{51C52B0B-E753-43CA-AAC2-5F5B7738FA84}" type="slidenum">
              <a:rPr lang="pt-PT" smtClean="0"/>
              <a:pPr/>
              <a:t>12</a:t>
            </a:fld>
            <a:endParaRPr lang="pt-PT"/>
          </a:p>
        </p:txBody>
      </p:sp>
      <p:sp>
        <p:nvSpPr>
          <p:cNvPr id="9" name="Content Placeholder 8">
            <a:extLst>
              <a:ext uri="{FF2B5EF4-FFF2-40B4-BE49-F238E27FC236}">
                <a16:creationId xmlns:a16="http://schemas.microsoft.com/office/drawing/2014/main" id="{404EA6E1-E219-2651-67B8-FBF23A00060F}"/>
              </a:ext>
            </a:extLst>
          </p:cNvPr>
          <p:cNvSpPr>
            <a:spLocks noGrp="1"/>
          </p:cNvSpPr>
          <p:nvPr>
            <p:ph sz="quarter" idx="1"/>
          </p:nvPr>
        </p:nvSpPr>
        <p:spPr>
          <a:xfrm>
            <a:off x="457200" y="1219200"/>
            <a:ext cx="8579296" cy="4946104"/>
          </a:xfrm>
        </p:spPr>
        <p:txBody>
          <a:bodyPr>
            <a:normAutofit/>
          </a:bodyPr>
          <a:lstStyle/>
          <a:p>
            <a:pPr marL="0" indent="0">
              <a:buNone/>
            </a:pPr>
            <a:r>
              <a:rPr lang="en-US" sz="1600" b="1" dirty="0" err="1">
                <a:latin typeface="Consolas" panose="020B0609020204030204" pitchFamily="49" charset="0"/>
              </a:rPr>
              <a:t>hdfs</a:t>
            </a:r>
            <a:r>
              <a:rPr lang="en-US" sz="1600" b="1" dirty="0">
                <a:latin typeface="Consolas" panose="020B0609020204030204" pitchFamily="49" charset="0"/>
              </a:rPr>
              <a:t>-create-folders</a:t>
            </a:r>
            <a:r>
              <a:rPr lang="en-US" sz="1600" dirty="0">
                <a:latin typeface="Consolas" panose="020B0609020204030204" pitchFamily="49" charset="0"/>
              </a:rPr>
              <a:t>:    Create HDFS folders</a:t>
            </a:r>
          </a:p>
          <a:p>
            <a:pPr marL="0" indent="0">
              <a:buNone/>
            </a:pPr>
            <a:r>
              <a:rPr lang="en-US" sz="1600" b="1" dirty="0" err="1">
                <a:latin typeface="Consolas" panose="020B0609020204030204" pitchFamily="49" charset="0"/>
              </a:rPr>
              <a:t>sql</a:t>
            </a:r>
            <a:r>
              <a:rPr lang="en-US" sz="1600" b="1" dirty="0">
                <a:latin typeface="Consolas" panose="020B0609020204030204" pitchFamily="49" charset="0"/>
              </a:rPr>
              <a:t>-drop-tables</a:t>
            </a:r>
            <a:r>
              <a:rPr lang="en-US" sz="1600" dirty="0">
                <a:latin typeface="Consolas" panose="020B0609020204030204" pitchFamily="49" charset="0"/>
              </a:rPr>
              <a:t>:        Drop Hive Tables</a:t>
            </a:r>
          </a:p>
          <a:p>
            <a:pPr marL="0" indent="0">
              <a:buNone/>
            </a:pPr>
            <a:r>
              <a:rPr lang="en-US" sz="1600" b="1" dirty="0" err="1">
                <a:latin typeface="Consolas" panose="020B0609020204030204" pitchFamily="49" charset="0"/>
              </a:rPr>
              <a:t>sql</a:t>
            </a:r>
            <a:r>
              <a:rPr lang="en-US" sz="1600" b="1" dirty="0">
                <a:latin typeface="Consolas" panose="020B0609020204030204" pitchFamily="49" charset="0"/>
              </a:rPr>
              <a:t>-create-tables</a:t>
            </a:r>
            <a:r>
              <a:rPr lang="en-US" sz="1600" dirty="0">
                <a:latin typeface="Consolas" panose="020B0609020204030204" pitchFamily="49" charset="0"/>
              </a:rPr>
              <a:t>:      Drop and Create Hive Tables</a:t>
            </a:r>
          </a:p>
          <a:p>
            <a:pPr marL="0" indent="0">
              <a:buNone/>
            </a:pPr>
            <a:r>
              <a:rPr lang="en-US" sz="1600" b="1" dirty="0" err="1">
                <a:latin typeface="Consolas" panose="020B0609020204030204" pitchFamily="49" charset="0"/>
              </a:rPr>
              <a:t>sql</a:t>
            </a:r>
            <a:r>
              <a:rPr lang="en-US" sz="1600" b="1" dirty="0">
                <a:latin typeface="Consolas" panose="020B0609020204030204" pitchFamily="49" charset="0"/>
              </a:rPr>
              <a:t>-load-tables</a:t>
            </a:r>
            <a:r>
              <a:rPr lang="en-US" sz="1600" dirty="0">
                <a:latin typeface="Consolas" panose="020B0609020204030204" pitchFamily="49" charset="0"/>
              </a:rPr>
              <a:t>:        Drop, Create and Load Hive Tables</a:t>
            </a:r>
          </a:p>
          <a:p>
            <a:pPr marL="0" indent="0">
              <a:buNone/>
            </a:pPr>
            <a:endParaRPr lang="en-US" sz="1600" b="1" dirty="0">
              <a:latin typeface="Consolas" panose="020B0609020204030204" pitchFamily="49" charset="0"/>
            </a:endParaRPr>
          </a:p>
          <a:p>
            <a:pPr marL="0" indent="0">
              <a:buNone/>
            </a:pPr>
            <a:r>
              <a:rPr lang="en-US" sz="1600" b="1" dirty="0">
                <a:latin typeface="Consolas" panose="020B0609020204030204" pitchFamily="49" charset="0"/>
              </a:rPr>
              <a:t>batch</a:t>
            </a:r>
            <a:r>
              <a:rPr lang="en-US" sz="1600" dirty="0">
                <a:latin typeface="Consolas" panose="020B0609020204030204" pitchFamily="49" charset="0"/>
              </a:rPr>
              <a:t>:                  Spark Submit batch Processing</a:t>
            </a:r>
          </a:p>
          <a:p>
            <a:pPr marL="0" indent="0">
              <a:buNone/>
            </a:pPr>
            <a:r>
              <a:rPr lang="en-US" sz="1600" b="1" dirty="0" err="1">
                <a:latin typeface="Consolas" panose="020B0609020204030204" pitchFamily="49" charset="0"/>
              </a:rPr>
              <a:t>rebatch</a:t>
            </a:r>
            <a:r>
              <a:rPr lang="en-US" sz="1600" dirty="0">
                <a:latin typeface="Consolas" panose="020B0609020204030204" pitchFamily="49" charset="0"/>
              </a:rPr>
              <a:t>:                Spark Submit Re-batch Processing</a:t>
            </a:r>
          </a:p>
          <a:p>
            <a:pPr marL="0" indent="0">
              <a:buNone/>
            </a:pPr>
            <a:r>
              <a:rPr lang="en-US" sz="1600" b="1" dirty="0">
                <a:latin typeface="Consolas" panose="020B0609020204030204" pitchFamily="49" charset="0"/>
              </a:rPr>
              <a:t>stream</a:t>
            </a:r>
            <a:r>
              <a:rPr lang="en-US" sz="1600" dirty="0">
                <a:latin typeface="Consolas" panose="020B0609020204030204" pitchFamily="49" charset="0"/>
              </a:rPr>
              <a:t>:                 Spark Submit Stream Processing</a:t>
            </a:r>
          </a:p>
          <a:p>
            <a:pPr marL="0" indent="0">
              <a:buNone/>
            </a:pPr>
            <a:endParaRPr lang="en-US" sz="1600" b="1" dirty="0">
              <a:latin typeface="Consolas" panose="020B0609020204030204" pitchFamily="49" charset="0"/>
            </a:endParaRPr>
          </a:p>
          <a:p>
            <a:pPr marL="0" indent="0">
              <a:buNone/>
            </a:pPr>
            <a:r>
              <a:rPr lang="en-US" sz="1600" b="1" dirty="0" err="1">
                <a:latin typeface="Consolas" panose="020B0609020204030204" pitchFamily="49" charset="0"/>
              </a:rPr>
              <a:t>kafka</a:t>
            </a:r>
            <a:r>
              <a:rPr lang="en-US" sz="1600" b="1" dirty="0">
                <a:latin typeface="Consolas" panose="020B0609020204030204" pitchFamily="49" charset="0"/>
              </a:rPr>
              <a:t>-out</a:t>
            </a:r>
            <a:r>
              <a:rPr lang="en-US" sz="1600" dirty="0">
                <a:latin typeface="Consolas" panose="020B0609020204030204" pitchFamily="49" charset="0"/>
              </a:rPr>
              <a:t>:              Display content of </a:t>
            </a:r>
            <a:r>
              <a:rPr lang="en-US" sz="1600" dirty="0" err="1">
                <a:latin typeface="Consolas" panose="020B0609020204030204" pitchFamily="49" charset="0"/>
              </a:rPr>
              <a:t>kafka</a:t>
            </a:r>
            <a:r>
              <a:rPr lang="en-US" sz="1600" dirty="0">
                <a:latin typeface="Consolas" panose="020B0609020204030204" pitchFamily="49" charset="0"/>
              </a:rPr>
              <a:t> Topic g00out</a:t>
            </a:r>
          </a:p>
          <a:p>
            <a:pPr marL="0" indent="0">
              <a:buNone/>
            </a:pPr>
            <a:r>
              <a:rPr lang="en-US" sz="1600" b="1" dirty="0" err="1">
                <a:latin typeface="Consolas" panose="020B0609020204030204" pitchFamily="49" charset="0"/>
              </a:rPr>
              <a:t>kafka</a:t>
            </a:r>
            <a:r>
              <a:rPr lang="en-US" sz="1600" b="1" dirty="0">
                <a:latin typeface="Consolas" panose="020B0609020204030204" pitchFamily="49" charset="0"/>
              </a:rPr>
              <a:t>-produce</a:t>
            </a:r>
            <a:r>
              <a:rPr lang="en-US" sz="1600" dirty="0">
                <a:latin typeface="Consolas" panose="020B0609020204030204" pitchFamily="49" charset="0"/>
              </a:rPr>
              <a:t>:          Generate Fake Data to Kafka Topic g00in</a:t>
            </a:r>
          </a:p>
          <a:p>
            <a:pPr marL="0" indent="0">
              <a:buNone/>
            </a:pPr>
            <a:r>
              <a:rPr lang="en-US" sz="1600" b="1" dirty="0">
                <a:latin typeface="Consolas" panose="020B0609020204030204" pitchFamily="49" charset="0"/>
              </a:rPr>
              <a:t>file-put</a:t>
            </a:r>
            <a:r>
              <a:rPr lang="en-US" sz="1600" dirty="0">
                <a:latin typeface="Consolas" panose="020B0609020204030204" pitchFamily="49" charset="0"/>
              </a:rPr>
              <a:t>:               Generate file with Fake Data and put file to HDFS</a:t>
            </a:r>
          </a:p>
          <a:p>
            <a:pPr marL="0" indent="0">
              <a:buNone/>
            </a:pPr>
            <a:endParaRPr lang="en-US" sz="1600" noProof="0" dirty="0">
              <a:latin typeface="Consolas" panose="020B0609020204030204" pitchFamily="49" charset="0"/>
            </a:endParaRPr>
          </a:p>
          <a:p>
            <a:pPr marL="0" indent="0">
              <a:buNone/>
            </a:pPr>
            <a:r>
              <a:rPr lang="en-US" sz="1600" b="1" dirty="0">
                <a:latin typeface="Consolas" panose="020B0609020204030204" pitchFamily="49" charset="0"/>
              </a:rPr>
              <a:t>ipynb2py</a:t>
            </a:r>
            <a:r>
              <a:rPr lang="en-US" sz="1600" dirty="0">
                <a:latin typeface="Consolas" panose="020B0609020204030204" pitchFamily="49" charset="0"/>
              </a:rPr>
              <a:t>:               Convert .</a:t>
            </a:r>
            <a:r>
              <a:rPr lang="en-US" sz="1600" dirty="0" err="1">
                <a:latin typeface="Consolas" panose="020B0609020204030204" pitchFamily="49" charset="0"/>
              </a:rPr>
              <a:t>ipynb</a:t>
            </a:r>
            <a:r>
              <a:rPr lang="en-US" sz="1600" dirty="0">
                <a:latin typeface="Consolas" panose="020B0609020204030204" pitchFamily="49" charset="0"/>
              </a:rPr>
              <a:t> files to .</a:t>
            </a:r>
            <a:r>
              <a:rPr lang="en-US" sz="1600" dirty="0" err="1">
                <a:latin typeface="Consolas" panose="020B0609020204030204" pitchFamily="49" charset="0"/>
              </a:rPr>
              <a:t>py</a:t>
            </a:r>
            <a:r>
              <a:rPr lang="en-US" sz="1600" dirty="0">
                <a:latin typeface="Consolas" panose="020B0609020204030204" pitchFamily="49" charset="0"/>
              </a:rPr>
              <a:t> files</a:t>
            </a:r>
          </a:p>
        </p:txBody>
      </p:sp>
      <p:grpSp>
        <p:nvGrpSpPr>
          <p:cNvPr id="5" name="Group 4">
            <a:extLst>
              <a:ext uri="{FF2B5EF4-FFF2-40B4-BE49-F238E27FC236}">
                <a16:creationId xmlns:a16="http://schemas.microsoft.com/office/drawing/2014/main" id="{31227EE9-7AB6-3658-5123-B43F359AA938}"/>
              </a:ext>
            </a:extLst>
          </p:cNvPr>
          <p:cNvGrpSpPr/>
          <p:nvPr/>
        </p:nvGrpSpPr>
        <p:grpSpPr>
          <a:xfrm>
            <a:off x="457200" y="5817512"/>
            <a:ext cx="3504582" cy="576064"/>
            <a:chOff x="731766" y="3789040"/>
            <a:chExt cx="7416824" cy="1512168"/>
          </a:xfrm>
        </p:grpSpPr>
        <p:sp>
          <p:nvSpPr>
            <p:cNvPr id="7" name="Flowchart: Magnetic Disk 6">
              <a:extLst>
                <a:ext uri="{FF2B5EF4-FFF2-40B4-BE49-F238E27FC236}">
                  <a16:creationId xmlns:a16="http://schemas.microsoft.com/office/drawing/2014/main" id="{517FDBCD-2A3B-060C-41B9-F964CAD9BAC8}"/>
                </a:ext>
              </a:extLst>
            </p:cNvPr>
            <p:cNvSpPr/>
            <p:nvPr/>
          </p:nvSpPr>
          <p:spPr>
            <a:xfrm>
              <a:off x="6924454" y="3789040"/>
              <a:ext cx="1224136" cy="13681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noProof="0" dirty="0">
                  <a:latin typeface="Consolas" panose="020B0609020204030204" pitchFamily="49" charset="0"/>
                </a:rPr>
                <a:t>Reference Data</a:t>
              </a:r>
            </a:p>
          </p:txBody>
        </p:sp>
        <p:sp>
          <p:nvSpPr>
            <p:cNvPr id="8" name="Flowchart: Multidocument 7">
              <a:extLst>
                <a:ext uri="{FF2B5EF4-FFF2-40B4-BE49-F238E27FC236}">
                  <a16:creationId xmlns:a16="http://schemas.microsoft.com/office/drawing/2014/main" id="{11DF4D0D-0AF6-A661-1EE2-437A604565CA}"/>
                </a:ext>
              </a:extLst>
            </p:cNvPr>
            <p:cNvSpPr/>
            <p:nvPr/>
          </p:nvSpPr>
          <p:spPr>
            <a:xfrm>
              <a:off x="731766" y="3933056"/>
              <a:ext cx="1169296" cy="129614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wrap="none" lIns="36000" tIns="0" rIns="36000" bIns="36000" rtlCol="0" anchor="ctr"/>
            <a:lstStyle/>
            <a:p>
              <a:pPr algn="ctr"/>
              <a:r>
                <a:rPr lang="en-US" sz="1050" dirty="0">
                  <a:latin typeface="Consolas" panose="020B0609020204030204" pitchFamily="49" charset="0"/>
                </a:rPr>
                <a:t>Source</a:t>
              </a:r>
            </a:p>
            <a:p>
              <a:pPr algn="ctr"/>
              <a:r>
                <a:rPr lang="en-US" sz="1050" dirty="0">
                  <a:latin typeface="Consolas" panose="020B0609020204030204" pitchFamily="49" charset="0"/>
                </a:rPr>
                <a:t>Data</a:t>
              </a:r>
            </a:p>
          </p:txBody>
        </p:sp>
        <p:sp>
          <p:nvSpPr>
            <p:cNvPr id="10" name="Arrow: Chevron 9">
              <a:extLst>
                <a:ext uri="{FF2B5EF4-FFF2-40B4-BE49-F238E27FC236}">
                  <a16:creationId xmlns:a16="http://schemas.microsoft.com/office/drawing/2014/main" id="{E09DF051-7C25-3FD9-2C27-F8B80C4279B7}"/>
                </a:ext>
              </a:extLst>
            </p:cNvPr>
            <p:cNvSpPr/>
            <p:nvPr/>
          </p:nvSpPr>
          <p:spPr>
            <a:xfrm>
              <a:off x="2243934"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Read</a:t>
              </a:r>
              <a:endParaRPr lang="pt-PT" sz="1050" b="1" dirty="0">
                <a:solidFill>
                  <a:schemeClr val="tx1"/>
                </a:solidFill>
                <a:latin typeface="Consolas" panose="020B0609020204030204" pitchFamily="49" charset="0"/>
              </a:endParaRPr>
            </a:p>
          </p:txBody>
        </p:sp>
        <p:sp>
          <p:nvSpPr>
            <p:cNvPr id="11" name="Arrow: Chevron 10">
              <a:extLst>
                <a:ext uri="{FF2B5EF4-FFF2-40B4-BE49-F238E27FC236}">
                  <a16:creationId xmlns:a16="http://schemas.microsoft.com/office/drawing/2014/main" id="{7E84C6AC-D819-D786-D85C-40AC9D952A25}"/>
                </a:ext>
              </a:extLst>
            </p:cNvPr>
            <p:cNvSpPr/>
            <p:nvPr/>
          </p:nvSpPr>
          <p:spPr>
            <a:xfrm>
              <a:off x="5323111"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050" b="1" dirty="0" err="1">
                  <a:solidFill>
                    <a:schemeClr val="tx1"/>
                  </a:solidFill>
                  <a:latin typeface="Consolas" panose="020B0609020204030204" pitchFamily="49" charset="0"/>
                </a:rPr>
                <a:t>Store</a:t>
              </a:r>
              <a:endParaRPr lang="pt-PT" sz="1050" b="1" dirty="0">
                <a:solidFill>
                  <a:schemeClr val="tx1"/>
                </a:solidFill>
                <a:latin typeface="Consolas" panose="020B0609020204030204" pitchFamily="49" charset="0"/>
              </a:endParaRPr>
            </a:p>
          </p:txBody>
        </p:sp>
        <p:sp>
          <p:nvSpPr>
            <p:cNvPr id="12" name="Sun 11">
              <a:extLst>
                <a:ext uri="{FF2B5EF4-FFF2-40B4-BE49-F238E27FC236}">
                  <a16:creationId xmlns:a16="http://schemas.microsoft.com/office/drawing/2014/main" id="{A3D7011F-B405-D194-A94B-CA5568C885DB}"/>
                </a:ext>
              </a:extLst>
            </p:cNvPr>
            <p:cNvSpPr/>
            <p:nvPr/>
          </p:nvSpPr>
          <p:spPr>
            <a:xfrm>
              <a:off x="3601959" y="3819114"/>
              <a:ext cx="1594303" cy="1482094"/>
            </a:xfrm>
            <a:prstGeom prst="sun">
              <a:avLst>
                <a:gd name="adj" fmla="val 19587"/>
              </a:avLst>
            </a:prstGeom>
          </p:spPr>
          <p:style>
            <a:lnRef idx="1">
              <a:schemeClr val="accent2"/>
            </a:lnRef>
            <a:fillRef idx="2">
              <a:schemeClr val="accent2"/>
            </a:fillRef>
            <a:effectRef idx="1">
              <a:schemeClr val="accent2"/>
            </a:effectRef>
            <a:fontRef idx="minor">
              <a:schemeClr val="dk1"/>
            </a:fontRef>
          </p:style>
          <p:txBody>
            <a:bodyPr wrap="none" lIns="36000" tIns="36000" rIns="36000" bIns="36000" rtlCol="0" anchor="ctr"/>
            <a:lstStyle/>
            <a:p>
              <a:pPr algn="ctr"/>
              <a:r>
                <a:rPr lang="pt-PT" sz="1050" b="1" dirty="0">
                  <a:latin typeface="Consolas" panose="020B0609020204030204" pitchFamily="49" charset="0"/>
                </a:rPr>
                <a:t>Compute</a:t>
              </a:r>
            </a:p>
          </p:txBody>
        </p:sp>
      </p:grpSp>
    </p:spTree>
    <p:extLst>
      <p:ext uri="{BB962C8B-B14F-4D97-AF65-F5344CB8AC3E}">
        <p14:creationId xmlns:p14="http://schemas.microsoft.com/office/powerpoint/2010/main" val="3566495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D8161-F3D6-D199-1EA6-DEAE20ADBE1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CC1C8-32DB-0AF0-C623-EC48C5BDD74F}"/>
              </a:ext>
            </a:extLst>
          </p:cNvPr>
          <p:cNvSpPr>
            <a:spLocks noGrp="1"/>
          </p:cNvSpPr>
          <p:nvPr>
            <p:ph type="title"/>
          </p:nvPr>
        </p:nvSpPr>
        <p:spPr/>
        <p:txBody>
          <a:bodyPr/>
          <a:lstStyle/>
          <a:p>
            <a:r>
              <a:rPr lang="pt-PT" dirty="0" err="1"/>
              <a:t>MovieLens</a:t>
            </a:r>
            <a:r>
              <a:rPr lang="pt-PT" dirty="0"/>
              <a:t>: </a:t>
            </a:r>
            <a:r>
              <a:rPr lang="pt-PT" dirty="0" err="1"/>
              <a:t>Batch</a:t>
            </a:r>
            <a:endParaRPr lang="pt-PT" dirty="0"/>
          </a:p>
        </p:txBody>
      </p:sp>
      <p:sp>
        <p:nvSpPr>
          <p:cNvPr id="3" name="Footer Placeholder 2">
            <a:extLst>
              <a:ext uri="{FF2B5EF4-FFF2-40B4-BE49-F238E27FC236}">
                <a16:creationId xmlns:a16="http://schemas.microsoft.com/office/drawing/2014/main" id="{1F79B6B4-A93A-4D81-96CA-50C84DDA77F7}"/>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009B2F17-C031-E902-A54D-7B710EEE43BB}"/>
              </a:ext>
            </a:extLst>
          </p:cNvPr>
          <p:cNvSpPr>
            <a:spLocks noGrp="1"/>
          </p:cNvSpPr>
          <p:nvPr>
            <p:ph type="sldNum" sz="quarter" idx="12"/>
          </p:nvPr>
        </p:nvSpPr>
        <p:spPr/>
        <p:txBody>
          <a:bodyPr/>
          <a:lstStyle/>
          <a:p>
            <a:fld id="{51C52B0B-E753-43CA-AAC2-5F5B7738FA84}" type="slidenum">
              <a:rPr lang="pt-PT" smtClean="0"/>
              <a:pPr/>
              <a:t>13</a:t>
            </a:fld>
            <a:endParaRPr lang="pt-PT"/>
          </a:p>
        </p:txBody>
      </p:sp>
    </p:spTree>
    <p:extLst>
      <p:ext uri="{BB962C8B-B14F-4D97-AF65-F5344CB8AC3E}">
        <p14:creationId xmlns:p14="http://schemas.microsoft.com/office/powerpoint/2010/main" val="4154015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56087-7235-6C1E-1BDE-AC8BC70471F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0E98C4D-5B48-30E8-9D18-3A866855FF88}"/>
              </a:ext>
            </a:extLst>
          </p:cNvPr>
          <p:cNvSpPr>
            <a:spLocks noGrp="1"/>
          </p:cNvSpPr>
          <p:nvPr>
            <p:ph type="title"/>
          </p:nvPr>
        </p:nvSpPr>
        <p:spPr/>
        <p:txBody>
          <a:bodyPr/>
          <a:lstStyle/>
          <a:p>
            <a:r>
              <a:rPr lang="pt-PT" dirty="0" err="1"/>
              <a:t>MovieLens</a:t>
            </a:r>
            <a:r>
              <a:rPr lang="pt-PT" dirty="0"/>
              <a:t>: ML</a:t>
            </a:r>
          </a:p>
        </p:txBody>
      </p:sp>
      <p:sp>
        <p:nvSpPr>
          <p:cNvPr id="3" name="Footer Placeholder 2">
            <a:extLst>
              <a:ext uri="{FF2B5EF4-FFF2-40B4-BE49-F238E27FC236}">
                <a16:creationId xmlns:a16="http://schemas.microsoft.com/office/drawing/2014/main" id="{346C78FD-7F30-43FF-6B3E-4D9F9E3F58C2}"/>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6ED3E773-433A-8120-557F-F56E1EA559B9}"/>
              </a:ext>
            </a:extLst>
          </p:cNvPr>
          <p:cNvSpPr>
            <a:spLocks noGrp="1"/>
          </p:cNvSpPr>
          <p:nvPr>
            <p:ph type="sldNum" sz="quarter" idx="12"/>
          </p:nvPr>
        </p:nvSpPr>
        <p:spPr/>
        <p:txBody>
          <a:bodyPr/>
          <a:lstStyle/>
          <a:p>
            <a:fld id="{51C52B0B-E753-43CA-AAC2-5F5B7738FA84}" type="slidenum">
              <a:rPr lang="pt-PT" smtClean="0"/>
              <a:pPr/>
              <a:t>14</a:t>
            </a:fld>
            <a:endParaRPr lang="pt-PT"/>
          </a:p>
        </p:txBody>
      </p:sp>
      <p:sp>
        <p:nvSpPr>
          <p:cNvPr id="11" name="Content Placeholder 10">
            <a:extLst>
              <a:ext uri="{FF2B5EF4-FFF2-40B4-BE49-F238E27FC236}">
                <a16:creationId xmlns:a16="http://schemas.microsoft.com/office/drawing/2014/main" id="{A756F60D-5EAF-DFE5-1DA9-207E46C9B215}"/>
              </a:ext>
            </a:extLst>
          </p:cNvPr>
          <p:cNvSpPr>
            <a:spLocks noGrp="1"/>
          </p:cNvSpPr>
          <p:nvPr>
            <p:ph sz="quarter" idx="1"/>
          </p:nvPr>
        </p:nvSpPr>
        <p:spPr/>
        <p:txBody>
          <a:bodyPr>
            <a:normAutofit/>
          </a:bodyPr>
          <a:lstStyle/>
          <a:p>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Read</a:t>
            </a:r>
            <a:r>
              <a:rPr lang="pt-PT" dirty="0">
                <a:latin typeface="Consolas" panose="020B0609020204030204" pitchFamily="49" charset="0"/>
              </a:rPr>
              <a:t> files </a:t>
            </a:r>
            <a:r>
              <a:rPr lang="pt-PT" dirty="0" err="1">
                <a:latin typeface="Consolas" panose="020B0609020204030204" pitchFamily="49" charset="0"/>
              </a:rPr>
              <a:t>from</a:t>
            </a:r>
            <a:r>
              <a:rPr lang="pt-PT" dirty="0">
                <a:latin typeface="Consolas" panose="020B0609020204030204" pitchFamily="49" charset="0"/>
              </a:rPr>
              <a:t> HDFS </a:t>
            </a:r>
            <a:r>
              <a:rPr lang="pt-PT" dirty="0" err="1">
                <a:latin typeface="Consolas" panose="020B0609020204030204" pitchFamily="49" charset="0"/>
              </a:rPr>
              <a:t>folder</a:t>
            </a:r>
            <a:r>
              <a:rPr lang="pt-PT" dirty="0">
                <a:latin typeface="Consolas" panose="020B0609020204030204" pitchFamily="49" charset="0"/>
              </a:rPr>
              <a:t> </a:t>
            </a:r>
          </a:p>
          <a:p>
            <a:endParaRPr lang="pt-PT" dirty="0">
              <a:latin typeface="Consolas" panose="020B0609020204030204" pitchFamily="49" charset="0"/>
            </a:endParaRPr>
          </a:p>
          <a:p>
            <a:pPr algn="ctr"/>
            <a:r>
              <a:rPr lang="pt-PT" dirty="0" err="1">
                <a:latin typeface="Consolas" panose="020B0609020204030204" pitchFamily="49" charset="0"/>
              </a:rPr>
              <a:t>Train</a:t>
            </a:r>
            <a:r>
              <a:rPr lang="pt-PT" dirty="0">
                <a:latin typeface="Consolas" panose="020B0609020204030204" pitchFamily="49" charset="0"/>
              </a:rPr>
              <a:t> </a:t>
            </a:r>
            <a:r>
              <a:rPr lang="pt-PT" dirty="0" err="1">
                <a:latin typeface="Consolas" panose="020B0609020204030204" pitchFamily="49" charset="0"/>
              </a:rPr>
              <a:t>Model</a:t>
            </a:r>
            <a:endParaRPr lang="pt-PT" dirty="0">
              <a:latin typeface="Consolas" panose="020B0609020204030204" pitchFamily="49" charset="0"/>
            </a:endParaRPr>
          </a:p>
          <a:p>
            <a:pPr algn="ctr"/>
            <a:endParaRPr lang="pt-PT" dirty="0">
              <a:latin typeface="Consolas" panose="020B0609020204030204" pitchFamily="49" charset="0"/>
            </a:endParaRPr>
          </a:p>
          <a:p>
            <a:pPr algn="ctr"/>
            <a:endParaRPr lang="pt-PT" dirty="0">
              <a:latin typeface="Consolas" panose="020B0609020204030204" pitchFamily="49" charset="0"/>
            </a:endParaRPr>
          </a:p>
          <a:p>
            <a:pPr algn="ctr"/>
            <a:endParaRPr lang="pt-PT" dirty="0">
              <a:latin typeface="Consolas" panose="020B0609020204030204" pitchFamily="49" charset="0"/>
            </a:endParaRPr>
          </a:p>
          <a:p>
            <a:pPr algn="ctr"/>
            <a:endParaRPr lang="pt-PT" dirty="0">
              <a:latin typeface="Consolas" panose="020B0609020204030204" pitchFamily="49" charset="0"/>
            </a:endParaRPr>
          </a:p>
          <a:p>
            <a:pPr algn="r"/>
            <a:r>
              <a:rPr lang="pt-PT" dirty="0">
                <a:latin typeface="Consolas" panose="020B0609020204030204" pitchFamily="49" charset="0"/>
              </a:rPr>
              <a:t>Save </a:t>
            </a:r>
            <a:r>
              <a:rPr lang="pt-PT" dirty="0" err="1">
                <a:latin typeface="Consolas" panose="020B0609020204030204" pitchFamily="49" charset="0"/>
              </a:rPr>
              <a:t>Model</a:t>
            </a:r>
            <a:endParaRPr lang="pt-PT" dirty="0">
              <a:latin typeface="Consolas" panose="020B0609020204030204" pitchFamily="49" charset="0"/>
            </a:endParaRPr>
          </a:p>
        </p:txBody>
      </p:sp>
      <p:sp>
        <p:nvSpPr>
          <p:cNvPr id="7" name="Flowchart: Magnetic Disk 6">
            <a:extLst>
              <a:ext uri="{FF2B5EF4-FFF2-40B4-BE49-F238E27FC236}">
                <a16:creationId xmlns:a16="http://schemas.microsoft.com/office/drawing/2014/main" id="{DF90946E-806D-4F50-C171-F0C2C2736BA9}"/>
              </a:ext>
            </a:extLst>
          </p:cNvPr>
          <p:cNvSpPr/>
          <p:nvPr/>
        </p:nvSpPr>
        <p:spPr>
          <a:xfrm>
            <a:off x="6924454" y="3789040"/>
            <a:ext cx="1224136" cy="13681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latin typeface="Consolas" panose="020B0609020204030204" pitchFamily="49" charset="0"/>
              </a:rPr>
              <a:t>Model Saved</a:t>
            </a:r>
          </a:p>
        </p:txBody>
      </p:sp>
      <p:sp>
        <p:nvSpPr>
          <p:cNvPr id="8" name="Flowchart: Multidocument 7">
            <a:extLst>
              <a:ext uri="{FF2B5EF4-FFF2-40B4-BE49-F238E27FC236}">
                <a16:creationId xmlns:a16="http://schemas.microsoft.com/office/drawing/2014/main" id="{FC7E1666-6579-E388-86E4-11EAA391DCE6}"/>
              </a:ext>
            </a:extLst>
          </p:cNvPr>
          <p:cNvSpPr/>
          <p:nvPr/>
        </p:nvSpPr>
        <p:spPr>
          <a:xfrm>
            <a:off x="731766" y="3933056"/>
            <a:ext cx="1169296" cy="129614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Historical Past Data</a:t>
            </a:r>
          </a:p>
        </p:txBody>
      </p:sp>
      <p:sp>
        <p:nvSpPr>
          <p:cNvPr id="5" name="Arrow: Chevron 4">
            <a:extLst>
              <a:ext uri="{FF2B5EF4-FFF2-40B4-BE49-F238E27FC236}">
                <a16:creationId xmlns:a16="http://schemas.microsoft.com/office/drawing/2014/main" id="{22582756-B279-3B7E-4D54-4BCE05E2E001}"/>
              </a:ext>
            </a:extLst>
          </p:cNvPr>
          <p:cNvSpPr/>
          <p:nvPr/>
        </p:nvSpPr>
        <p:spPr>
          <a:xfrm>
            <a:off x="2243934"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400" b="1" dirty="0" err="1">
                <a:solidFill>
                  <a:schemeClr val="tx1"/>
                </a:solidFill>
                <a:latin typeface="Consolas" panose="020B0609020204030204" pitchFamily="49" charset="0"/>
              </a:rPr>
              <a:t>Read</a:t>
            </a:r>
            <a:endParaRPr lang="pt-PT" sz="1400" b="1" dirty="0">
              <a:solidFill>
                <a:schemeClr val="tx1"/>
              </a:solidFill>
              <a:latin typeface="Consolas" panose="020B0609020204030204" pitchFamily="49" charset="0"/>
            </a:endParaRPr>
          </a:p>
        </p:txBody>
      </p:sp>
      <p:sp>
        <p:nvSpPr>
          <p:cNvPr id="9" name="Arrow: Chevron 8">
            <a:extLst>
              <a:ext uri="{FF2B5EF4-FFF2-40B4-BE49-F238E27FC236}">
                <a16:creationId xmlns:a16="http://schemas.microsoft.com/office/drawing/2014/main" id="{B0A18DEE-C588-B6A3-8640-D440261E6313}"/>
              </a:ext>
            </a:extLst>
          </p:cNvPr>
          <p:cNvSpPr/>
          <p:nvPr/>
        </p:nvSpPr>
        <p:spPr>
          <a:xfrm>
            <a:off x="5323111"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400" b="1" dirty="0">
                <a:solidFill>
                  <a:schemeClr val="tx1"/>
                </a:solidFill>
                <a:latin typeface="Consolas" panose="020B0609020204030204" pitchFamily="49" charset="0"/>
              </a:rPr>
              <a:t>Save </a:t>
            </a:r>
          </a:p>
          <a:p>
            <a:pPr algn="ctr"/>
            <a:r>
              <a:rPr lang="pt-PT" sz="1400" b="1" dirty="0" err="1">
                <a:solidFill>
                  <a:schemeClr val="tx1"/>
                </a:solidFill>
                <a:latin typeface="Consolas" panose="020B0609020204030204" pitchFamily="49" charset="0"/>
              </a:rPr>
              <a:t>Model</a:t>
            </a:r>
            <a:endParaRPr lang="pt-PT" sz="1400" b="1" dirty="0">
              <a:solidFill>
                <a:schemeClr val="tx1"/>
              </a:solidFill>
              <a:latin typeface="Consolas" panose="020B0609020204030204" pitchFamily="49" charset="0"/>
            </a:endParaRPr>
          </a:p>
        </p:txBody>
      </p:sp>
      <p:sp>
        <p:nvSpPr>
          <p:cNvPr id="10" name="Sun 9">
            <a:extLst>
              <a:ext uri="{FF2B5EF4-FFF2-40B4-BE49-F238E27FC236}">
                <a16:creationId xmlns:a16="http://schemas.microsoft.com/office/drawing/2014/main" id="{057BC45F-0E66-4852-A9EE-A97A2B8FFAF2}"/>
              </a:ext>
            </a:extLst>
          </p:cNvPr>
          <p:cNvSpPr/>
          <p:nvPr/>
        </p:nvSpPr>
        <p:spPr>
          <a:xfrm>
            <a:off x="3601959" y="3819114"/>
            <a:ext cx="1594303" cy="1482094"/>
          </a:xfrm>
          <a:prstGeom prst="sun">
            <a:avLst>
              <a:gd name="adj" fmla="val 19587"/>
            </a:avLst>
          </a:prstGeom>
        </p:spPr>
        <p:style>
          <a:lnRef idx="1">
            <a:schemeClr val="accent2"/>
          </a:lnRef>
          <a:fillRef idx="2">
            <a:schemeClr val="accent2"/>
          </a:fillRef>
          <a:effectRef idx="1">
            <a:schemeClr val="accent2"/>
          </a:effectRef>
          <a:fontRef idx="minor">
            <a:schemeClr val="dk1"/>
          </a:fontRef>
        </p:style>
        <p:txBody>
          <a:bodyPr wrap="none" lIns="36000" tIns="36000" rIns="36000" bIns="36000" rtlCol="0" anchor="ctr"/>
          <a:lstStyle/>
          <a:p>
            <a:pPr algn="ctr"/>
            <a:r>
              <a:rPr lang="pt-PT" sz="1400" b="1" dirty="0" err="1">
                <a:latin typeface="Consolas" panose="020B0609020204030204" pitchFamily="49" charset="0"/>
              </a:rPr>
              <a:t>Train</a:t>
            </a:r>
            <a:endParaRPr lang="pt-PT" sz="1400" b="1" dirty="0">
              <a:latin typeface="Consolas" panose="020B0609020204030204" pitchFamily="49" charset="0"/>
            </a:endParaRPr>
          </a:p>
          <a:p>
            <a:pPr algn="ctr"/>
            <a:r>
              <a:rPr lang="pt-PT" sz="1400" b="1" dirty="0" err="1">
                <a:latin typeface="Consolas" panose="020B0609020204030204" pitchFamily="49" charset="0"/>
              </a:rPr>
              <a:t>Model</a:t>
            </a:r>
            <a:endParaRPr lang="pt-PT" sz="1400" b="1" dirty="0">
              <a:latin typeface="Consolas" panose="020B0609020204030204" pitchFamily="49" charset="0"/>
            </a:endParaRPr>
          </a:p>
        </p:txBody>
      </p:sp>
    </p:spTree>
    <p:extLst>
      <p:ext uri="{BB962C8B-B14F-4D97-AF65-F5344CB8AC3E}">
        <p14:creationId xmlns:p14="http://schemas.microsoft.com/office/powerpoint/2010/main" val="2325762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A0695-1545-A31F-55E1-0BCCE9F06A3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88E0A5B-4621-0346-9AAF-3C5B64FA45BC}"/>
              </a:ext>
            </a:extLst>
          </p:cNvPr>
          <p:cNvSpPr>
            <a:spLocks noGrp="1"/>
          </p:cNvSpPr>
          <p:nvPr>
            <p:ph type="title"/>
          </p:nvPr>
        </p:nvSpPr>
        <p:spPr/>
        <p:txBody>
          <a:bodyPr/>
          <a:lstStyle/>
          <a:p>
            <a:r>
              <a:rPr lang="pt-PT" dirty="0" err="1"/>
              <a:t>MovieLens</a:t>
            </a:r>
            <a:r>
              <a:rPr lang="pt-PT" dirty="0"/>
              <a:t>: ML </a:t>
            </a:r>
            <a:r>
              <a:rPr lang="pt-PT" dirty="0" err="1"/>
              <a:t>Batch</a:t>
            </a:r>
            <a:endParaRPr lang="pt-PT" dirty="0"/>
          </a:p>
        </p:txBody>
      </p:sp>
      <p:sp>
        <p:nvSpPr>
          <p:cNvPr id="3" name="Footer Placeholder 2">
            <a:extLst>
              <a:ext uri="{FF2B5EF4-FFF2-40B4-BE49-F238E27FC236}">
                <a16:creationId xmlns:a16="http://schemas.microsoft.com/office/drawing/2014/main" id="{C1783BAC-672F-A8F7-8C31-65658800F60F}"/>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4EB805FC-3EFE-1600-77D1-FC6D5FE041F0}"/>
              </a:ext>
            </a:extLst>
          </p:cNvPr>
          <p:cNvSpPr>
            <a:spLocks noGrp="1"/>
          </p:cNvSpPr>
          <p:nvPr>
            <p:ph type="sldNum" sz="quarter" idx="12"/>
          </p:nvPr>
        </p:nvSpPr>
        <p:spPr/>
        <p:txBody>
          <a:bodyPr/>
          <a:lstStyle/>
          <a:p>
            <a:fld id="{51C52B0B-E753-43CA-AAC2-5F5B7738FA84}" type="slidenum">
              <a:rPr lang="pt-PT" smtClean="0"/>
              <a:pPr/>
              <a:t>15</a:t>
            </a:fld>
            <a:endParaRPr lang="pt-PT"/>
          </a:p>
        </p:txBody>
      </p:sp>
      <p:pic>
        <p:nvPicPr>
          <p:cNvPr id="12" name="Content Placeholder 11">
            <a:extLst>
              <a:ext uri="{FF2B5EF4-FFF2-40B4-BE49-F238E27FC236}">
                <a16:creationId xmlns:a16="http://schemas.microsoft.com/office/drawing/2014/main" id="{C85C2AB1-0071-6188-C437-F8D028469897}"/>
              </a:ext>
            </a:extLst>
          </p:cNvPr>
          <p:cNvPicPr>
            <a:picLocks noGrp="1" noChangeAspect="1"/>
          </p:cNvPicPr>
          <p:nvPr>
            <p:ph sz="quarter" idx="1"/>
          </p:nvPr>
        </p:nvPicPr>
        <p:blipFill>
          <a:blip r:embed="rId2"/>
          <a:srcRect r="2283"/>
          <a:stretch>
            <a:fillRect/>
          </a:stretch>
        </p:blipFill>
        <p:spPr>
          <a:xfrm>
            <a:off x="1417675" y="1339522"/>
            <a:ext cx="7726325" cy="4696480"/>
          </a:xfrm>
          <a:prstGeom prst="rect">
            <a:avLst/>
          </a:prstGeom>
        </p:spPr>
      </p:pic>
    </p:spTree>
    <p:extLst>
      <p:ext uri="{BB962C8B-B14F-4D97-AF65-F5344CB8AC3E}">
        <p14:creationId xmlns:p14="http://schemas.microsoft.com/office/powerpoint/2010/main" val="3784206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E0824-248B-53E7-691E-BC2996549FD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3AF0530-E2B8-0D7B-4E16-D2B13A2E797D}"/>
              </a:ext>
            </a:extLst>
          </p:cNvPr>
          <p:cNvSpPr>
            <a:spLocks noGrp="1"/>
          </p:cNvSpPr>
          <p:nvPr>
            <p:ph type="title"/>
          </p:nvPr>
        </p:nvSpPr>
        <p:spPr/>
        <p:txBody>
          <a:bodyPr/>
          <a:lstStyle/>
          <a:p>
            <a:r>
              <a:rPr lang="pt-PT" dirty="0" err="1"/>
              <a:t>MovieLens</a:t>
            </a:r>
            <a:r>
              <a:rPr lang="pt-PT" dirty="0"/>
              <a:t>: ML </a:t>
            </a:r>
            <a:r>
              <a:rPr lang="pt-PT" dirty="0" err="1"/>
              <a:t>Process</a:t>
            </a:r>
            <a:r>
              <a:rPr lang="pt-PT" dirty="0"/>
              <a:t>/</a:t>
            </a:r>
            <a:r>
              <a:rPr lang="pt-PT" dirty="0" err="1"/>
              <a:t>Train</a:t>
            </a:r>
            <a:r>
              <a:rPr lang="pt-PT" dirty="0"/>
              <a:t> </a:t>
            </a:r>
            <a:r>
              <a:rPr lang="pt-PT" dirty="0" err="1"/>
              <a:t>Model</a:t>
            </a:r>
            <a:endParaRPr lang="pt-PT" dirty="0"/>
          </a:p>
        </p:txBody>
      </p:sp>
      <p:sp>
        <p:nvSpPr>
          <p:cNvPr id="3" name="Footer Placeholder 2">
            <a:extLst>
              <a:ext uri="{FF2B5EF4-FFF2-40B4-BE49-F238E27FC236}">
                <a16:creationId xmlns:a16="http://schemas.microsoft.com/office/drawing/2014/main" id="{C48D7B4A-C22E-A821-B2A5-8FFE64B6BB8D}"/>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305537BE-0BC2-0BD2-24CB-17993318B27F}"/>
              </a:ext>
            </a:extLst>
          </p:cNvPr>
          <p:cNvSpPr>
            <a:spLocks noGrp="1"/>
          </p:cNvSpPr>
          <p:nvPr>
            <p:ph type="sldNum" sz="quarter" idx="12"/>
          </p:nvPr>
        </p:nvSpPr>
        <p:spPr/>
        <p:txBody>
          <a:bodyPr/>
          <a:lstStyle/>
          <a:p>
            <a:fld id="{51C52B0B-E753-43CA-AAC2-5F5B7738FA84}" type="slidenum">
              <a:rPr lang="pt-PT" smtClean="0"/>
              <a:pPr/>
              <a:t>16</a:t>
            </a:fld>
            <a:endParaRPr lang="pt-PT"/>
          </a:p>
        </p:txBody>
      </p:sp>
      <p:pic>
        <p:nvPicPr>
          <p:cNvPr id="8" name="Picture 7">
            <a:extLst>
              <a:ext uri="{FF2B5EF4-FFF2-40B4-BE49-F238E27FC236}">
                <a16:creationId xmlns:a16="http://schemas.microsoft.com/office/drawing/2014/main" id="{2974FC7E-D74F-59BE-4550-5AF2C91FA6A1}"/>
              </a:ext>
            </a:extLst>
          </p:cNvPr>
          <p:cNvPicPr>
            <a:picLocks noChangeAspect="1"/>
          </p:cNvPicPr>
          <p:nvPr/>
        </p:nvPicPr>
        <p:blipFill>
          <a:blip r:embed="rId2"/>
          <a:stretch>
            <a:fillRect/>
          </a:stretch>
        </p:blipFill>
        <p:spPr>
          <a:xfrm>
            <a:off x="971600" y="1340768"/>
            <a:ext cx="6154009" cy="1362265"/>
          </a:xfrm>
          <a:prstGeom prst="rect">
            <a:avLst/>
          </a:prstGeom>
        </p:spPr>
      </p:pic>
      <p:pic>
        <p:nvPicPr>
          <p:cNvPr id="10" name="Picture 9">
            <a:extLst>
              <a:ext uri="{FF2B5EF4-FFF2-40B4-BE49-F238E27FC236}">
                <a16:creationId xmlns:a16="http://schemas.microsoft.com/office/drawing/2014/main" id="{41A8E9A8-F1B8-C205-6955-D4D83A150AF7}"/>
              </a:ext>
            </a:extLst>
          </p:cNvPr>
          <p:cNvPicPr>
            <a:picLocks noChangeAspect="1"/>
          </p:cNvPicPr>
          <p:nvPr/>
        </p:nvPicPr>
        <p:blipFill>
          <a:blip r:embed="rId3"/>
          <a:stretch>
            <a:fillRect/>
          </a:stretch>
        </p:blipFill>
        <p:spPr>
          <a:xfrm>
            <a:off x="988912" y="3030860"/>
            <a:ext cx="6077798" cy="2486372"/>
          </a:xfrm>
          <a:prstGeom prst="rect">
            <a:avLst/>
          </a:prstGeom>
        </p:spPr>
      </p:pic>
    </p:spTree>
    <p:extLst>
      <p:ext uri="{BB962C8B-B14F-4D97-AF65-F5344CB8AC3E}">
        <p14:creationId xmlns:p14="http://schemas.microsoft.com/office/powerpoint/2010/main" val="2604914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C2F9-EACE-4B67-7FD2-0558193EDAE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DABD31C-CBB2-69B5-A6A6-E100BBD23ECC}"/>
              </a:ext>
            </a:extLst>
          </p:cNvPr>
          <p:cNvSpPr>
            <a:spLocks noGrp="1"/>
          </p:cNvSpPr>
          <p:nvPr>
            <p:ph type="title"/>
          </p:nvPr>
        </p:nvSpPr>
        <p:spPr/>
        <p:txBody>
          <a:bodyPr/>
          <a:lstStyle/>
          <a:p>
            <a:r>
              <a:rPr lang="pt-PT" dirty="0" err="1"/>
              <a:t>MovieLens</a:t>
            </a:r>
            <a:r>
              <a:rPr lang="pt-PT" dirty="0"/>
              <a:t>: ML </a:t>
            </a:r>
            <a:r>
              <a:rPr lang="pt-PT" dirty="0" err="1"/>
              <a:t>Process</a:t>
            </a:r>
            <a:r>
              <a:rPr lang="pt-PT" dirty="0"/>
              <a:t>/</a:t>
            </a:r>
            <a:r>
              <a:rPr lang="pt-PT" dirty="0" err="1"/>
              <a:t>Train</a:t>
            </a:r>
            <a:r>
              <a:rPr lang="pt-PT" dirty="0"/>
              <a:t> </a:t>
            </a:r>
            <a:r>
              <a:rPr lang="pt-PT" dirty="0" err="1"/>
              <a:t>Model</a:t>
            </a:r>
            <a:endParaRPr lang="pt-PT" dirty="0"/>
          </a:p>
        </p:txBody>
      </p:sp>
      <p:sp>
        <p:nvSpPr>
          <p:cNvPr id="3" name="Footer Placeholder 2">
            <a:extLst>
              <a:ext uri="{FF2B5EF4-FFF2-40B4-BE49-F238E27FC236}">
                <a16:creationId xmlns:a16="http://schemas.microsoft.com/office/drawing/2014/main" id="{B97AC91C-0ED8-297B-37F4-53DB7132E9B2}"/>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2C19B6E0-7D0B-5D94-BFCE-058717005DE7}"/>
              </a:ext>
            </a:extLst>
          </p:cNvPr>
          <p:cNvSpPr>
            <a:spLocks noGrp="1"/>
          </p:cNvSpPr>
          <p:nvPr>
            <p:ph type="sldNum" sz="quarter" idx="12"/>
          </p:nvPr>
        </p:nvSpPr>
        <p:spPr/>
        <p:txBody>
          <a:bodyPr/>
          <a:lstStyle/>
          <a:p>
            <a:fld id="{51C52B0B-E753-43CA-AAC2-5F5B7738FA84}" type="slidenum">
              <a:rPr lang="pt-PT" smtClean="0"/>
              <a:pPr/>
              <a:t>17</a:t>
            </a:fld>
            <a:endParaRPr lang="pt-PT"/>
          </a:p>
        </p:txBody>
      </p:sp>
      <p:pic>
        <p:nvPicPr>
          <p:cNvPr id="5" name="Picture 4">
            <a:extLst>
              <a:ext uri="{FF2B5EF4-FFF2-40B4-BE49-F238E27FC236}">
                <a16:creationId xmlns:a16="http://schemas.microsoft.com/office/drawing/2014/main" id="{CC1794CC-96F9-1231-7DD1-52F11335809E}"/>
              </a:ext>
            </a:extLst>
          </p:cNvPr>
          <p:cNvPicPr>
            <a:picLocks noChangeAspect="1"/>
          </p:cNvPicPr>
          <p:nvPr/>
        </p:nvPicPr>
        <p:blipFill>
          <a:blip r:embed="rId2"/>
          <a:stretch>
            <a:fillRect/>
          </a:stretch>
        </p:blipFill>
        <p:spPr>
          <a:xfrm>
            <a:off x="223230" y="1709497"/>
            <a:ext cx="8697539" cy="3439005"/>
          </a:xfrm>
          <a:prstGeom prst="rect">
            <a:avLst/>
          </a:prstGeom>
        </p:spPr>
      </p:pic>
    </p:spTree>
    <p:extLst>
      <p:ext uri="{BB962C8B-B14F-4D97-AF65-F5344CB8AC3E}">
        <p14:creationId xmlns:p14="http://schemas.microsoft.com/office/powerpoint/2010/main" val="502267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9054C-7317-F638-6635-7C2B104F49D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37F5F3A-A8C0-81A0-2DBE-31E4B9B9BCC1}"/>
              </a:ext>
            </a:extLst>
          </p:cNvPr>
          <p:cNvSpPr>
            <a:spLocks noGrp="1"/>
          </p:cNvSpPr>
          <p:nvPr>
            <p:ph type="title"/>
          </p:nvPr>
        </p:nvSpPr>
        <p:spPr/>
        <p:txBody>
          <a:bodyPr/>
          <a:lstStyle/>
          <a:p>
            <a:r>
              <a:rPr lang="pt-PT" dirty="0" err="1"/>
              <a:t>MovieLens</a:t>
            </a:r>
            <a:r>
              <a:rPr lang="pt-PT" dirty="0"/>
              <a:t>: </a:t>
            </a:r>
            <a:r>
              <a:rPr lang="pt-PT" dirty="0" err="1"/>
              <a:t>Load</a:t>
            </a:r>
            <a:r>
              <a:rPr lang="pt-PT" dirty="0"/>
              <a:t> Save </a:t>
            </a:r>
            <a:r>
              <a:rPr lang="pt-PT" dirty="0" err="1"/>
              <a:t>Model</a:t>
            </a:r>
            <a:endParaRPr lang="pt-PT" dirty="0"/>
          </a:p>
        </p:txBody>
      </p:sp>
      <p:sp>
        <p:nvSpPr>
          <p:cNvPr id="3" name="Footer Placeholder 2">
            <a:extLst>
              <a:ext uri="{FF2B5EF4-FFF2-40B4-BE49-F238E27FC236}">
                <a16:creationId xmlns:a16="http://schemas.microsoft.com/office/drawing/2014/main" id="{9D3A4EFF-AE1F-C55C-8962-4137F35C135C}"/>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E63B8AE6-C1E2-4A37-2D40-425A537AA801}"/>
              </a:ext>
            </a:extLst>
          </p:cNvPr>
          <p:cNvSpPr>
            <a:spLocks noGrp="1"/>
          </p:cNvSpPr>
          <p:nvPr>
            <p:ph type="sldNum" sz="quarter" idx="12"/>
          </p:nvPr>
        </p:nvSpPr>
        <p:spPr/>
        <p:txBody>
          <a:bodyPr/>
          <a:lstStyle/>
          <a:p>
            <a:fld id="{51C52B0B-E753-43CA-AAC2-5F5B7738FA84}" type="slidenum">
              <a:rPr lang="pt-PT" smtClean="0"/>
              <a:pPr/>
              <a:t>18</a:t>
            </a:fld>
            <a:endParaRPr lang="pt-PT"/>
          </a:p>
        </p:txBody>
      </p:sp>
      <p:pic>
        <p:nvPicPr>
          <p:cNvPr id="14" name="Picture 13">
            <a:extLst>
              <a:ext uri="{FF2B5EF4-FFF2-40B4-BE49-F238E27FC236}">
                <a16:creationId xmlns:a16="http://schemas.microsoft.com/office/drawing/2014/main" id="{5775A367-40B7-9F40-08FE-E0C9C3FCD741}"/>
              </a:ext>
            </a:extLst>
          </p:cNvPr>
          <p:cNvPicPr>
            <a:picLocks noChangeAspect="1"/>
          </p:cNvPicPr>
          <p:nvPr/>
        </p:nvPicPr>
        <p:blipFill>
          <a:blip r:embed="rId2"/>
          <a:stretch>
            <a:fillRect/>
          </a:stretch>
        </p:blipFill>
        <p:spPr>
          <a:xfrm>
            <a:off x="3239667" y="2614499"/>
            <a:ext cx="4944165" cy="1629002"/>
          </a:xfrm>
          <a:prstGeom prst="rect">
            <a:avLst/>
          </a:prstGeom>
        </p:spPr>
      </p:pic>
    </p:spTree>
    <p:extLst>
      <p:ext uri="{BB962C8B-B14F-4D97-AF65-F5344CB8AC3E}">
        <p14:creationId xmlns:p14="http://schemas.microsoft.com/office/powerpoint/2010/main" val="2870030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62543-741C-DB07-5E01-62953000E55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F7E78B3-F321-D69D-0005-130A1EAF0B34}"/>
              </a:ext>
            </a:extLst>
          </p:cNvPr>
          <p:cNvSpPr>
            <a:spLocks noGrp="1"/>
          </p:cNvSpPr>
          <p:nvPr>
            <p:ph type="title"/>
          </p:nvPr>
        </p:nvSpPr>
        <p:spPr/>
        <p:txBody>
          <a:bodyPr/>
          <a:lstStyle/>
          <a:p>
            <a:r>
              <a:rPr lang="pt-PT" dirty="0" err="1"/>
              <a:t>MovieLens</a:t>
            </a:r>
            <a:r>
              <a:rPr lang="pt-PT" dirty="0"/>
              <a:t>: ML </a:t>
            </a:r>
            <a:r>
              <a:rPr lang="pt-PT" dirty="0" err="1"/>
              <a:t>Stream</a:t>
            </a:r>
            <a:endParaRPr lang="pt-PT" dirty="0"/>
          </a:p>
        </p:txBody>
      </p:sp>
      <p:sp>
        <p:nvSpPr>
          <p:cNvPr id="3" name="Footer Placeholder 2">
            <a:extLst>
              <a:ext uri="{FF2B5EF4-FFF2-40B4-BE49-F238E27FC236}">
                <a16:creationId xmlns:a16="http://schemas.microsoft.com/office/drawing/2014/main" id="{2689DF43-91A6-351C-AB4D-6FFB8AFAC885}"/>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272D94D1-BA53-9A69-0D69-F2CD139FC510}"/>
              </a:ext>
            </a:extLst>
          </p:cNvPr>
          <p:cNvSpPr>
            <a:spLocks noGrp="1"/>
          </p:cNvSpPr>
          <p:nvPr>
            <p:ph type="sldNum" sz="quarter" idx="12"/>
          </p:nvPr>
        </p:nvSpPr>
        <p:spPr/>
        <p:txBody>
          <a:bodyPr/>
          <a:lstStyle/>
          <a:p>
            <a:fld id="{51C52B0B-E753-43CA-AAC2-5F5B7738FA84}" type="slidenum">
              <a:rPr lang="pt-PT" smtClean="0"/>
              <a:pPr/>
              <a:t>19</a:t>
            </a:fld>
            <a:endParaRPr lang="pt-PT"/>
          </a:p>
        </p:txBody>
      </p:sp>
      <p:pic>
        <p:nvPicPr>
          <p:cNvPr id="16" name="Picture 15">
            <a:extLst>
              <a:ext uri="{FF2B5EF4-FFF2-40B4-BE49-F238E27FC236}">
                <a16:creationId xmlns:a16="http://schemas.microsoft.com/office/drawing/2014/main" id="{85ED2879-CA57-C596-BAAA-F5A82B840393}"/>
              </a:ext>
            </a:extLst>
          </p:cNvPr>
          <p:cNvPicPr>
            <a:picLocks noChangeAspect="1"/>
          </p:cNvPicPr>
          <p:nvPr/>
        </p:nvPicPr>
        <p:blipFill>
          <a:blip r:embed="rId2"/>
          <a:stretch>
            <a:fillRect/>
          </a:stretch>
        </p:blipFill>
        <p:spPr>
          <a:xfrm>
            <a:off x="2748097" y="1484784"/>
            <a:ext cx="5687219" cy="4715533"/>
          </a:xfrm>
          <a:prstGeom prst="rect">
            <a:avLst/>
          </a:prstGeom>
        </p:spPr>
      </p:pic>
      <p:sp>
        <p:nvSpPr>
          <p:cNvPr id="17" name="Content Placeholder 4">
            <a:extLst>
              <a:ext uri="{FF2B5EF4-FFF2-40B4-BE49-F238E27FC236}">
                <a16:creationId xmlns:a16="http://schemas.microsoft.com/office/drawing/2014/main" id="{684DD0A9-CDBB-FE6A-CE95-D54ABBCD0C05}"/>
              </a:ext>
            </a:extLst>
          </p:cNvPr>
          <p:cNvSpPr>
            <a:spLocks noGrp="1"/>
          </p:cNvSpPr>
          <p:nvPr>
            <p:ph sz="quarter" idx="1"/>
          </p:nvPr>
        </p:nvSpPr>
        <p:spPr>
          <a:xfrm>
            <a:off x="457200" y="1219200"/>
            <a:ext cx="8229600" cy="4937760"/>
          </a:xfrm>
        </p:spPr>
        <p:txBody>
          <a:bodyPr>
            <a:normAutofit/>
          </a:bodyPr>
          <a:lstStyle/>
          <a:p>
            <a:r>
              <a:rPr lang="pt-PT" dirty="0" err="1">
                <a:latin typeface="Consolas" panose="020B0609020204030204" pitchFamily="49" charset="0"/>
              </a:rPr>
              <a:t>readStream</a:t>
            </a:r>
            <a:endParaRPr lang="pt-PT" dirty="0">
              <a:latin typeface="Consolas" panose="020B0609020204030204" pitchFamily="49" charset="0"/>
            </a:endParaRPr>
          </a:p>
        </p:txBody>
      </p:sp>
    </p:spTree>
    <p:extLst>
      <p:ext uri="{BB962C8B-B14F-4D97-AF65-F5344CB8AC3E}">
        <p14:creationId xmlns:p14="http://schemas.microsoft.com/office/powerpoint/2010/main" val="1529534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9001A-D61E-9DA3-F3E3-0B2D5489257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383B1D4-D521-4AF9-950B-4AAFE3B38D1E}"/>
              </a:ext>
            </a:extLst>
          </p:cNvPr>
          <p:cNvSpPr>
            <a:spLocks noGrp="1"/>
          </p:cNvSpPr>
          <p:nvPr>
            <p:ph type="title"/>
          </p:nvPr>
        </p:nvSpPr>
        <p:spPr/>
        <p:txBody>
          <a:bodyPr/>
          <a:lstStyle/>
          <a:p>
            <a:r>
              <a:rPr lang="pt-PT" dirty="0" err="1"/>
              <a:t>MovieLens</a:t>
            </a:r>
            <a:r>
              <a:rPr lang="pt-PT" dirty="0"/>
              <a:t>: ML </a:t>
            </a:r>
            <a:r>
              <a:rPr lang="pt-PT" dirty="0" err="1"/>
              <a:t>Stream</a:t>
            </a:r>
            <a:endParaRPr lang="pt-PT" dirty="0"/>
          </a:p>
        </p:txBody>
      </p:sp>
      <p:sp>
        <p:nvSpPr>
          <p:cNvPr id="3" name="Footer Placeholder 2">
            <a:extLst>
              <a:ext uri="{FF2B5EF4-FFF2-40B4-BE49-F238E27FC236}">
                <a16:creationId xmlns:a16="http://schemas.microsoft.com/office/drawing/2014/main" id="{29C41AD1-2B25-9A44-377D-72EC6B9235F5}"/>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EC5119BB-1786-61A8-7BB2-DE00C7ABAD0E}"/>
              </a:ext>
            </a:extLst>
          </p:cNvPr>
          <p:cNvSpPr>
            <a:spLocks noGrp="1"/>
          </p:cNvSpPr>
          <p:nvPr>
            <p:ph type="sldNum" sz="quarter" idx="12"/>
          </p:nvPr>
        </p:nvSpPr>
        <p:spPr/>
        <p:txBody>
          <a:bodyPr/>
          <a:lstStyle/>
          <a:p>
            <a:fld id="{51C52B0B-E753-43CA-AAC2-5F5B7738FA84}" type="slidenum">
              <a:rPr lang="pt-PT" smtClean="0"/>
              <a:pPr/>
              <a:t>20</a:t>
            </a:fld>
            <a:endParaRPr lang="pt-PT"/>
          </a:p>
        </p:txBody>
      </p:sp>
      <p:pic>
        <p:nvPicPr>
          <p:cNvPr id="5" name="Picture 4">
            <a:extLst>
              <a:ext uri="{FF2B5EF4-FFF2-40B4-BE49-F238E27FC236}">
                <a16:creationId xmlns:a16="http://schemas.microsoft.com/office/drawing/2014/main" id="{21FBC73D-9A4E-E058-D256-6C8A9EB43475}"/>
              </a:ext>
            </a:extLst>
          </p:cNvPr>
          <p:cNvPicPr>
            <a:picLocks noChangeAspect="1"/>
          </p:cNvPicPr>
          <p:nvPr/>
        </p:nvPicPr>
        <p:blipFill>
          <a:blip r:embed="rId2"/>
          <a:stretch>
            <a:fillRect/>
          </a:stretch>
        </p:blipFill>
        <p:spPr>
          <a:xfrm>
            <a:off x="2267744" y="2924944"/>
            <a:ext cx="6020640" cy="3181794"/>
          </a:xfrm>
          <a:prstGeom prst="rect">
            <a:avLst/>
          </a:prstGeom>
        </p:spPr>
      </p:pic>
      <p:sp>
        <p:nvSpPr>
          <p:cNvPr id="7" name="Content Placeholder 4">
            <a:extLst>
              <a:ext uri="{FF2B5EF4-FFF2-40B4-BE49-F238E27FC236}">
                <a16:creationId xmlns:a16="http://schemas.microsoft.com/office/drawing/2014/main" id="{7037B734-2910-E7DB-A707-033051C4B277}"/>
              </a:ext>
            </a:extLst>
          </p:cNvPr>
          <p:cNvSpPr>
            <a:spLocks noGrp="1"/>
          </p:cNvSpPr>
          <p:nvPr>
            <p:ph sz="quarter" idx="1"/>
          </p:nvPr>
        </p:nvSpPr>
        <p:spPr>
          <a:xfrm>
            <a:off x="457200" y="1219200"/>
            <a:ext cx="8229600" cy="4937760"/>
          </a:xfrm>
        </p:spPr>
        <p:txBody>
          <a:bodyPr>
            <a:normAutofit/>
          </a:bodyPr>
          <a:lstStyle/>
          <a:p>
            <a:r>
              <a:rPr lang="pt-PT" dirty="0" err="1">
                <a:latin typeface="Consolas" panose="020B0609020204030204" pitchFamily="49" charset="0"/>
              </a:rPr>
              <a:t>ProcessBatch</a:t>
            </a:r>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writeStream</a:t>
            </a:r>
            <a:endParaRPr lang="pt-PT" dirty="0">
              <a:latin typeface="Consolas" panose="020B0609020204030204" pitchFamily="49" charset="0"/>
            </a:endParaRPr>
          </a:p>
        </p:txBody>
      </p:sp>
    </p:spTree>
    <p:extLst>
      <p:ext uri="{BB962C8B-B14F-4D97-AF65-F5344CB8AC3E}">
        <p14:creationId xmlns:p14="http://schemas.microsoft.com/office/powerpoint/2010/main" val="1693674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6E7DC-30B5-0436-1EED-F2CF2E7E1C9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0657E9E-9BB5-FFBB-A9E8-056435C0D826}"/>
              </a:ext>
            </a:extLst>
          </p:cNvPr>
          <p:cNvSpPr>
            <a:spLocks noGrp="1"/>
          </p:cNvSpPr>
          <p:nvPr>
            <p:ph type="title"/>
          </p:nvPr>
        </p:nvSpPr>
        <p:spPr/>
        <p:txBody>
          <a:bodyPr/>
          <a:lstStyle/>
          <a:p>
            <a:r>
              <a:rPr lang="pt-PT" dirty="0" err="1"/>
              <a:t>MovieLens</a:t>
            </a:r>
            <a:r>
              <a:rPr lang="pt-PT" dirty="0"/>
              <a:t>: </a:t>
            </a:r>
            <a:r>
              <a:rPr lang="pt-PT" dirty="0" err="1"/>
              <a:t>Train</a:t>
            </a:r>
            <a:r>
              <a:rPr lang="pt-PT" dirty="0"/>
              <a:t> </a:t>
            </a:r>
            <a:r>
              <a:rPr lang="pt-PT" dirty="0" err="1"/>
              <a:t>Model</a:t>
            </a:r>
            <a:endParaRPr lang="pt-PT" dirty="0"/>
          </a:p>
        </p:txBody>
      </p:sp>
      <p:sp>
        <p:nvSpPr>
          <p:cNvPr id="3" name="Footer Placeholder 2">
            <a:extLst>
              <a:ext uri="{FF2B5EF4-FFF2-40B4-BE49-F238E27FC236}">
                <a16:creationId xmlns:a16="http://schemas.microsoft.com/office/drawing/2014/main" id="{5D3BC629-CE77-F56A-EBA5-CDE035B082AE}"/>
              </a:ext>
            </a:extLst>
          </p:cNvPr>
          <p:cNvSpPr>
            <a:spLocks noGrp="1"/>
          </p:cNvSpPr>
          <p:nvPr>
            <p:ph type="ftr" sz="quarter" idx="11"/>
          </p:nvPr>
        </p:nvSpPr>
        <p:spPr/>
        <p:txBody>
          <a:bodyPr/>
          <a:lstStyle/>
          <a:p>
            <a:r>
              <a:rPr lang="pt-PT"/>
              <a:t>BigData - João Costa</a:t>
            </a:r>
            <a:endParaRPr lang="pt-PT" dirty="0"/>
          </a:p>
        </p:txBody>
      </p:sp>
      <p:sp>
        <p:nvSpPr>
          <p:cNvPr id="4" name="Slide Number Placeholder 3">
            <a:extLst>
              <a:ext uri="{FF2B5EF4-FFF2-40B4-BE49-F238E27FC236}">
                <a16:creationId xmlns:a16="http://schemas.microsoft.com/office/drawing/2014/main" id="{92557774-DBC5-81D4-7943-079B401DAF96}"/>
              </a:ext>
            </a:extLst>
          </p:cNvPr>
          <p:cNvSpPr>
            <a:spLocks noGrp="1"/>
          </p:cNvSpPr>
          <p:nvPr>
            <p:ph type="sldNum" sz="quarter" idx="12"/>
          </p:nvPr>
        </p:nvSpPr>
        <p:spPr/>
        <p:txBody>
          <a:bodyPr/>
          <a:lstStyle/>
          <a:p>
            <a:fld id="{51C52B0B-E753-43CA-AAC2-5F5B7738FA84}" type="slidenum">
              <a:rPr lang="pt-PT" smtClean="0"/>
              <a:pPr/>
              <a:t>21</a:t>
            </a:fld>
            <a:endParaRPr lang="pt-PT"/>
          </a:p>
        </p:txBody>
      </p:sp>
      <p:sp>
        <p:nvSpPr>
          <p:cNvPr id="11" name="Content Placeholder 10">
            <a:extLst>
              <a:ext uri="{FF2B5EF4-FFF2-40B4-BE49-F238E27FC236}">
                <a16:creationId xmlns:a16="http://schemas.microsoft.com/office/drawing/2014/main" id="{CBFAB7F4-917D-98C1-D735-265D6CCEAE73}"/>
              </a:ext>
            </a:extLst>
          </p:cNvPr>
          <p:cNvSpPr>
            <a:spLocks noGrp="1"/>
          </p:cNvSpPr>
          <p:nvPr>
            <p:ph sz="quarter" idx="1"/>
          </p:nvPr>
        </p:nvSpPr>
        <p:spPr/>
        <p:txBody>
          <a:bodyPr>
            <a:normAutofit/>
          </a:bodyPr>
          <a:lstStyle/>
          <a:p>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Read</a:t>
            </a:r>
            <a:r>
              <a:rPr lang="pt-PT" dirty="0">
                <a:latin typeface="Consolas" panose="020B0609020204030204" pitchFamily="49" charset="0"/>
              </a:rPr>
              <a:t> files </a:t>
            </a:r>
            <a:r>
              <a:rPr lang="pt-PT" dirty="0" err="1">
                <a:latin typeface="Consolas" panose="020B0609020204030204" pitchFamily="49" charset="0"/>
              </a:rPr>
              <a:t>from</a:t>
            </a:r>
            <a:r>
              <a:rPr lang="pt-PT" dirty="0">
                <a:latin typeface="Consolas" panose="020B0609020204030204" pitchFamily="49" charset="0"/>
              </a:rPr>
              <a:t> HDFS </a:t>
            </a:r>
            <a:r>
              <a:rPr lang="pt-PT" dirty="0" err="1">
                <a:latin typeface="Consolas" panose="020B0609020204030204" pitchFamily="49" charset="0"/>
              </a:rPr>
              <a:t>folder</a:t>
            </a:r>
            <a:r>
              <a:rPr lang="pt-PT" dirty="0">
                <a:latin typeface="Consolas" panose="020B0609020204030204" pitchFamily="49" charset="0"/>
              </a:rPr>
              <a:t> </a:t>
            </a:r>
          </a:p>
          <a:p>
            <a:endParaRPr lang="pt-PT" dirty="0">
              <a:latin typeface="Consolas" panose="020B0609020204030204" pitchFamily="49" charset="0"/>
            </a:endParaRPr>
          </a:p>
          <a:p>
            <a:pPr algn="ctr"/>
            <a:r>
              <a:rPr lang="pt-PT" dirty="0" err="1">
                <a:latin typeface="Consolas" panose="020B0609020204030204" pitchFamily="49" charset="0"/>
              </a:rPr>
              <a:t>Train</a:t>
            </a:r>
            <a:r>
              <a:rPr lang="pt-PT" dirty="0">
                <a:latin typeface="Consolas" panose="020B0609020204030204" pitchFamily="49" charset="0"/>
              </a:rPr>
              <a:t> </a:t>
            </a:r>
            <a:r>
              <a:rPr lang="pt-PT" dirty="0" err="1">
                <a:latin typeface="Consolas" panose="020B0609020204030204" pitchFamily="49" charset="0"/>
              </a:rPr>
              <a:t>Model</a:t>
            </a:r>
            <a:endParaRPr lang="pt-PT" dirty="0">
              <a:latin typeface="Consolas" panose="020B0609020204030204" pitchFamily="49" charset="0"/>
            </a:endParaRPr>
          </a:p>
          <a:p>
            <a:pPr algn="ctr"/>
            <a:endParaRPr lang="pt-PT" dirty="0">
              <a:latin typeface="Consolas" panose="020B0609020204030204" pitchFamily="49" charset="0"/>
            </a:endParaRPr>
          </a:p>
          <a:p>
            <a:pPr algn="ctr"/>
            <a:endParaRPr lang="pt-PT" dirty="0">
              <a:latin typeface="Consolas" panose="020B0609020204030204" pitchFamily="49" charset="0"/>
            </a:endParaRPr>
          </a:p>
          <a:p>
            <a:pPr algn="ctr"/>
            <a:endParaRPr lang="pt-PT" dirty="0">
              <a:latin typeface="Consolas" panose="020B0609020204030204" pitchFamily="49" charset="0"/>
            </a:endParaRPr>
          </a:p>
          <a:p>
            <a:pPr algn="ctr"/>
            <a:endParaRPr lang="pt-PT" dirty="0">
              <a:latin typeface="Consolas" panose="020B0609020204030204" pitchFamily="49" charset="0"/>
            </a:endParaRPr>
          </a:p>
          <a:p>
            <a:pPr algn="r"/>
            <a:r>
              <a:rPr lang="pt-PT" dirty="0">
                <a:latin typeface="Consolas" panose="020B0609020204030204" pitchFamily="49" charset="0"/>
              </a:rPr>
              <a:t>Save </a:t>
            </a:r>
            <a:r>
              <a:rPr lang="pt-PT" dirty="0" err="1">
                <a:latin typeface="Consolas" panose="020B0609020204030204" pitchFamily="49" charset="0"/>
              </a:rPr>
              <a:t>Model</a:t>
            </a:r>
            <a:endParaRPr lang="pt-PT" dirty="0">
              <a:latin typeface="Consolas" panose="020B0609020204030204" pitchFamily="49" charset="0"/>
            </a:endParaRPr>
          </a:p>
        </p:txBody>
      </p:sp>
      <p:sp>
        <p:nvSpPr>
          <p:cNvPr id="7" name="Flowchart: Magnetic Disk 6">
            <a:extLst>
              <a:ext uri="{FF2B5EF4-FFF2-40B4-BE49-F238E27FC236}">
                <a16:creationId xmlns:a16="http://schemas.microsoft.com/office/drawing/2014/main" id="{D84EA42E-19F2-AF56-7FB5-C217C7F32E2C}"/>
              </a:ext>
            </a:extLst>
          </p:cNvPr>
          <p:cNvSpPr/>
          <p:nvPr/>
        </p:nvSpPr>
        <p:spPr>
          <a:xfrm>
            <a:off x="6924454" y="3789040"/>
            <a:ext cx="1224136" cy="13681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latin typeface="Consolas" panose="020B0609020204030204" pitchFamily="49" charset="0"/>
              </a:rPr>
              <a:t>Model Saved</a:t>
            </a:r>
          </a:p>
        </p:txBody>
      </p:sp>
      <p:sp>
        <p:nvSpPr>
          <p:cNvPr id="8" name="Flowchart: Multidocument 7">
            <a:extLst>
              <a:ext uri="{FF2B5EF4-FFF2-40B4-BE49-F238E27FC236}">
                <a16:creationId xmlns:a16="http://schemas.microsoft.com/office/drawing/2014/main" id="{C68FF62F-CE00-9055-8825-7817D12FA5B0}"/>
              </a:ext>
            </a:extLst>
          </p:cNvPr>
          <p:cNvSpPr/>
          <p:nvPr/>
        </p:nvSpPr>
        <p:spPr>
          <a:xfrm>
            <a:off x="731766" y="3933056"/>
            <a:ext cx="1169296" cy="129614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Historical Past Data</a:t>
            </a:r>
          </a:p>
        </p:txBody>
      </p:sp>
      <p:sp>
        <p:nvSpPr>
          <p:cNvPr id="5" name="Arrow: Chevron 4">
            <a:extLst>
              <a:ext uri="{FF2B5EF4-FFF2-40B4-BE49-F238E27FC236}">
                <a16:creationId xmlns:a16="http://schemas.microsoft.com/office/drawing/2014/main" id="{883531E6-42F9-EDF8-B670-400CA3D47BDA}"/>
              </a:ext>
            </a:extLst>
          </p:cNvPr>
          <p:cNvSpPr/>
          <p:nvPr/>
        </p:nvSpPr>
        <p:spPr>
          <a:xfrm>
            <a:off x="2243934"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400" b="1" dirty="0" err="1">
                <a:solidFill>
                  <a:schemeClr val="tx1"/>
                </a:solidFill>
                <a:latin typeface="Consolas" panose="020B0609020204030204" pitchFamily="49" charset="0"/>
              </a:rPr>
              <a:t>Read</a:t>
            </a:r>
            <a:endParaRPr lang="pt-PT" sz="1400" b="1" dirty="0">
              <a:solidFill>
                <a:schemeClr val="tx1"/>
              </a:solidFill>
              <a:latin typeface="Consolas" panose="020B0609020204030204" pitchFamily="49" charset="0"/>
            </a:endParaRPr>
          </a:p>
        </p:txBody>
      </p:sp>
      <p:sp>
        <p:nvSpPr>
          <p:cNvPr id="9" name="Arrow: Chevron 8">
            <a:extLst>
              <a:ext uri="{FF2B5EF4-FFF2-40B4-BE49-F238E27FC236}">
                <a16:creationId xmlns:a16="http://schemas.microsoft.com/office/drawing/2014/main" id="{0FED9C1D-19DE-E4E4-D7A5-0647CCED11FA}"/>
              </a:ext>
            </a:extLst>
          </p:cNvPr>
          <p:cNvSpPr/>
          <p:nvPr/>
        </p:nvSpPr>
        <p:spPr>
          <a:xfrm>
            <a:off x="5323111" y="4293096"/>
            <a:ext cx="1169295" cy="576064"/>
          </a:xfrm>
          <a:prstGeom prst="chevron">
            <a:avLst/>
          </a:prstGeom>
        </p:spPr>
        <p:style>
          <a:lnRef idx="1">
            <a:schemeClr val="accent2"/>
          </a:lnRef>
          <a:fillRef idx="2">
            <a:schemeClr val="accent2"/>
          </a:fillRef>
          <a:effectRef idx="1">
            <a:schemeClr val="accent2"/>
          </a:effectRef>
          <a:fontRef idx="minor">
            <a:schemeClr val="dk1"/>
          </a:fontRef>
        </p:style>
        <p:txBody>
          <a:bodyPr wrap="none" lIns="0" tIns="0" rIns="0" bIns="0" rtlCol="0" anchor="ctr"/>
          <a:lstStyle/>
          <a:p>
            <a:pPr algn="ctr"/>
            <a:r>
              <a:rPr lang="pt-PT" sz="1400" b="1" dirty="0">
                <a:solidFill>
                  <a:schemeClr val="tx1"/>
                </a:solidFill>
                <a:latin typeface="Consolas" panose="020B0609020204030204" pitchFamily="49" charset="0"/>
              </a:rPr>
              <a:t>Save </a:t>
            </a:r>
          </a:p>
          <a:p>
            <a:pPr algn="ctr"/>
            <a:r>
              <a:rPr lang="pt-PT" sz="1400" b="1" dirty="0" err="1">
                <a:solidFill>
                  <a:schemeClr val="tx1"/>
                </a:solidFill>
                <a:latin typeface="Consolas" panose="020B0609020204030204" pitchFamily="49" charset="0"/>
              </a:rPr>
              <a:t>Model</a:t>
            </a:r>
            <a:endParaRPr lang="pt-PT" sz="1400" b="1" dirty="0">
              <a:solidFill>
                <a:schemeClr val="tx1"/>
              </a:solidFill>
              <a:latin typeface="Consolas" panose="020B0609020204030204" pitchFamily="49" charset="0"/>
            </a:endParaRPr>
          </a:p>
        </p:txBody>
      </p:sp>
      <p:sp>
        <p:nvSpPr>
          <p:cNvPr id="10" name="Sun 9">
            <a:extLst>
              <a:ext uri="{FF2B5EF4-FFF2-40B4-BE49-F238E27FC236}">
                <a16:creationId xmlns:a16="http://schemas.microsoft.com/office/drawing/2014/main" id="{BF903BBD-0D3D-B5A8-6ECD-BBE34B8DF1A9}"/>
              </a:ext>
            </a:extLst>
          </p:cNvPr>
          <p:cNvSpPr/>
          <p:nvPr/>
        </p:nvSpPr>
        <p:spPr>
          <a:xfrm>
            <a:off x="3601959" y="3819114"/>
            <a:ext cx="1594303" cy="1482094"/>
          </a:xfrm>
          <a:prstGeom prst="sun">
            <a:avLst>
              <a:gd name="adj" fmla="val 19587"/>
            </a:avLst>
          </a:prstGeom>
        </p:spPr>
        <p:style>
          <a:lnRef idx="1">
            <a:schemeClr val="accent2"/>
          </a:lnRef>
          <a:fillRef idx="2">
            <a:schemeClr val="accent2"/>
          </a:fillRef>
          <a:effectRef idx="1">
            <a:schemeClr val="accent2"/>
          </a:effectRef>
          <a:fontRef idx="minor">
            <a:schemeClr val="dk1"/>
          </a:fontRef>
        </p:style>
        <p:txBody>
          <a:bodyPr wrap="none" lIns="36000" tIns="36000" rIns="36000" bIns="36000" rtlCol="0" anchor="ctr"/>
          <a:lstStyle/>
          <a:p>
            <a:pPr algn="ctr"/>
            <a:r>
              <a:rPr lang="pt-PT" sz="1400" b="1" dirty="0" err="1">
                <a:latin typeface="Consolas" panose="020B0609020204030204" pitchFamily="49" charset="0"/>
              </a:rPr>
              <a:t>Train</a:t>
            </a:r>
            <a:endParaRPr lang="pt-PT" sz="1400" b="1" dirty="0">
              <a:latin typeface="Consolas" panose="020B0609020204030204" pitchFamily="49" charset="0"/>
            </a:endParaRPr>
          </a:p>
          <a:p>
            <a:pPr algn="ctr"/>
            <a:r>
              <a:rPr lang="pt-PT" sz="1400" b="1" dirty="0" err="1">
                <a:latin typeface="Consolas" panose="020B0609020204030204" pitchFamily="49" charset="0"/>
              </a:rPr>
              <a:t>Model</a:t>
            </a:r>
            <a:endParaRPr lang="pt-PT" sz="1400" b="1" dirty="0">
              <a:latin typeface="Consolas" panose="020B0609020204030204" pitchFamily="49" charset="0"/>
            </a:endParaRPr>
          </a:p>
        </p:txBody>
      </p:sp>
    </p:spTree>
    <p:extLst>
      <p:ext uri="{BB962C8B-B14F-4D97-AF65-F5344CB8AC3E}">
        <p14:creationId xmlns:p14="http://schemas.microsoft.com/office/powerpoint/2010/main" val="3312090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BigData</a:t>
            </a:r>
            <a:r>
              <a:rPr lang="en-US" dirty="0"/>
              <a:t> - …Vs</a:t>
            </a:r>
            <a:endParaRPr lang="pt-PT" dirty="0"/>
          </a:p>
        </p:txBody>
      </p:sp>
      <p:sp>
        <p:nvSpPr>
          <p:cNvPr id="6" name="Footer Placeholder 5"/>
          <p:cNvSpPr>
            <a:spLocks noGrp="1"/>
          </p:cNvSpPr>
          <p:nvPr>
            <p:ph type="ftr" sz="quarter" idx="11"/>
          </p:nvPr>
        </p:nvSpPr>
        <p:spPr/>
        <p:txBody>
          <a:bodyPr/>
          <a:lstStyle/>
          <a:p>
            <a:r>
              <a:rPr lang="pt-PT" dirty="0" err="1"/>
              <a:t>BigData</a:t>
            </a:r>
            <a:r>
              <a:rPr lang="pt-PT" dirty="0"/>
              <a:t> - João Costa</a:t>
            </a:r>
          </a:p>
        </p:txBody>
      </p:sp>
      <p:sp>
        <p:nvSpPr>
          <p:cNvPr id="7" name="Slide Number Placeholder 6"/>
          <p:cNvSpPr>
            <a:spLocks noGrp="1"/>
          </p:cNvSpPr>
          <p:nvPr>
            <p:ph type="sldNum" sz="quarter" idx="12"/>
          </p:nvPr>
        </p:nvSpPr>
        <p:spPr/>
        <p:txBody>
          <a:bodyPr/>
          <a:lstStyle/>
          <a:p>
            <a:fld id="{51C52B0B-E753-43CA-AAC2-5F5B7738FA84}" type="slidenum">
              <a:rPr lang="pt-PT" smtClean="0"/>
              <a:pPr/>
              <a:t>22</a:t>
            </a:fld>
            <a:endParaRPr lang="pt-PT"/>
          </a:p>
        </p:txBody>
      </p:sp>
      <p:sp>
        <p:nvSpPr>
          <p:cNvPr id="4" name="Content Placeholder 3"/>
          <p:cNvSpPr>
            <a:spLocks noGrp="1"/>
          </p:cNvSpPr>
          <p:nvPr>
            <p:ph sz="quarter" idx="1"/>
          </p:nvPr>
        </p:nvSpPr>
        <p:spPr>
          <a:xfrm>
            <a:off x="457200" y="1219200"/>
            <a:ext cx="8579296" cy="4937760"/>
          </a:xfrm>
        </p:spPr>
        <p:txBody>
          <a:bodyPr>
            <a:noAutofit/>
          </a:bodyPr>
          <a:lstStyle/>
          <a:p>
            <a:pPr>
              <a:lnSpc>
                <a:spcPct val="110000"/>
              </a:lnSpc>
            </a:pPr>
            <a:r>
              <a:rPr lang="en-US" sz="1500" b="1" dirty="0">
                <a:latin typeface="Consolas" panose="020B0609020204030204" pitchFamily="49" charset="0"/>
              </a:rPr>
              <a:t>Velocity -</a:t>
            </a:r>
            <a:r>
              <a:rPr lang="en-US" sz="1500" dirty="0">
                <a:latin typeface="Consolas" panose="020B0609020204030204" pitchFamily="49" charset="0"/>
              </a:rPr>
              <a:t> the speed at which data is generated, collected and analyzed.</a:t>
            </a:r>
          </a:p>
          <a:p>
            <a:pPr>
              <a:lnSpc>
                <a:spcPct val="110000"/>
              </a:lnSpc>
            </a:pPr>
            <a:r>
              <a:rPr lang="en-US" sz="1500" b="1" dirty="0">
                <a:latin typeface="Consolas" panose="020B0609020204030204" pitchFamily="49" charset="0"/>
              </a:rPr>
              <a:t>Volume -</a:t>
            </a:r>
            <a:r>
              <a:rPr lang="en-US" sz="1500" dirty="0">
                <a:latin typeface="Consolas" panose="020B0609020204030204" pitchFamily="49" charset="0"/>
              </a:rPr>
              <a:t> the amount of data generated each second. Volume in tools such as social media, credit cards, phones, photographs</a:t>
            </a:r>
          </a:p>
          <a:p>
            <a:pPr>
              <a:lnSpc>
                <a:spcPct val="110000"/>
              </a:lnSpc>
            </a:pPr>
            <a:r>
              <a:rPr lang="en-US" sz="1500" b="1" dirty="0">
                <a:latin typeface="Consolas" panose="020B0609020204030204" pitchFamily="49" charset="0"/>
              </a:rPr>
              <a:t>Value</a:t>
            </a:r>
            <a:r>
              <a:rPr lang="en-US" sz="1500" dirty="0">
                <a:latin typeface="Consolas" panose="020B0609020204030204" pitchFamily="49" charset="0"/>
              </a:rPr>
              <a:t> - worth of the extracted data. data is useless unless you used correctly</a:t>
            </a:r>
          </a:p>
          <a:p>
            <a:pPr>
              <a:lnSpc>
                <a:spcPct val="110000"/>
              </a:lnSpc>
            </a:pPr>
            <a:r>
              <a:rPr lang="en-US" sz="1500" b="1" dirty="0">
                <a:latin typeface="Consolas" panose="020B0609020204030204" pitchFamily="49" charset="0"/>
              </a:rPr>
              <a:t>Variety</a:t>
            </a:r>
            <a:r>
              <a:rPr lang="en-US" sz="1500" dirty="0">
                <a:latin typeface="Consolas" panose="020B0609020204030204" pitchFamily="49" charset="0"/>
              </a:rPr>
              <a:t>, this describes the different types of data generated. Largely used in reference to unstructured data such as images or social media posts</a:t>
            </a:r>
          </a:p>
          <a:p>
            <a:pPr>
              <a:lnSpc>
                <a:spcPct val="110000"/>
              </a:lnSpc>
            </a:pPr>
            <a:r>
              <a:rPr lang="en-US" sz="1500" b="1" dirty="0">
                <a:latin typeface="Consolas" panose="020B0609020204030204" pitchFamily="49" charset="0"/>
              </a:rPr>
              <a:t>Veracity</a:t>
            </a:r>
            <a:r>
              <a:rPr lang="en-US" sz="1500" dirty="0">
                <a:latin typeface="Consolas" panose="020B0609020204030204" pitchFamily="49" charset="0"/>
              </a:rPr>
              <a:t> - how trustworthy data is. Inaccurate, or poor-quality data, is of little use</a:t>
            </a:r>
          </a:p>
          <a:p>
            <a:pPr>
              <a:lnSpc>
                <a:spcPct val="110000"/>
              </a:lnSpc>
            </a:pPr>
            <a:r>
              <a:rPr lang="en-US" sz="1500" b="1" dirty="0">
                <a:latin typeface="Consolas" panose="020B0609020204030204" pitchFamily="49" charset="0"/>
              </a:rPr>
              <a:t>Validity</a:t>
            </a:r>
            <a:r>
              <a:rPr lang="en-US" sz="1500" dirty="0">
                <a:latin typeface="Consolas" panose="020B0609020204030204" pitchFamily="49" charset="0"/>
              </a:rPr>
              <a:t> - like veracity this tells how accurate the data is for intended use</a:t>
            </a:r>
          </a:p>
          <a:p>
            <a:pPr>
              <a:lnSpc>
                <a:spcPct val="110000"/>
              </a:lnSpc>
            </a:pPr>
            <a:r>
              <a:rPr lang="en-US" sz="1500" b="1" dirty="0">
                <a:latin typeface="Consolas" panose="020B0609020204030204" pitchFamily="49" charset="0"/>
              </a:rPr>
              <a:t>Volatility - </a:t>
            </a:r>
            <a:r>
              <a:rPr lang="en-US" sz="1500" dirty="0">
                <a:latin typeface="Consolas" panose="020B0609020204030204" pitchFamily="49" charset="0"/>
              </a:rPr>
              <a:t>refers to the age of the data. As fresh data generated even minute can quickly become irrelevant or historic. Volatility also refers to how long data needs to be kept before it can be discarded or archived.</a:t>
            </a:r>
          </a:p>
          <a:p>
            <a:pPr>
              <a:lnSpc>
                <a:spcPct val="110000"/>
              </a:lnSpc>
            </a:pPr>
            <a:r>
              <a:rPr lang="en-US" sz="1500" b="1" dirty="0" err="1">
                <a:latin typeface="Consolas" panose="020B0609020204030204" pitchFamily="49" charset="0"/>
              </a:rPr>
              <a:t>Visualisation</a:t>
            </a:r>
            <a:r>
              <a:rPr lang="en-US" sz="1500" b="1" dirty="0">
                <a:latin typeface="Consolas" panose="020B0609020204030204" pitchFamily="49" charset="0"/>
              </a:rPr>
              <a:t> - </a:t>
            </a:r>
            <a:r>
              <a:rPr lang="en-US" sz="1500" dirty="0">
                <a:latin typeface="Consolas" panose="020B0609020204030204" pitchFamily="49" charset="0"/>
              </a:rPr>
              <a:t>how challenging data can be to use. Limitations such as poor scalability or functionality can impact on visualization. Datasets can be large and vast. This makes it complicated to use or visualize in a meaningful way.</a:t>
            </a:r>
          </a:p>
        </p:txBody>
      </p:sp>
    </p:spTree>
    <p:extLst>
      <p:ext uri="{BB962C8B-B14F-4D97-AF65-F5344CB8AC3E}">
        <p14:creationId xmlns:p14="http://schemas.microsoft.com/office/powerpoint/2010/main" val="2093373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err="1"/>
              <a:t>BigData</a:t>
            </a:r>
            <a:r>
              <a:rPr lang="pt-PT" dirty="0"/>
              <a:t> Project </a:t>
            </a:r>
          </a:p>
        </p:txBody>
      </p:sp>
      <p:sp>
        <p:nvSpPr>
          <p:cNvPr id="5" name="Cloud Callout 4"/>
          <p:cNvSpPr/>
          <p:nvPr/>
        </p:nvSpPr>
        <p:spPr>
          <a:xfrm>
            <a:off x="4927685" y="1373600"/>
            <a:ext cx="2161548" cy="1047287"/>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Do I need Big Data Project?</a:t>
            </a:r>
            <a:endParaRPr lang="pt-PT" dirty="0">
              <a:latin typeface="Consolas" panose="020B0609020204030204" pitchFamily="49" charset="0"/>
            </a:endParaRPr>
          </a:p>
        </p:txBody>
      </p:sp>
      <p:sp>
        <p:nvSpPr>
          <p:cNvPr id="4" name="Footer Placeholder 3"/>
          <p:cNvSpPr>
            <a:spLocks noGrp="1"/>
          </p:cNvSpPr>
          <p:nvPr>
            <p:ph type="ftr" sz="quarter" idx="11"/>
          </p:nvPr>
        </p:nvSpPr>
        <p:spPr/>
        <p:txBody>
          <a:bodyPr/>
          <a:lstStyle/>
          <a:p>
            <a:r>
              <a:rPr lang="pt-PT" dirty="0" err="1"/>
              <a:t>BigData</a:t>
            </a:r>
            <a:r>
              <a:rPr lang="pt-PT" dirty="0"/>
              <a:t> - João Costa</a:t>
            </a:r>
          </a:p>
        </p:txBody>
      </p:sp>
      <p:sp>
        <p:nvSpPr>
          <p:cNvPr id="6" name="Slide Number Placeholder 5"/>
          <p:cNvSpPr>
            <a:spLocks noGrp="1"/>
          </p:cNvSpPr>
          <p:nvPr>
            <p:ph type="sldNum" sz="quarter" idx="12"/>
          </p:nvPr>
        </p:nvSpPr>
        <p:spPr/>
        <p:txBody>
          <a:bodyPr/>
          <a:lstStyle/>
          <a:p>
            <a:fld id="{51C52B0B-E753-43CA-AAC2-5F5B7738FA84}" type="slidenum">
              <a:rPr lang="pt-PT" smtClean="0"/>
              <a:pPr/>
              <a:t>23</a:t>
            </a:fld>
            <a:endParaRPr lang="pt-PT"/>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8393" y="1931150"/>
            <a:ext cx="1933575" cy="2362200"/>
          </a:xfrm>
          <a:prstGeom prst="rect">
            <a:avLst/>
          </a:prstGeom>
        </p:spPr>
      </p:pic>
      <p:sp>
        <p:nvSpPr>
          <p:cNvPr id="8" name="Cloud Callout 7"/>
          <p:cNvSpPr/>
          <p:nvPr/>
        </p:nvSpPr>
        <p:spPr>
          <a:xfrm>
            <a:off x="4788025" y="2924944"/>
            <a:ext cx="2232247" cy="1047287"/>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What data do I have?</a:t>
            </a:r>
            <a:endParaRPr lang="pt-PT" dirty="0">
              <a:latin typeface="Consolas" panose="020B0609020204030204" pitchFamily="49" charset="0"/>
            </a:endParaRPr>
          </a:p>
        </p:txBody>
      </p:sp>
      <p:sp>
        <p:nvSpPr>
          <p:cNvPr id="9" name="Cloud Callout 8"/>
          <p:cNvSpPr/>
          <p:nvPr/>
        </p:nvSpPr>
        <p:spPr>
          <a:xfrm>
            <a:off x="4776689" y="4483887"/>
            <a:ext cx="2243583" cy="1047287"/>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What data do I need?</a:t>
            </a:r>
            <a:endParaRPr lang="pt-PT" dirty="0">
              <a:latin typeface="Consolas" panose="020B0609020204030204" pitchFamily="49" charset="0"/>
            </a:endParaRPr>
          </a:p>
        </p:txBody>
      </p:sp>
      <p:sp>
        <p:nvSpPr>
          <p:cNvPr id="10" name="Cloud Callout 9"/>
          <p:cNvSpPr/>
          <p:nvPr/>
        </p:nvSpPr>
        <p:spPr>
          <a:xfrm>
            <a:off x="457201" y="1242513"/>
            <a:ext cx="2061192" cy="1047287"/>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What’s the goal?</a:t>
            </a:r>
            <a:endParaRPr lang="pt-PT" dirty="0">
              <a:latin typeface="Consolas" panose="020B0609020204030204" pitchFamily="49" charset="0"/>
            </a:endParaRPr>
          </a:p>
        </p:txBody>
      </p:sp>
      <p:sp>
        <p:nvSpPr>
          <p:cNvPr id="11" name="Cloud Callout 10"/>
          <p:cNvSpPr/>
          <p:nvPr/>
        </p:nvSpPr>
        <p:spPr>
          <a:xfrm>
            <a:off x="457200" y="3304933"/>
            <a:ext cx="2242592" cy="1047287"/>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What’s the value?</a:t>
            </a:r>
            <a:endParaRPr lang="pt-PT" dirty="0">
              <a:latin typeface="Consolas" panose="020B0609020204030204" pitchFamily="49" charset="0"/>
            </a:endParaRPr>
          </a:p>
        </p:txBody>
      </p:sp>
    </p:spTree>
    <p:extLst>
      <p:ext uri="{BB962C8B-B14F-4D97-AF65-F5344CB8AC3E}">
        <p14:creationId xmlns:p14="http://schemas.microsoft.com/office/powerpoint/2010/main" val="3485559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Trabalho prático</a:t>
            </a:r>
          </a:p>
        </p:txBody>
      </p:sp>
      <p:sp>
        <p:nvSpPr>
          <p:cNvPr id="3" name="Footer Placeholder 2"/>
          <p:cNvSpPr>
            <a:spLocks noGrp="1"/>
          </p:cNvSpPr>
          <p:nvPr>
            <p:ph type="ftr" sz="quarter" idx="11"/>
          </p:nvPr>
        </p:nvSpPr>
        <p:spPr/>
        <p:txBody>
          <a:bodyPr/>
          <a:lstStyle/>
          <a:p>
            <a:r>
              <a:rPr lang="pt-PT" dirty="0" err="1"/>
              <a:t>BigData</a:t>
            </a:r>
            <a:r>
              <a:rPr lang="pt-PT" dirty="0"/>
              <a:t> - João Costa</a:t>
            </a:r>
          </a:p>
        </p:txBody>
      </p:sp>
      <p:sp>
        <p:nvSpPr>
          <p:cNvPr id="4" name="Slide Number Placeholder 3"/>
          <p:cNvSpPr>
            <a:spLocks noGrp="1"/>
          </p:cNvSpPr>
          <p:nvPr>
            <p:ph type="sldNum" sz="quarter" idx="12"/>
          </p:nvPr>
        </p:nvSpPr>
        <p:spPr/>
        <p:txBody>
          <a:bodyPr/>
          <a:lstStyle/>
          <a:p>
            <a:fld id="{51C52B0B-E753-43CA-AAC2-5F5B7738FA84}" type="slidenum">
              <a:rPr lang="pt-PT" smtClean="0"/>
              <a:pPr/>
              <a:t>24</a:t>
            </a:fld>
            <a:endParaRPr lang="pt-PT"/>
          </a:p>
        </p:txBody>
      </p:sp>
      <p:sp>
        <p:nvSpPr>
          <p:cNvPr id="5" name="Content Placeholder 4"/>
          <p:cNvSpPr>
            <a:spLocks noGrp="1"/>
          </p:cNvSpPr>
          <p:nvPr>
            <p:ph sz="quarter" idx="1"/>
          </p:nvPr>
        </p:nvSpPr>
        <p:spPr>
          <a:xfrm>
            <a:off x="457200" y="1219200"/>
            <a:ext cx="8507288" cy="5018112"/>
          </a:xfrm>
        </p:spPr>
        <p:txBody>
          <a:bodyPr>
            <a:normAutofit/>
          </a:bodyPr>
          <a:lstStyle/>
          <a:p>
            <a:pPr marL="0" indent="0" algn="just">
              <a:lnSpc>
                <a:spcPct val="120000"/>
              </a:lnSpc>
              <a:spcBef>
                <a:spcPts val="0"/>
              </a:spcBef>
              <a:buNone/>
            </a:pPr>
            <a:r>
              <a:rPr lang="pt-PT" sz="2000" b="1" dirty="0">
                <a:latin typeface="Consolas" panose="020B0609020204030204" pitchFamily="49" charset="0"/>
              </a:rPr>
              <a:t>Recolha/processamento de dados na plataforma bigdata (HDFS, </a:t>
            </a:r>
            <a:r>
              <a:rPr lang="pt-PT" sz="2000" b="1" dirty="0" err="1">
                <a:latin typeface="Consolas" panose="020B0609020204030204" pitchFamily="49" charset="0"/>
              </a:rPr>
              <a:t>Spark</a:t>
            </a:r>
            <a:r>
              <a:rPr lang="pt-PT" sz="2000" b="1" dirty="0">
                <a:latin typeface="Consolas" panose="020B0609020204030204" pitchFamily="49" charset="0"/>
              </a:rPr>
              <a:t>,...)</a:t>
            </a:r>
          </a:p>
          <a:p>
            <a:r>
              <a:rPr lang="pt-PT" sz="1800" dirty="0">
                <a:latin typeface="Consolas" panose="020B0609020204030204" pitchFamily="49" charset="0"/>
              </a:rPr>
              <a:t>escolher um </a:t>
            </a:r>
            <a:r>
              <a:rPr lang="pt-PT" sz="1800" dirty="0" err="1">
                <a:latin typeface="Consolas" panose="020B0609020204030204" pitchFamily="49" charset="0"/>
              </a:rPr>
              <a:t>DataSet</a:t>
            </a:r>
            <a:r>
              <a:rPr lang="pt-PT" sz="1800" dirty="0">
                <a:latin typeface="Consolas" panose="020B0609020204030204" pitchFamily="49" charset="0"/>
              </a:rPr>
              <a:t> com alguma dimensão, com múltiplas tabelas/fontes de dados</a:t>
            </a:r>
          </a:p>
          <a:p>
            <a:r>
              <a:rPr lang="pt-PT" sz="1800" dirty="0">
                <a:latin typeface="Consolas" panose="020B0609020204030204" pitchFamily="49" charset="0"/>
              </a:rPr>
              <a:t>identificar e definir os objetivos de processamento a alcançar</a:t>
            </a:r>
          </a:p>
          <a:p>
            <a:r>
              <a:rPr lang="pt-PT" sz="1800" dirty="0">
                <a:latin typeface="Consolas" panose="020B0609020204030204" pitchFamily="49" charset="0"/>
              </a:rPr>
              <a:t>colocar dados em HDFS</a:t>
            </a:r>
          </a:p>
          <a:p>
            <a:r>
              <a:rPr lang="pt-PT" sz="1800" dirty="0">
                <a:latin typeface="Consolas" panose="020B0609020204030204" pitchFamily="49" charset="0"/>
              </a:rPr>
              <a:t>utilizar plataformas de processamento dos dados (</a:t>
            </a:r>
            <a:r>
              <a:rPr lang="pt-PT" sz="1800" dirty="0" err="1">
                <a:latin typeface="Consolas" panose="020B0609020204030204" pitchFamily="49" charset="0"/>
              </a:rPr>
              <a:t>Spark</a:t>
            </a:r>
            <a:r>
              <a:rPr lang="pt-PT" sz="1800" dirty="0">
                <a:latin typeface="Consolas" panose="020B0609020204030204" pitchFamily="49" charset="0"/>
              </a:rPr>
              <a:t>, </a:t>
            </a:r>
            <a:r>
              <a:rPr lang="pt-PT" sz="1800" dirty="0" err="1">
                <a:latin typeface="Consolas" panose="020B0609020204030204" pitchFamily="49" charset="0"/>
              </a:rPr>
              <a:t>MapReduce</a:t>
            </a:r>
            <a:r>
              <a:rPr lang="pt-PT" sz="1800" dirty="0">
                <a:latin typeface="Consolas" panose="020B0609020204030204" pitchFamily="49" charset="0"/>
              </a:rPr>
              <a:t>, </a:t>
            </a:r>
            <a:r>
              <a:rPr lang="pt-PT" sz="1800" dirty="0" err="1">
                <a:latin typeface="Consolas" panose="020B0609020204030204" pitchFamily="49" charset="0"/>
              </a:rPr>
              <a:t>Hive</a:t>
            </a:r>
            <a:r>
              <a:rPr lang="pt-PT" sz="1800" dirty="0">
                <a:latin typeface="Consolas" panose="020B0609020204030204" pitchFamily="49" charset="0"/>
              </a:rPr>
              <a:t>,...)</a:t>
            </a:r>
          </a:p>
          <a:p>
            <a:r>
              <a:rPr lang="pt-PT" sz="1800" dirty="0">
                <a:latin typeface="Consolas" panose="020B0609020204030204" pitchFamily="49" charset="0"/>
              </a:rPr>
              <a:t>utilização/integração de dados em </a:t>
            </a:r>
            <a:r>
              <a:rPr lang="pt-PT" sz="1800" dirty="0" err="1">
                <a:latin typeface="Consolas" panose="020B0609020204030204" pitchFamily="49" charset="0"/>
              </a:rPr>
              <a:t>streaming</a:t>
            </a:r>
            <a:r>
              <a:rPr lang="pt-PT" sz="1800" dirty="0">
                <a:latin typeface="Consolas" panose="020B0609020204030204" pitchFamily="49" charset="0"/>
              </a:rPr>
              <a:t> (</a:t>
            </a:r>
            <a:r>
              <a:rPr lang="pt-PT" sz="1800" dirty="0" err="1">
                <a:latin typeface="Consolas" panose="020B0609020204030204" pitchFamily="49" charset="0"/>
              </a:rPr>
              <a:t>ex</a:t>
            </a:r>
            <a:r>
              <a:rPr lang="pt-PT" sz="1800" dirty="0">
                <a:latin typeface="Consolas" panose="020B0609020204030204" pitchFamily="49" charset="0"/>
              </a:rPr>
              <a:t>: novos ficheiros, dados de redes sociais, de </a:t>
            </a:r>
            <a:r>
              <a:rPr lang="pt-PT" sz="1800" dirty="0" err="1">
                <a:latin typeface="Consolas" panose="020B0609020204030204" pitchFamily="49" charset="0"/>
              </a:rPr>
              <a:t>scrapping</a:t>
            </a:r>
            <a:r>
              <a:rPr lang="pt-PT" sz="1800" dirty="0">
                <a:latin typeface="Consolas" panose="020B0609020204030204" pitchFamily="49" charset="0"/>
              </a:rPr>
              <a:t> de páginas, ...)</a:t>
            </a:r>
          </a:p>
          <a:p>
            <a:r>
              <a:rPr lang="pt-PT" sz="1800" dirty="0">
                <a:latin typeface="Consolas" panose="020B0609020204030204" pitchFamily="49" charset="0"/>
              </a:rPr>
              <a:t>estar preparado para novos dados/ficheiros</a:t>
            </a:r>
          </a:p>
          <a:p>
            <a:r>
              <a:rPr lang="pt-PT" sz="1800" dirty="0">
                <a:latin typeface="Consolas" panose="020B0609020204030204" pitchFamily="49" charset="0"/>
              </a:rPr>
              <a:t>obter resultados, e análise comparativa de desempenho</a:t>
            </a:r>
          </a:p>
        </p:txBody>
      </p:sp>
    </p:spTree>
    <p:extLst>
      <p:ext uri="{BB962C8B-B14F-4D97-AF65-F5344CB8AC3E}">
        <p14:creationId xmlns:p14="http://schemas.microsoft.com/office/powerpoint/2010/main" val="3056122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Trabalho prático</a:t>
            </a:r>
          </a:p>
        </p:txBody>
      </p:sp>
      <p:sp>
        <p:nvSpPr>
          <p:cNvPr id="3" name="Footer Placeholder 2"/>
          <p:cNvSpPr>
            <a:spLocks noGrp="1"/>
          </p:cNvSpPr>
          <p:nvPr>
            <p:ph type="ftr" sz="quarter" idx="11"/>
          </p:nvPr>
        </p:nvSpPr>
        <p:spPr/>
        <p:txBody>
          <a:bodyPr/>
          <a:lstStyle/>
          <a:p>
            <a:r>
              <a:rPr lang="pt-PT" dirty="0" err="1"/>
              <a:t>BigData</a:t>
            </a:r>
            <a:r>
              <a:rPr lang="pt-PT" dirty="0"/>
              <a:t> - João Costa</a:t>
            </a:r>
          </a:p>
        </p:txBody>
      </p:sp>
      <p:sp>
        <p:nvSpPr>
          <p:cNvPr id="4" name="Slide Number Placeholder 3"/>
          <p:cNvSpPr>
            <a:spLocks noGrp="1"/>
          </p:cNvSpPr>
          <p:nvPr>
            <p:ph type="sldNum" sz="quarter" idx="12"/>
          </p:nvPr>
        </p:nvSpPr>
        <p:spPr/>
        <p:txBody>
          <a:bodyPr/>
          <a:lstStyle/>
          <a:p>
            <a:fld id="{51C52B0B-E753-43CA-AAC2-5F5B7738FA84}" type="slidenum">
              <a:rPr lang="pt-PT" smtClean="0"/>
              <a:pPr/>
              <a:t>25</a:t>
            </a:fld>
            <a:endParaRPr lang="pt-PT"/>
          </a:p>
        </p:txBody>
      </p:sp>
      <p:sp>
        <p:nvSpPr>
          <p:cNvPr id="5" name="Content Placeholder 4"/>
          <p:cNvSpPr>
            <a:spLocks noGrp="1"/>
          </p:cNvSpPr>
          <p:nvPr>
            <p:ph sz="quarter" idx="1"/>
          </p:nvPr>
        </p:nvSpPr>
        <p:spPr>
          <a:xfrm>
            <a:off x="457200" y="1219200"/>
            <a:ext cx="8363272" cy="4937760"/>
          </a:xfrm>
        </p:spPr>
        <p:txBody>
          <a:bodyPr>
            <a:normAutofit/>
          </a:bodyPr>
          <a:lstStyle/>
          <a:p>
            <a:r>
              <a:rPr lang="pt-PT" sz="1800" dirty="0">
                <a:latin typeface="Consolas" panose="020B0609020204030204" pitchFamily="49" charset="0"/>
              </a:rPr>
              <a:t>o código deve estar pronto a ser demonstrável e a executar no período definido para a defesa</a:t>
            </a:r>
          </a:p>
          <a:p>
            <a:r>
              <a:rPr lang="pt-PT" sz="1800" dirty="0">
                <a:latin typeface="Consolas" panose="020B0609020204030204" pitchFamily="49" charset="0"/>
              </a:rPr>
              <a:t>devem definir os elementos do grupo em  </a:t>
            </a:r>
            <a:r>
              <a:rPr lang="pt-PT" sz="1700" dirty="0">
                <a:latin typeface="Consolas" panose="020B0609020204030204" pitchFamily="49" charset="0"/>
                <a:hlinkClick r:id="rId2"/>
              </a:rPr>
              <a:t>https://moodle.isec.pt/moodle/mod/groupselect/view.php?id=245841</a:t>
            </a:r>
            <a:r>
              <a:rPr lang="pt-PT" sz="1700" dirty="0">
                <a:latin typeface="Consolas" panose="020B0609020204030204" pitchFamily="49" charset="0"/>
              </a:rPr>
              <a:t> </a:t>
            </a:r>
          </a:p>
          <a:p>
            <a:r>
              <a:rPr lang="pt-PT" sz="1800" dirty="0">
                <a:latin typeface="Consolas" panose="020B0609020204030204" pitchFamily="49" charset="0"/>
              </a:rPr>
              <a:t>cada aluno deve identificar a sua contribuição para o trabalho e ser capaz de explicar cada aspeto da sua implementação </a:t>
            </a:r>
          </a:p>
          <a:p>
            <a:r>
              <a:rPr lang="pt-PT" sz="1800" dirty="0">
                <a:latin typeface="Consolas" panose="020B0609020204030204" pitchFamily="49" charset="0"/>
              </a:rPr>
              <a:t>alguns </a:t>
            </a:r>
            <a:r>
              <a:rPr lang="pt-PT" sz="1800" dirty="0" err="1">
                <a:latin typeface="Consolas" panose="020B0609020204030204" pitchFamily="49" charset="0"/>
              </a:rPr>
              <a:t>datasets</a:t>
            </a:r>
            <a:r>
              <a:rPr lang="pt-PT" sz="1800" dirty="0">
                <a:latin typeface="Consolas" panose="020B0609020204030204" pitchFamily="49" charset="0"/>
              </a:rPr>
              <a:t> utilizados </a:t>
            </a:r>
            <a:r>
              <a:rPr lang="pt-PT" sz="1800" dirty="0">
                <a:latin typeface="Consolas" panose="020B0609020204030204" pitchFamily="49" charset="0"/>
                <a:hlinkClick r:id="rId3"/>
              </a:rPr>
              <a:t>https://moodle.isec.pt/moodle/mod/wiki/view.php?id=245844</a:t>
            </a:r>
            <a:endParaRPr lang="pt-PT" sz="1800" dirty="0">
              <a:latin typeface="Consolas" panose="020B0609020204030204" pitchFamily="49" charset="0"/>
            </a:endParaRPr>
          </a:p>
        </p:txBody>
      </p:sp>
    </p:spTree>
    <p:extLst>
      <p:ext uri="{BB962C8B-B14F-4D97-AF65-F5344CB8AC3E}">
        <p14:creationId xmlns:p14="http://schemas.microsoft.com/office/powerpoint/2010/main" val="4042105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Trabalho prático</a:t>
            </a:r>
          </a:p>
        </p:txBody>
      </p:sp>
      <p:sp>
        <p:nvSpPr>
          <p:cNvPr id="3" name="Footer Placeholder 2"/>
          <p:cNvSpPr>
            <a:spLocks noGrp="1"/>
          </p:cNvSpPr>
          <p:nvPr>
            <p:ph type="ftr" sz="quarter" idx="11"/>
          </p:nvPr>
        </p:nvSpPr>
        <p:spPr/>
        <p:txBody>
          <a:bodyPr/>
          <a:lstStyle/>
          <a:p>
            <a:r>
              <a:rPr lang="pt-PT"/>
              <a:t>BigData - João Costa</a:t>
            </a:r>
            <a:endParaRPr lang="pt-PT" dirty="0"/>
          </a:p>
        </p:txBody>
      </p:sp>
      <p:sp>
        <p:nvSpPr>
          <p:cNvPr id="4" name="Slide Number Placeholder 3"/>
          <p:cNvSpPr>
            <a:spLocks noGrp="1"/>
          </p:cNvSpPr>
          <p:nvPr>
            <p:ph type="sldNum" sz="quarter" idx="12"/>
          </p:nvPr>
        </p:nvSpPr>
        <p:spPr/>
        <p:txBody>
          <a:bodyPr/>
          <a:lstStyle/>
          <a:p>
            <a:fld id="{51C52B0B-E753-43CA-AAC2-5F5B7738FA84}" type="slidenum">
              <a:rPr lang="pt-PT" smtClean="0"/>
              <a:pPr/>
              <a:t>26</a:t>
            </a:fld>
            <a:endParaRPr lang="pt-PT"/>
          </a:p>
        </p:txBody>
      </p:sp>
      <p:sp>
        <p:nvSpPr>
          <p:cNvPr id="5" name="Content Placeholder 4"/>
          <p:cNvSpPr>
            <a:spLocks noGrp="1"/>
          </p:cNvSpPr>
          <p:nvPr>
            <p:ph sz="quarter" idx="1"/>
          </p:nvPr>
        </p:nvSpPr>
        <p:spPr/>
        <p:txBody>
          <a:bodyPr>
            <a:normAutofit fontScale="55000" lnSpcReduction="20000"/>
          </a:bodyPr>
          <a:lstStyle/>
          <a:p>
            <a:r>
              <a:rPr lang="pt-PT" dirty="0">
                <a:latin typeface="Consolas" panose="020B0609020204030204" pitchFamily="49" charset="0"/>
              </a:rPr>
              <a:t>"Obtenção de valores e métricas do </a:t>
            </a:r>
            <a:r>
              <a:rPr lang="pt-PT" dirty="0" err="1">
                <a:latin typeface="Consolas" panose="020B0609020204030204" pitchFamily="49" charset="0"/>
              </a:rPr>
              <a:t>criptoativo</a:t>
            </a:r>
            <a:r>
              <a:rPr lang="pt-PT" dirty="0">
                <a:latin typeface="Consolas" panose="020B0609020204030204" pitchFamily="49" charset="0"/>
              </a:rPr>
              <a:t> </a:t>
            </a:r>
            <a:r>
              <a:rPr lang="pt-PT" dirty="0" err="1">
                <a:latin typeface="Consolas" panose="020B0609020204030204" pitchFamily="49" charset="0"/>
              </a:rPr>
              <a:t>Bitcoin</a:t>
            </a:r>
            <a:endParaRPr lang="pt-PT" dirty="0">
              <a:latin typeface="Consolas" panose="020B0609020204030204" pitchFamily="49" charset="0"/>
            </a:endParaRPr>
          </a:p>
          <a:p>
            <a:endParaRPr lang="pt-PT" dirty="0">
              <a:latin typeface="Consolas" panose="020B0609020204030204" pitchFamily="49" charset="0"/>
            </a:endParaRPr>
          </a:p>
          <a:p>
            <a:r>
              <a:rPr lang="pt-PT" dirty="0" err="1">
                <a:latin typeface="Consolas" panose="020B0609020204030204" pitchFamily="49" charset="0"/>
              </a:rPr>
              <a:t>Used</a:t>
            </a:r>
            <a:r>
              <a:rPr lang="pt-PT" dirty="0">
                <a:latin typeface="Consolas" panose="020B0609020204030204" pitchFamily="49" charset="0"/>
              </a:rPr>
              <a:t> </a:t>
            </a:r>
            <a:r>
              <a:rPr lang="pt-PT" dirty="0" err="1">
                <a:latin typeface="Consolas" panose="020B0609020204030204" pitchFamily="49" charset="0"/>
              </a:rPr>
              <a:t>Cars</a:t>
            </a:r>
            <a:r>
              <a:rPr lang="pt-PT" dirty="0">
                <a:latin typeface="Consolas" panose="020B0609020204030204" pitchFamily="49" charset="0"/>
              </a:rPr>
              <a:t> </a:t>
            </a:r>
            <a:r>
              <a:rPr lang="pt-PT" dirty="0" err="1">
                <a:latin typeface="Consolas" panose="020B0609020204030204" pitchFamily="49" charset="0"/>
              </a:rPr>
              <a:t>Dataset</a:t>
            </a:r>
            <a:r>
              <a:rPr lang="pt-PT" dirty="0">
                <a:latin typeface="Consolas" panose="020B0609020204030204" pitchFamily="49" charset="0"/>
              </a:rPr>
              <a:t>, </a:t>
            </a:r>
            <a:r>
              <a:rPr lang="pt-PT" dirty="0" err="1">
                <a:latin typeface="Consolas" panose="020B0609020204030204" pitchFamily="49" charset="0"/>
              </a:rPr>
              <a:t>dataset</a:t>
            </a:r>
            <a:r>
              <a:rPr lang="pt-PT" dirty="0">
                <a:latin typeface="Consolas" panose="020B0609020204030204" pitchFamily="49" charset="0"/>
              </a:rPr>
              <a:t> que contém detalhes de 3 milhões de carros usados (reais).prever / estimar o preço ou valor dos carros</a:t>
            </a:r>
          </a:p>
          <a:p>
            <a:endParaRPr lang="pt-PT" dirty="0">
              <a:latin typeface="Consolas" panose="020B0609020204030204" pitchFamily="49" charset="0"/>
            </a:endParaRPr>
          </a:p>
          <a:p>
            <a:r>
              <a:rPr lang="pt-PT" dirty="0">
                <a:latin typeface="Consolas" panose="020B0609020204030204" pitchFamily="49" charset="0"/>
              </a:rPr>
              <a:t>HISTORICAL OHLC PRICE DATA INCLUDES VOLUME</a:t>
            </a:r>
          </a:p>
          <a:p>
            <a:r>
              <a:rPr lang="pt-PT" dirty="0">
                <a:latin typeface="Consolas" panose="020B0609020204030204" pitchFamily="49" charset="0"/>
              </a:rPr>
              <a:t>o objetivo: o objetivo criar um mecanismo de </a:t>
            </a:r>
            <a:r>
              <a:rPr lang="pt-PT" dirty="0" err="1">
                <a:latin typeface="Consolas" panose="020B0609020204030204" pitchFamily="49" charset="0"/>
              </a:rPr>
              <a:t>streaming</a:t>
            </a:r>
            <a:r>
              <a:rPr lang="pt-PT" dirty="0">
                <a:latin typeface="Consolas" panose="020B0609020204030204" pitchFamily="49" charset="0"/>
              </a:rPr>
              <a:t> para captar os valores em transação no mercado em tempo real </a:t>
            </a:r>
          </a:p>
          <a:p>
            <a:r>
              <a:rPr lang="pt-PT" dirty="0">
                <a:latin typeface="Consolas" panose="020B0609020204030204" pitchFamily="49" charset="0"/>
              </a:rPr>
              <a:t> alertas quando os preços ultrapassem certo valores. as fontes de dados serão bolsas de transação de </a:t>
            </a:r>
            <a:r>
              <a:rPr lang="pt-PT" dirty="0" err="1">
                <a:latin typeface="Consolas" panose="020B0609020204030204" pitchFamily="49" charset="0"/>
              </a:rPr>
              <a:t>criptomoedas</a:t>
            </a:r>
            <a:r>
              <a:rPr lang="pt-PT" dirty="0">
                <a:latin typeface="Consolas" panose="020B0609020204030204" pitchFamily="49" charset="0"/>
              </a:rPr>
              <a:t> (</a:t>
            </a:r>
            <a:r>
              <a:rPr lang="pt-PT" dirty="0" err="1">
                <a:latin typeface="Consolas" panose="020B0609020204030204" pitchFamily="49" charset="0"/>
              </a:rPr>
              <a:t>coinbase</a:t>
            </a:r>
            <a:r>
              <a:rPr lang="pt-PT" dirty="0">
                <a:latin typeface="Consolas" panose="020B0609020204030204" pitchFamily="49" charset="0"/>
              </a:rPr>
              <a:t>, </a:t>
            </a:r>
            <a:r>
              <a:rPr lang="pt-PT" dirty="0" err="1">
                <a:latin typeface="Consolas" panose="020B0609020204030204" pitchFamily="49" charset="0"/>
              </a:rPr>
              <a:t>binance</a:t>
            </a:r>
            <a:r>
              <a:rPr lang="pt-PT" dirty="0">
                <a:latin typeface="Consolas" panose="020B0609020204030204" pitchFamily="49" charset="0"/>
              </a:rPr>
              <a:t>, etc...) </a:t>
            </a:r>
          </a:p>
          <a:p>
            <a:pPr lvl="1"/>
            <a:r>
              <a:rPr lang="pt-PT" dirty="0">
                <a:latin typeface="Consolas" panose="020B0609020204030204" pitchFamily="49" charset="0"/>
              </a:rPr>
              <a:t>mecanismo de </a:t>
            </a:r>
            <a:r>
              <a:rPr lang="pt-PT" dirty="0" err="1">
                <a:latin typeface="Consolas" panose="020B0609020204030204" pitchFamily="49" charset="0"/>
              </a:rPr>
              <a:t>batching</a:t>
            </a:r>
            <a:r>
              <a:rPr lang="pt-PT" dirty="0">
                <a:latin typeface="Consolas" panose="020B0609020204030204" pitchFamily="49" charset="0"/>
              </a:rPr>
              <a:t> para extrair informação estatística (médias, agregações por dia ou mês, etc...) </a:t>
            </a:r>
          </a:p>
          <a:p>
            <a:pPr lvl="1"/>
            <a:r>
              <a:rPr lang="pt-PT" dirty="0">
                <a:latin typeface="Consolas" panose="020B0609020204030204" pitchFamily="49" charset="0"/>
              </a:rPr>
              <a:t>utilizar um modelo de </a:t>
            </a:r>
            <a:r>
              <a:rPr lang="pt-PT" dirty="0" err="1">
                <a:latin typeface="Consolas" panose="020B0609020204030204" pitchFamily="49" charset="0"/>
              </a:rPr>
              <a:t>machinee</a:t>
            </a:r>
            <a:r>
              <a:rPr lang="pt-PT" dirty="0">
                <a:latin typeface="Consolas" panose="020B0609020204030204" pitchFamily="49" charset="0"/>
              </a:rPr>
              <a:t> </a:t>
            </a:r>
            <a:r>
              <a:rPr lang="pt-PT" dirty="0" err="1">
                <a:latin typeface="Consolas" panose="020B0609020204030204" pitchFamily="49" charset="0"/>
              </a:rPr>
              <a:t>learning</a:t>
            </a:r>
            <a:r>
              <a:rPr lang="pt-PT" dirty="0">
                <a:latin typeface="Consolas" panose="020B0609020204030204" pitchFamily="49" charset="0"/>
              </a:rPr>
              <a:t> para prever preços a curto prazo. "</a:t>
            </a:r>
          </a:p>
          <a:p>
            <a:endParaRPr lang="pt-PT" dirty="0">
              <a:latin typeface="Consolas" panose="020B0609020204030204" pitchFamily="49" charset="0"/>
            </a:endParaRPr>
          </a:p>
          <a:p>
            <a:r>
              <a:rPr lang="pt-PT" dirty="0" err="1">
                <a:latin typeface="Consolas" panose="020B0609020204030204" pitchFamily="49" charset="0"/>
              </a:rPr>
              <a:t>International</a:t>
            </a:r>
            <a:r>
              <a:rPr lang="pt-PT" dirty="0">
                <a:latin typeface="Consolas" panose="020B0609020204030204" pitchFamily="49" charset="0"/>
              </a:rPr>
              <a:t> </a:t>
            </a:r>
            <a:r>
              <a:rPr lang="pt-PT" dirty="0" err="1">
                <a:latin typeface="Consolas" panose="020B0609020204030204" pitchFamily="49" charset="0"/>
              </a:rPr>
              <a:t>football</a:t>
            </a:r>
            <a:r>
              <a:rPr lang="pt-PT" dirty="0">
                <a:latin typeface="Consolas" panose="020B0609020204030204" pitchFamily="49" charset="0"/>
              </a:rPr>
              <a:t> </a:t>
            </a:r>
            <a:r>
              <a:rPr lang="pt-PT" dirty="0" err="1">
                <a:latin typeface="Consolas" panose="020B0609020204030204" pitchFamily="49" charset="0"/>
              </a:rPr>
              <a:t>results</a:t>
            </a:r>
            <a:r>
              <a:rPr lang="pt-PT" dirty="0">
                <a:latin typeface="Consolas" panose="020B0609020204030204" pitchFamily="49" charset="0"/>
              </a:rPr>
              <a:t> </a:t>
            </a:r>
            <a:r>
              <a:rPr lang="pt-PT" dirty="0" err="1">
                <a:latin typeface="Consolas" panose="020B0609020204030204" pitchFamily="49" charset="0"/>
              </a:rPr>
              <a:t>from</a:t>
            </a:r>
            <a:r>
              <a:rPr lang="pt-PT" dirty="0">
                <a:latin typeface="Consolas" panose="020B0609020204030204" pitchFamily="49" charset="0"/>
              </a:rPr>
              <a:t> 1872 to 2022</a:t>
            </a:r>
          </a:p>
          <a:p>
            <a:r>
              <a:rPr lang="pt-PT" dirty="0" err="1">
                <a:latin typeface="Consolas" panose="020B0609020204030204" pitchFamily="49" charset="0"/>
              </a:rPr>
              <a:t>streaming</a:t>
            </a:r>
            <a:r>
              <a:rPr lang="pt-PT" dirty="0">
                <a:latin typeface="Consolas" panose="020B0609020204030204" pitchFamily="49" charset="0"/>
              </a:rPr>
              <a:t> que capture os resultados de jogos de futebol internacional, podendo depois conseguir recolher alguma informação estatística como (Top 10 equipas, Que equipas dominar as eras de futebol, qual paí­s foi mais vezes anfitrião, etc...)."</a:t>
            </a:r>
          </a:p>
          <a:p>
            <a:r>
              <a:rPr lang="pt-PT" dirty="0">
                <a:latin typeface="Consolas" panose="020B0609020204030204" pitchFamily="49" charset="0"/>
              </a:rPr>
              <a:t>"Previsão do Preço de Imobiliários</a:t>
            </a:r>
          </a:p>
          <a:p>
            <a:r>
              <a:rPr lang="pt-PT" dirty="0">
                <a:latin typeface="Consolas" panose="020B0609020204030204" pitchFamily="49" charset="0"/>
              </a:rPr>
              <a:t>"Infrações na cidade de Nova York</a:t>
            </a:r>
          </a:p>
          <a:p>
            <a:endParaRPr lang="pt-PT" dirty="0">
              <a:latin typeface="Consolas" panose="020B0609020204030204" pitchFamily="49" charset="0"/>
            </a:endParaRPr>
          </a:p>
        </p:txBody>
      </p:sp>
    </p:spTree>
    <p:extLst>
      <p:ext uri="{BB962C8B-B14F-4D97-AF65-F5344CB8AC3E}">
        <p14:creationId xmlns:p14="http://schemas.microsoft.com/office/powerpoint/2010/main" val="3011254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Trabalho prático</a:t>
            </a:r>
          </a:p>
        </p:txBody>
      </p:sp>
      <p:sp>
        <p:nvSpPr>
          <p:cNvPr id="3" name="Footer Placeholder 2"/>
          <p:cNvSpPr>
            <a:spLocks noGrp="1"/>
          </p:cNvSpPr>
          <p:nvPr>
            <p:ph type="ftr" sz="quarter" idx="11"/>
          </p:nvPr>
        </p:nvSpPr>
        <p:spPr/>
        <p:txBody>
          <a:bodyPr/>
          <a:lstStyle/>
          <a:p>
            <a:r>
              <a:rPr lang="pt-PT" dirty="0" err="1"/>
              <a:t>BigData</a:t>
            </a:r>
            <a:r>
              <a:rPr lang="pt-PT" dirty="0"/>
              <a:t> - João Costa</a:t>
            </a:r>
          </a:p>
        </p:txBody>
      </p:sp>
      <p:sp>
        <p:nvSpPr>
          <p:cNvPr id="4" name="Slide Number Placeholder 3"/>
          <p:cNvSpPr>
            <a:spLocks noGrp="1"/>
          </p:cNvSpPr>
          <p:nvPr>
            <p:ph type="sldNum" sz="quarter" idx="12"/>
          </p:nvPr>
        </p:nvSpPr>
        <p:spPr/>
        <p:txBody>
          <a:bodyPr/>
          <a:lstStyle/>
          <a:p>
            <a:fld id="{51C52B0B-E753-43CA-AAC2-5F5B7738FA84}" type="slidenum">
              <a:rPr lang="pt-PT" smtClean="0"/>
              <a:pPr/>
              <a:t>27</a:t>
            </a:fld>
            <a:endParaRPr lang="pt-PT"/>
          </a:p>
        </p:txBody>
      </p:sp>
      <p:sp>
        <p:nvSpPr>
          <p:cNvPr id="7" name="Content Placeholder 6"/>
          <p:cNvSpPr>
            <a:spLocks noGrp="1"/>
          </p:cNvSpPr>
          <p:nvPr>
            <p:ph sz="quarter" idx="1"/>
          </p:nvPr>
        </p:nvSpPr>
        <p:spPr/>
        <p:txBody>
          <a:bodyPr wrap="square">
            <a:normAutofit fontScale="40000" lnSpcReduction="20000"/>
          </a:bodyPr>
          <a:lstStyle/>
          <a:p>
            <a:r>
              <a:rPr lang="pt-PT" sz="2800" dirty="0" err="1">
                <a:latin typeface="Consolas" panose="020B0609020204030204" pitchFamily="49" charset="0"/>
              </a:rPr>
              <a:t>The</a:t>
            </a:r>
            <a:r>
              <a:rPr lang="pt-PT" sz="2800" dirty="0">
                <a:latin typeface="Consolas" panose="020B0609020204030204" pitchFamily="49" charset="0"/>
              </a:rPr>
              <a:t> </a:t>
            </a:r>
            <a:r>
              <a:rPr lang="pt-PT" sz="2800" dirty="0" err="1">
                <a:latin typeface="Consolas" panose="020B0609020204030204" pitchFamily="49" charset="0"/>
              </a:rPr>
              <a:t>dataset</a:t>
            </a:r>
            <a:r>
              <a:rPr lang="pt-PT" sz="2800" dirty="0">
                <a:latin typeface="Consolas" panose="020B0609020204030204" pitchFamily="49" charset="0"/>
              </a:rPr>
              <a:t> </a:t>
            </a:r>
            <a:r>
              <a:rPr lang="pt-PT" sz="2800" dirty="0" err="1">
                <a:latin typeface="Consolas" panose="020B0609020204030204" pitchFamily="49" charset="0"/>
              </a:rPr>
              <a:t>gives</a:t>
            </a:r>
            <a:r>
              <a:rPr lang="pt-PT" sz="2800" dirty="0">
                <a:latin typeface="Consolas" panose="020B0609020204030204" pitchFamily="49" charset="0"/>
              </a:rPr>
              <a:t> </a:t>
            </a:r>
            <a:r>
              <a:rPr lang="pt-PT" sz="2800" dirty="0" err="1">
                <a:latin typeface="Consolas" panose="020B0609020204030204" pitchFamily="49" charset="0"/>
              </a:rPr>
              <a:t>us</a:t>
            </a:r>
            <a:r>
              <a:rPr lang="pt-PT" sz="2800" dirty="0">
                <a:latin typeface="Consolas" panose="020B0609020204030204" pitchFamily="49" charset="0"/>
              </a:rPr>
              <a:t> a </a:t>
            </a:r>
            <a:r>
              <a:rPr lang="pt-PT" sz="2800" dirty="0" err="1">
                <a:latin typeface="Consolas" panose="020B0609020204030204" pitchFamily="49" charset="0"/>
              </a:rPr>
              <a:t>panoramic</a:t>
            </a:r>
            <a:r>
              <a:rPr lang="pt-PT" sz="2800" dirty="0">
                <a:latin typeface="Consolas" panose="020B0609020204030204" pitchFamily="49" charset="0"/>
              </a:rPr>
              <a:t> </a:t>
            </a:r>
            <a:r>
              <a:rPr lang="pt-PT" sz="2800" dirty="0" err="1">
                <a:latin typeface="Consolas" panose="020B0609020204030204" pitchFamily="49" charset="0"/>
              </a:rPr>
              <a:t>view</a:t>
            </a:r>
            <a:r>
              <a:rPr lang="pt-PT" sz="2800" dirty="0">
                <a:latin typeface="Consolas" panose="020B0609020204030204" pitchFamily="49" charset="0"/>
              </a:rPr>
              <a:t> </a:t>
            </a:r>
            <a:r>
              <a:rPr lang="pt-PT" sz="2800" dirty="0" err="1">
                <a:latin typeface="Consolas" panose="020B0609020204030204" pitchFamily="49" charset="0"/>
              </a:rPr>
              <a:t>on</a:t>
            </a:r>
            <a:r>
              <a:rPr lang="pt-PT" sz="2800" dirty="0">
                <a:latin typeface="Consolas" panose="020B0609020204030204" pitchFamily="49" charset="0"/>
              </a:rPr>
              <a:t> </a:t>
            </a:r>
            <a:r>
              <a:rPr lang="pt-PT" sz="2800" dirty="0" err="1">
                <a:latin typeface="Consolas" panose="020B0609020204030204" pitchFamily="49" charset="0"/>
              </a:rPr>
              <a:t>flights</a:t>
            </a:r>
            <a:r>
              <a:rPr lang="pt-PT" sz="2800" dirty="0">
                <a:latin typeface="Consolas" panose="020B0609020204030204" pitchFamily="49" charset="0"/>
              </a:rPr>
              <a:t> in </a:t>
            </a:r>
            <a:r>
              <a:rPr lang="pt-PT" sz="2800" dirty="0" err="1">
                <a:latin typeface="Consolas" panose="020B0609020204030204" pitchFamily="49" charset="0"/>
              </a:rPr>
              <a:t>the</a:t>
            </a:r>
            <a:r>
              <a:rPr lang="pt-PT" sz="2800" dirty="0">
                <a:latin typeface="Consolas" panose="020B0609020204030204" pitchFamily="49" charset="0"/>
              </a:rPr>
              <a:t> US </a:t>
            </a:r>
            <a:r>
              <a:rPr lang="pt-PT" sz="2800" dirty="0" err="1">
                <a:latin typeface="Consolas" panose="020B0609020204030204" pitchFamily="49" charset="0"/>
              </a:rPr>
              <a:t>between</a:t>
            </a:r>
            <a:r>
              <a:rPr lang="pt-PT" sz="2800" dirty="0">
                <a:latin typeface="Consolas" panose="020B0609020204030204" pitchFamily="49" charset="0"/>
              </a:rPr>
              <a:t> 1987 </a:t>
            </a:r>
            <a:r>
              <a:rPr lang="pt-PT" sz="2800" dirty="0" err="1">
                <a:latin typeface="Consolas" panose="020B0609020204030204" pitchFamily="49" charset="0"/>
              </a:rPr>
              <a:t>and</a:t>
            </a:r>
            <a:r>
              <a:rPr lang="pt-PT" sz="2800" dirty="0">
                <a:latin typeface="Consolas" panose="020B0609020204030204" pitchFamily="49" charset="0"/>
              </a:rPr>
              <a:t> 2020, </a:t>
            </a:r>
            <a:r>
              <a:rPr lang="pt-PT" sz="2800" dirty="0" err="1">
                <a:latin typeface="Consolas" panose="020B0609020204030204" pitchFamily="49" charset="0"/>
              </a:rPr>
              <a:t>with</a:t>
            </a:r>
            <a:r>
              <a:rPr lang="pt-PT" sz="2800" dirty="0">
                <a:latin typeface="Consolas" panose="020B0609020204030204" pitchFamily="49" charset="0"/>
              </a:rPr>
              <a:t> </a:t>
            </a:r>
            <a:r>
              <a:rPr lang="pt-PT" sz="2800" dirty="0" err="1">
                <a:latin typeface="Consolas" panose="020B0609020204030204" pitchFamily="49" charset="0"/>
              </a:rPr>
              <a:t>info</a:t>
            </a:r>
            <a:r>
              <a:rPr lang="pt-PT" sz="2800" dirty="0">
                <a:latin typeface="Consolas" panose="020B0609020204030204" pitchFamily="49" charset="0"/>
              </a:rPr>
              <a:t> </a:t>
            </a:r>
            <a:r>
              <a:rPr lang="pt-PT" sz="2800" dirty="0" err="1">
                <a:latin typeface="Consolas" panose="020B0609020204030204" pitchFamily="49" charset="0"/>
              </a:rPr>
              <a:t>regarding</a:t>
            </a:r>
            <a:r>
              <a:rPr lang="pt-PT" sz="2800" dirty="0">
                <a:latin typeface="Consolas" panose="020B0609020204030204" pitchFamily="49" charset="0"/>
              </a:rPr>
              <a:t> </a:t>
            </a:r>
            <a:r>
              <a:rPr lang="pt-PT" sz="2800" dirty="0" err="1">
                <a:latin typeface="Consolas" panose="020B0609020204030204" pitchFamily="49" charset="0"/>
              </a:rPr>
              <a:t>departure</a:t>
            </a:r>
            <a:r>
              <a:rPr lang="pt-PT" sz="2800" dirty="0">
                <a:latin typeface="Consolas" panose="020B0609020204030204" pitchFamily="49" charset="0"/>
              </a:rPr>
              <a:t> </a:t>
            </a:r>
            <a:r>
              <a:rPr lang="pt-PT" sz="2800" dirty="0" err="1">
                <a:latin typeface="Consolas" panose="020B0609020204030204" pitchFamily="49" charset="0"/>
              </a:rPr>
              <a:t>and</a:t>
            </a:r>
            <a:r>
              <a:rPr lang="pt-PT" sz="2800" dirty="0">
                <a:latin typeface="Consolas" panose="020B0609020204030204" pitchFamily="49" charset="0"/>
              </a:rPr>
              <a:t> arrival </a:t>
            </a:r>
            <a:r>
              <a:rPr lang="pt-PT" sz="2800" dirty="0" err="1">
                <a:latin typeface="Consolas" panose="020B0609020204030204" pitchFamily="49" charset="0"/>
              </a:rPr>
              <a:t>airport</a:t>
            </a:r>
            <a:r>
              <a:rPr lang="pt-PT" sz="2800" dirty="0">
                <a:latin typeface="Consolas" panose="020B0609020204030204" pitchFamily="49" charset="0"/>
              </a:rPr>
              <a:t> </a:t>
            </a:r>
            <a:r>
              <a:rPr lang="pt-PT" sz="2800" dirty="0" err="1">
                <a:latin typeface="Consolas" panose="020B0609020204030204" pitchFamily="49" charset="0"/>
              </a:rPr>
              <a:t>and</a:t>
            </a:r>
            <a:r>
              <a:rPr lang="pt-PT" sz="2800" dirty="0">
                <a:latin typeface="Consolas" panose="020B0609020204030204" pitchFamily="49" charset="0"/>
              </a:rPr>
              <a:t> time, </a:t>
            </a:r>
            <a:r>
              <a:rPr lang="pt-PT" sz="2800" dirty="0" err="1">
                <a:latin typeface="Consolas" panose="020B0609020204030204" pitchFamily="49" charset="0"/>
              </a:rPr>
              <a:t>possible</a:t>
            </a:r>
            <a:r>
              <a:rPr lang="pt-PT" sz="2800" dirty="0">
                <a:latin typeface="Consolas" panose="020B0609020204030204" pitchFamily="49" charset="0"/>
              </a:rPr>
              <a:t> </a:t>
            </a:r>
            <a:r>
              <a:rPr lang="pt-PT" sz="2800" dirty="0" err="1">
                <a:latin typeface="Consolas" panose="020B0609020204030204" pitchFamily="49" charset="0"/>
              </a:rPr>
              <a:t>delays</a:t>
            </a:r>
            <a:r>
              <a:rPr lang="pt-PT" sz="2800" dirty="0">
                <a:latin typeface="Consolas" panose="020B0609020204030204" pitchFamily="49" charset="0"/>
              </a:rPr>
              <a:t> etc.</a:t>
            </a:r>
          </a:p>
          <a:p>
            <a:r>
              <a:rPr lang="pt-PT" sz="2800" dirty="0">
                <a:latin typeface="Consolas" panose="020B0609020204030204" pitchFamily="49" charset="0"/>
              </a:rPr>
              <a:t>"Obtenção de valores e métricas do </a:t>
            </a:r>
            <a:r>
              <a:rPr lang="pt-PT" sz="2800" dirty="0" err="1">
                <a:latin typeface="Consolas" panose="020B0609020204030204" pitchFamily="49" charset="0"/>
              </a:rPr>
              <a:t>criptoativo</a:t>
            </a:r>
            <a:r>
              <a:rPr lang="pt-PT" sz="2800" dirty="0">
                <a:latin typeface="Consolas" panose="020B0609020204030204" pitchFamily="49" charset="0"/>
              </a:rPr>
              <a:t> </a:t>
            </a:r>
            <a:r>
              <a:rPr lang="pt-PT" sz="2800" dirty="0" err="1">
                <a:latin typeface="Consolas" panose="020B0609020204030204" pitchFamily="49" charset="0"/>
              </a:rPr>
              <a:t>Bitcoin</a:t>
            </a:r>
            <a:endParaRPr lang="pt-PT" sz="2800" dirty="0">
              <a:latin typeface="Consolas" panose="020B0609020204030204" pitchFamily="49" charset="0"/>
            </a:endParaRPr>
          </a:p>
          <a:p>
            <a:endParaRPr lang="pt-PT" sz="2800" dirty="0">
              <a:latin typeface="Consolas" panose="020B0609020204030204" pitchFamily="49" charset="0"/>
            </a:endParaRPr>
          </a:p>
          <a:p>
            <a:r>
              <a:rPr lang="pt-PT" sz="2800" dirty="0">
                <a:latin typeface="Consolas" panose="020B0609020204030204" pitchFamily="49" charset="0"/>
              </a:rPr>
              <a:t>"US </a:t>
            </a:r>
            <a:r>
              <a:rPr lang="pt-PT" sz="2800" dirty="0" err="1">
                <a:latin typeface="Consolas" panose="020B0609020204030204" pitchFamily="49" charset="0"/>
              </a:rPr>
              <a:t>Used</a:t>
            </a:r>
            <a:r>
              <a:rPr lang="pt-PT" sz="2800" dirty="0">
                <a:latin typeface="Consolas" panose="020B0609020204030204" pitchFamily="49" charset="0"/>
              </a:rPr>
              <a:t> </a:t>
            </a:r>
            <a:r>
              <a:rPr lang="pt-PT" sz="2800" dirty="0" err="1">
                <a:latin typeface="Consolas" panose="020B0609020204030204" pitchFamily="49" charset="0"/>
              </a:rPr>
              <a:t>Cars</a:t>
            </a:r>
            <a:r>
              <a:rPr lang="pt-PT" sz="2800" dirty="0">
                <a:latin typeface="Consolas" panose="020B0609020204030204" pitchFamily="49" charset="0"/>
              </a:rPr>
              <a:t> </a:t>
            </a:r>
            <a:r>
              <a:rPr lang="pt-PT" sz="2800" dirty="0" err="1">
                <a:latin typeface="Consolas" panose="020B0609020204030204" pitchFamily="49" charset="0"/>
              </a:rPr>
              <a:t>Dataset</a:t>
            </a:r>
            <a:r>
              <a:rPr lang="pt-PT" sz="2800" dirty="0">
                <a:latin typeface="Consolas" panose="020B0609020204030204" pitchFamily="49" charset="0"/>
              </a:rPr>
              <a:t>” , </a:t>
            </a:r>
            <a:r>
              <a:rPr lang="pt-PT" sz="2800" dirty="0" err="1">
                <a:latin typeface="Consolas" panose="020B0609020204030204" pitchFamily="49" charset="0"/>
              </a:rPr>
              <a:t>dataset</a:t>
            </a:r>
            <a:r>
              <a:rPr lang="pt-PT" sz="2800" dirty="0">
                <a:latin typeface="Consolas" panose="020B0609020204030204" pitchFamily="49" charset="0"/>
              </a:rPr>
              <a:t> que contém detalhes de 3 milhões de carros usados (reais).</a:t>
            </a:r>
          </a:p>
          <a:p>
            <a:pPr marL="274320" lvl="1" indent="0">
              <a:buNone/>
            </a:pPr>
            <a:r>
              <a:rPr lang="pt-PT" sz="2500" dirty="0">
                <a:latin typeface="Consolas" panose="020B0609020204030204" pitchFamily="49" charset="0"/>
              </a:rPr>
              <a:t>objetivo: prever / estimar o preço ou valor dos carros</a:t>
            </a:r>
          </a:p>
          <a:p>
            <a:pPr marL="274320" lvl="1" indent="0">
              <a:buNone/>
            </a:pPr>
            <a:r>
              <a:rPr lang="pt-PT" sz="2500" dirty="0">
                <a:latin typeface="Consolas" panose="020B0609020204030204" pitchFamily="49" charset="0"/>
              </a:rPr>
              <a:t>"criar uma mecanismo de análise estatística sobre um </a:t>
            </a:r>
            <a:r>
              <a:rPr lang="pt-PT" sz="2500" dirty="0" err="1">
                <a:latin typeface="Consolas" panose="020B0609020204030204" pitchFamily="49" charset="0"/>
              </a:rPr>
              <a:t>dataset</a:t>
            </a:r>
            <a:r>
              <a:rPr lang="pt-PT" sz="2500" dirty="0">
                <a:latin typeface="Consolas" panose="020B0609020204030204" pitchFamily="49" charset="0"/>
              </a:rPr>
              <a:t> de </a:t>
            </a:r>
            <a:r>
              <a:rPr lang="pt-PT" sz="2500" dirty="0" err="1">
                <a:latin typeface="Consolas" panose="020B0609020204030204" pitchFamily="49" charset="0"/>
              </a:rPr>
              <a:t>criptomoedas</a:t>
            </a:r>
            <a:r>
              <a:rPr lang="pt-PT" sz="2500" dirty="0">
                <a:latin typeface="Consolas" panose="020B0609020204030204" pitchFamily="49" charset="0"/>
              </a:rPr>
              <a:t> e também criar um pipeline de </a:t>
            </a:r>
            <a:r>
              <a:rPr lang="pt-PT" sz="2500" dirty="0" err="1">
                <a:latin typeface="Consolas" panose="020B0609020204030204" pitchFamily="49" charset="0"/>
              </a:rPr>
              <a:t>streaming</a:t>
            </a:r>
            <a:r>
              <a:rPr lang="pt-PT" sz="2500" dirty="0">
                <a:latin typeface="Consolas" panose="020B0609020204030204" pitchFamily="49" charset="0"/>
              </a:rPr>
              <a:t> para capturar valores em tempo real nas bolsas de valores de cripto (</a:t>
            </a:r>
            <a:r>
              <a:rPr lang="pt-PT" sz="2500" dirty="0" err="1">
                <a:latin typeface="Consolas" panose="020B0609020204030204" pitchFamily="49" charset="0"/>
              </a:rPr>
              <a:t>coinbase</a:t>
            </a:r>
            <a:r>
              <a:rPr lang="pt-PT" sz="2500" dirty="0">
                <a:latin typeface="Consolas" panose="020B0609020204030204" pitchFamily="49" charset="0"/>
              </a:rPr>
              <a:t>, </a:t>
            </a:r>
            <a:r>
              <a:rPr lang="pt-PT" sz="2500" dirty="0" err="1">
                <a:latin typeface="Consolas" panose="020B0609020204030204" pitchFamily="49" charset="0"/>
              </a:rPr>
              <a:t>binance</a:t>
            </a:r>
            <a:r>
              <a:rPr lang="pt-PT" sz="2500" dirty="0">
                <a:latin typeface="Consolas" panose="020B0609020204030204" pitchFamily="49" charset="0"/>
              </a:rPr>
              <a:t>, ...). contem preços ao minuto de várias </a:t>
            </a:r>
            <a:r>
              <a:rPr lang="pt-PT" sz="2500" dirty="0" err="1">
                <a:latin typeface="Consolas" panose="020B0609020204030204" pitchFamily="49" charset="0"/>
              </a:rPr>
              <a:t>criptomoedas</a:t>
            </a:r>
            <a:r>
              <a:rPr lang="pt-PT" sz="2500" dirty="0">
                <a:latin typeface="Consolas" panose="020B0609020204030204" pitchFamily="49" charset="0"/>
              </a:rPr>
              <a:t> ao longo de 3 anos, cada ficheiro tem aproximadamente 150MB e podemos juntar vários ficheiros para atingir 3 ou 4 GB.</a:t>
            </a:r>
          </a:p>
          <a:p>
            <a:endParaRPr lang="pt-PT" sz="2800" dirty="0">
              <a:latin typeface="Consolas" panose="020B0609020204030204" pitchFamily="49" charset="0"/>
            </a:endParaRPr>
          </a:p>
          <a:p>
            <a:r>
              <a:rPr lang="pt-PT" sz="2800" dirty="0">
                <a:latin typeface="Consolas" panose="020B0609020204030204" pitchFamily="49" charset="0"/>
              </a:rPr>
              <a:t>HISTORICAL OHLC PRICE DATA INCLUDES VOLUME</a:t>
            </a:r>
          </a:p>
          <a:p>
            <a:pPr marL="274320" lvl="1" indent="0">
              <a:buNone/>
            </a:pPr>
            <a:r>
              <a:rPr lang="pt-PT" sz="2500" dirty="0">
                <a:latin typeface="Consolas" panose="020B0609020204030204" pitchFamily="49" charset="0"/>
              </a:rPr>
              <a:t>criar um mecanismo de </a:t>
            </a:r>
            <a:r>
              <a:rPr lang="pt-PT" sz="2500" dirty="0" err="1">
                <a:latin typeface="Consolas" panose="020B0609020204030204" pitchFamily="49" charset="0"/>
              </a:rPr>
              <a:t>streaming</a:t>
            </a:r>
            <a:r>
              <a:rPr lang="pt-PT" sz="2500" dirty="0">
                <a:latin typeface="Consolas" panose="020B0609020204030204" pitchFamily="49" charset="0"/>
              </a:rPr>
              <a:t> para captar os valores em </a:t>
            </a:r>
            <a:r>
              <a:rPr lang="pt-PT" sz="2500" dirty="0" err="1">
                <a:latin typeface="Consolas" panose="020B0609020204030204" pitchFamily="49" charset="0"/>
              </a:rPr>
              <a:t>transacção</a:t>
            </a:r>
            <a:r>
              <a:rPr lang="pt-PT" sz="2500" dirty="0">
                <a:latin typeface="Consolas" panose="020B0609020204030204" pitchFamily="49" charset="0"/>
              </a:rPr>
              <a:t> no mercado em tempo real e criar alertas quando os preços ultrapassem certo valores. as fontes de dados serão bolsas de transação de </a:t>
            </a:r>
            <a:r>
              <a:rPr lang="pt-PT" sz="2500" dirty="0" err="1">
                <a:latin typeface="Consolas" panose="020B0609020204030204" pitchFamily="49" charset="0"/>
              </a:rPr>
              <a:t>criptomoedas</a:t>
            </a:r>
            <a:r>
              <a:rPr lang="pt-PT" sz="2500" dirty="0">
                <a:latin typeface="Consolas" panose="020B0609020204030204" pitchFamily="49" charset="0"/>
              </a:rPr>
              <a:t> (</a:t>
            </a:r>
            <a:r>
              <a:rPr lang="pt-PT" sz="2500" dirty="0" err="1">
                <a:latin typeface="Consolas" panose="020B0609020204030204" pitchFamily="49" charset="0"/>
              </a:rPr>
              <a:t>coinbase</a:t>
            </a:r>
            <a:r>
              <a:rPr lang="pt-PT" sz="2500" dirty="0">
                <a:latin typeface="Consolas" panose="020B0609020204030204" pitchFamily="49" charset="0"/>
              </a:rPr>
              <a:t>, </a:t>
            </a:r>
            <a:r>
              <a:rPr lang="pt-PT" sz="2500" dirty="0" err="1">
                <a:latin typeface="Consolas" panose="020B0609020204030204" pitchFamily="49" charset="0"/>
              </a:rPr>
              <a:t>binance</a:t>
            </a:r>
            <a:r>
              <a:rPr lang="pt-PT" sz="2500" dirty="0">
                <a:latin typeface="Consolas" panose="020B0609020204030204" pitchFamily="49" charset="0"/>
              </a:rPr>
              <a:t>, etc...)</a:t>
            </a:r>
          </a:p>
          <a:p>
            <a:pPr marL="274320" lvl="1" indent="0">
              <a:buNone/>
            </a:pPr>
            <a:r>
              <a:rPr lang="pt-PT" sz="2500" dirty="0">
                <a:latin typeface="Consolas" panose="020B0609020204030204" pitchFamily="49" charset="0"/>
              </a:rPr>
              <a:t>criar um mecanismo de </a:t>
            </a:r>
            <a:r>
              <a:rPr lang="pt-PT" sz="2500" dirty="0" err="1">
                <a:latin typeface="Consolas" panose="020B0609020204030204" pitchFamily="49" charset="0"/>
              </a:rPr>
              <a:t>batching</a:t>
            </a:r>
            <a:r>
              <a:rPr lang="pt-PT" sz="2500" dirty="0">
                <a:latin typeface="Consolas" panose="020B0609020204030204" pitchFamily="49" charset="0"/>
              </a:rPr>
              <a:t> para extrair informação estatística (médias, agregações por dia ou mês, etc...) </a:t>
            </a:r>
          </a:p>
          <a:p>
            <a:pPr marL="274320" lvl="1" indent="0">
              <a:buNone/>
            </a:pPr>
            <a:r>
              <a:rPr lang="pt-PT" sz="2500" dirty="0">
                <a:latin typeface="Consolas" panose="020B0609020204030204" pitchFamily="49" charset="0"/>
              </a:rPr>
              <a:t>potencialmente utilizar um modelo de </a:t>
            </a:r>
            <a:r>
              <a:rPr lang="pt-PT" sz="2500" dirty="0" err="1">
                <a:latin typeface="Consolas" panose="020B0609020204030204" pitchFamily="49" charset="0"/>
              </a:rPr>
              <a:t>machinee</a:t>
            </a:r>
            <a:r>
              <a:rPr lang="pt-PT" sz="2500" dirty="0">
                <a:latin typeface="Consolas" panose="020B0609020204030204" pitchFamily="49" charset="0"/>
              </a:rPr>
              <a:t> </a:t>
            </a:r>
            <a:r>
              <a:rPr lang="pt-PT" sz="2500" dirty="0" err="1">
                <a:latin typeface="Consolas" panose="020B0609020204030204" pitchFamily="49" charset="0"/>
              </a:rPr>
              <a:t>learning</a:t>
            </a:r>
            <a:r>
              <a:rPr lang="pt-PT" sz="2500" dirty="0">
                <a:latin typeface="Consolas" panose="020B0609020204030204" pitchFamily="49" charset="0"/>
              </a:rPr>
              <a:t> para prever preços a curto prazo. "</a:t>
            </a:r>
          </a:p>
          <a:p>
            <a:endParaRPr lang="pt-PT" sz="2800" dirty="0">
              <a:latin typeface="Consolas" panose="020B0609020204030204" pitchFamily="49" charset="0"/>
            </a:endParaRPr>
          </a:p>
          <a:p>
            <a:r>
              <a:rPr lang="pt-PT" sz="2800" dirty="0" err="1">
                <a:latin typeface="Consolas" panose="020B0609020204030204" pitchFamily="49" charset="0"/>
              </a:rPr>
              <a:t>International</a:t>
            </a:r>
            <a:r>
              <a:rPr lang="pt-PT" sz="2800" dirty="0">
                <a:latin typeface="Consolas" panose="020B0609020204030204" pitchFamily="49" charset="0"/>
              </a:rPr>
              <a:t> </a:t>
            </a:r>
            <a:r>
              <a:rPr lang="pt-PT" sz="2800" dirty="0" err="1">
                <a:latin typeface="Consolas" panose="020B0609020204030204" pitchFamily="49" charset="0"/>
              </a:rPr>
              <a:t>football</a:t>
            </a:r>
            <a:r>
              <a:rPr lang="pt-PT" sz="2800" dirty="0">
                <a:latin typeface="Consolas" panose="020B0609020204030204" pitchFamily="49" charset="0"/>
              </a:rPr>
              <a:t> </a:t>
            </a:r>
            <a:r>
              <a:rPr lang="pt-PT" sz="2800" dirty="0" err="1">
                <a:latin typeface="Consolas" panose="020B0609020204030204" pitchFamily="49" charset="0"/>
              </a:rPr>
              <a:t>results</a:t>
            </a:r>
            <a:r>
              <a:rPr lang="pt-PT" sz="2800" dirty="0">
                <a:latin typeface="Consolas" panose="020B0609020204030204" pitchFamily="49" charset="0"/>
              </a:rPr>
              <a:t> </a:t>
            </a:r>
            <a:r>
              <a:rPr lang="pt-PT" sz="2800" dirty="0" err="1">
                <a:latin typeface="Consolas" panose="020B0609020204030204" pitchFamily="49" charset="0"/>
              </a:rPr>
              <a:t>from</a:t>
            </a:r>
            <a:r>
              <a:rPr lang="pt-PT" sz="2800" dirty="0">
                <a:latin typeface="Consolas" panose="020B0609020204030204" pitchFamily="49" charset="0"/>
              </a:rPr>
              <a:t> 1872 to 2022</a:t>
            </a:r>
          </a:p>
          <a:p>
            <a:pPr marL="274320" lvl="1" indent="0">
              <a:buNone/>
            </a:pPr>
            <a:r>
              <a:rPr lang="pt-PT" sz="2500" dirty="0">
                <a:latin typeface="Consolas" panose="020B0609020204030204" pitchFamily="49" charset="0"/>
              </a:rPr>
              <a:t>Criar uma pipeline de </a:t>
            </a:r>
            <a:r>
              <a:rPr lang="pt-PT" sz="2500" dirty="0" err="1">
                <a:latin typeface="Consolas" panose="020B0609020204030204" pitchFamily="49" charset="0"/>
              </a:rPr>
              <a:t>streaming</a:t>
            </a:r>
            <a:r>
              <a:rPr lang="pt-PT" sz="2500" dirty="0">
                <a:latin typeface="Consolas" panose="020B0609020204030204" pitchFamily="49" charset="0"/>
              </a:rPr>
              <a:t> que capture os resultados de jogos de futebol internacional, podendo depois conseguir recolher alguma informação estatística como (Top 10 equipas, Que equipas dominar as eras de futebol, qual paí­s foi mais vezes anfitrião, etc...)."</a:t>
            </a:r>
          </a:p>
          <a:p>
            <a:r>
              <a:rPr lang="pt-PT" sz="2800" dirty="0">
                <a:latin typeface="Consolas" panose="020B0609020204030204" pitchFamily="49" charset="0"/>
              </a:rPr>
              <a:t>"Previsão do Preço de Imobiliários</a:t>
            </a:r>
          </a:p>
          <a:p>
            <a:pPr marL="274320" lvl="1" indent="0">
              <a:buNone/>
            </a:pPr>
            <a:r>
              <a:rPr lang="pt-PT" sz="2500" dirty="0">
                <a:latin typeface="Consolas" panose="020B0609020204030204" pitchFamily="49" charset="0"/>
              </a:rPr>
              <a:t>O DATASET TEM COMO OBJETIVO RECONHECER O TIPO DE ATIVIDADE E ESTIMAR A INTENSIDADE. Pretende-se com este </a:t>
            </a:r>
            <a:r>
              <a:rPr lang="pt-PT" sz="2500" dirty="0" err="1">
                <a:latin typeface="Consolas" panose="020B0609020204030204" pitchFamily="49" charset="0"/>
              </a:rPr>
              <a:t>dataset</a:t>
            </a:r>
            <a:r>
              <a:rPr lang="pt-PT" sz="2500" dirty="0">
                <a:latin typeface="Consolas" panose="020B0609020204030204" pitchFamily="49" charset="0"/>
              </a:rPr>
              <a:t> fazer um processamento dos dados de modo a estimar a intensidade com base no tipo de atividade. </a:t>
            </a:r>
          </a:p>
          <a:p>
            <a:r>
              <a:rPr lang="pt-PT" sz="2800" dirty="0">
                <a:latin typeface="Consolas" panose="020B0609020204030204" pitchFamily="49" charset="0"/>
              </a:rPr>
              <a:t>"Infrações na cidade de Nova York</a:t>
            </a:r>
          </a:p>
        </p:txBody>
      </p:sp>
    </p:spTree>
    <p:extLst>
      <p:ext uri="{BB962C8B-B14F-4D97-AF65-F5344CB8AC3E}">
        <p14:creationId xmlns:p14="http://schemas.microsoft.com/office/powerpoint/2010/main" val="7115155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62868</TotalTime>
  <Words>1506</Words>
  <Application>Microsoft Office PowerPoint</Application>
  <PresentationFormat>On-screen Show (4:3)</PresentationFormat>
  <Paragraphs>305</Paragraphs>
  <Slides>27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Bookman Old Style</vt:lpstr>
      <vt:lpstr>Calibri</vt:lpstr>
      <vt:lpstr>Consolas</vt:lpstr>
      <vt:lpstr>Gill Sans MT</vt:lpstr>
      <vt:lpstr>Wingdings</vt:lpstr>
      <vt:lpstr>Wingdings 3</vt:lpstr>
      <vt:lpstr>Origin</vt:lpstr>
      <vt:lpstr>Big Data (MEI)</vt:lpstr>
      <vt:lpstr>BigData</vt:lpstr>
      <vt:lpstr>Context</vt:lpstr>
      <vt:lpstr>MovieLens</vt:lpstr>
      <vt:lpstr>MovieLens: Batch</vt:lpstr>
      <vt:lpstr>MovieLens: Stream</vt:lpstr>
      <vt:lpstr>MovieLens: Stream</vt:lpstr>
      <vt:lpstr>MovieLens: Stream</vt:lpstr>
      <vt:lpstr>MovieLens: Batch</vt:lpstr>
      <vt:lpstr>MovieLens: ReBatch</vt:lpstr>
      <vt:lpstr>MovieLens: ReBatch</vt:lpstr>
      <vt:lpstr>MovieLens: Makefile</vt:lpstr>
      <vt:lpstr>MovieLens: Batch</vt:lpstr>
      <vt:lpstr>MovieLens: ML</vt:lpstr>
      <vt:lpstr>MovieLens: ML Batch</vt:lpstr>
      <vt:lpstr>MovieLens: ML Process/Train Model</vt:lpstr>
      <vt:lpstr>MovieLens: ML Process/Train Model</vt:lpstr>
      <vt:lpstr>MovieLens: Load Save Model</vt:lpstr>
      <vt:lpstr>MovieLens: ML Stream</vt:lpstr>
      <vt:lpstr>MovieLens: ML Stream</vt:lpstr>
      <vt:lpstr>MovieLens: Train Model</vt:lpstr>
      <vt:lpstr>BigData - …Vs</vt:lpstr>
      <vt:lpstr>BigData Project </vt:lpstr>
      <vt:lpstr>Trabalho prático</vt:lpstr>
      <vt:lpstr>Trabalho prático</vt:lpstr>
      <vt:lpstr>Trabalho prático</vt:lpstr>
      <vt:lpstr>Trabalho prático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JCosta</dc:creator>
  <cp:lastModifiedBy>João Pedro Matos Costa</cp:lastModifiedBy>
  <cp:revision>354</cp:revision>
  <cp:lastPrinted>2016-11-10T16:27:59Z</cp:lastPrinted>
  <dcterms:created xsi:type="dcterms:W3CDTF">2009-10-14T11:25:11Z</dcterms:created>
  <dcterms:modified xsi:type="dcterms:W3CDTF">2026-05-18T16:46:28Z</dcterms:modified>
</cp:coreProperties>
</file>