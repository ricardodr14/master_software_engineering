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9569" autoAdjust="0"/>
  </p:normalViewPr>
  <p:slideViewPr>
    <p:cSldViewPr snapToGrid="0" snapToObjects="1">
      <p:cViewPr varScale="1">
        <p:scale>
          <a:sx n="85" d="100"/>
          <a:sy n="85" d="100"/>
        </p:scale>
        <p:origin x="4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SingleStore</c:v>
                </c:pt>
              </c:strCache>
            </c:strRef>
          </c:tx>
          <c:spPr>
            <a:solidFill>
              <a:srgbClr val="003087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INSERT 1x</c:v>
                </c:pt>
                <c:pt idx="1">
                  <c:v>INSERT 10x</c:v>
                </c:pt>
                <c:pt idx="2">
                  <c:v>INSERT 100x</c:v>
                </c:pt>
                <c:pt idx="3">
                  <c:v>SELECT A 1x</c:v>
                </c:pt>
                <c:pt idx="4">
                  <c:v>SELECT A 10x</c:v>
                </c:pt>
                <c:pt idx="5">
                  <c:v>SELECT A 100x</c:v>
                </c:pt>
                <c:pt idx="6">
                  <c:v>SELECT B 1x</c:v>
                </c:pt>
                <c:pt idx="7">
                  <c:v>SELECT B 10x</c:v>
                </c:pt>
                <c:pt idx="8">
                  <c:v>SELECT B 100x</c:v>
                </c:pt>
                <c:pt idx="9">
                  <c:v>UPDATE 10x</c:v>
                </c:pt>
                <c:pt idx="10">
                  <c:v>DELETE 10x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1.4</c:v>
                </c:pt>
                <c:pt idx="1">
                  <c:v>1.7</c:v>
                </c:pt>
                <c:pt idx="2">
                  <c:v>2.2999999999999998</c:v>
                </c:pt>
                <c:pt idx="3">
                  <c:v>0.8</c:v>
                </c:pt>
                <c:pt idx="4">
                  <c:v>3.2</c:v>
                </c:pt>
                <c:pt idx="5">
                  <c:v>28.4</c:v>
                </c:pt>
                <c:pt idx="6">
                  <c:v>0.3</c:v>
                </c:pt>
                <c:pt idx="7">
                  <c:v>1.4</c:v>
                </c:pt>
                <c:pt idx="8">
                  <c:v>11.8</c:v>
                </c:pt>
                <c:pt idx="9">
                  <c:v>9.4</c:v>
                </c:pt>
                <c:pt idx="10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7A-4690-9A6C-6DC1C1C6F3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MySQL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INSERT 1x</c:v>
                </c:pt>
                <c:pt idx="1">
                  <c:v>INSERT 10x</c:v>
                </c:pt>
                <c:pt idx="2">
                  <c:v>INSERT 100x</c:v>
                </c:pt>
                <c:pt idx="3">
                  <c:v>SELECT A 1x</c:v>
                </c:pt>
                <c:pt idx="4">
                  <c:v>SELECT A 10x</c:v>
                </c:pt>
                <c:pt idx="5">
                  <c:v>SELECT A 100x</c:v>
                </c:pt>
                <c:pt idx="6">
                  <c:v>SELECT B 1x</c:v>
                </c:pt>
                <c:pt idx="7">
                  <c:v>SELECT B 10x</c:v>
                </c:pt>
                <c:pt idx="8">
                  <c:v>SELECT B 100x</c:v>
                </c:pt>
                <c:pt idx="9">
                  <c:v>UPDATE 10x</c:v>
                </c:pt>
                <c:pt idx="10">
                  <c:v>DELETE 10x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5.0999999999999996</c:v>
                </c:pt>
                <c:pt idx="1">
                  <c:v>6.6</c:v>
                </c:pt>
                <c:pt idx="2">
                  <c:v>10.199999999999999</c:v>
                </c:pt>
                <c:pt idx="3">
                  <c:v>2.2999999999999998</c:v>
                </c:pt>
                <c:pt idx="4">
                  <c:v>38.200000000000003</c:v>
                </c:pt>
                <c:pt idx="5">
                  <c:v>300</c:v>
                </c:pt>
                <c:pt idx="6">
                  <c:v>1.1000000000000001</c:v>
                </c:pt>
                <c:pt idx="7">
                  <c:v>14.6</c:v>
                </c:pt>
                <c:pt idx="8">
                  <c:v>300</c:v>
                </c:pt>
                <c:pt idx="9">
                  <c:v>42.3</c:v>
                </c:pt>
                <c:pt idx="10">
                  <c:v>31.8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7A-4690-9A6C-6DC1C1C6F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197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Bom dia. Sou o Ricardo Rodrigues, número a2022147797. O meu trabalho é sobre o </a:t>
            </a:r>
            <a:r>
              <a:rPr lang="pt-PT" dirty="0" err="1"/>
              <a:t>SingleStore</a:t>
            </a:r>
            <a:r>
              <a:rPr lang="pt-PT" dirty="0"/>
              <a:t> DB, um sistema de bases de dados da categoria </a:t>
            </a:r>
            <a:r>
              <a:rPr lang="pt-PT" dirty="0" err="1"/>
              <a:t>NewSQL</a:t>
            </a:r>
            <a:r>
              <a:rPr lang="pt-PT" dirty="0"/>
              <a:t>. Nos próximos 20 minutos vou explicar o que é, como funciona por dentro, e o que a avaliação experimental mostrou. Começo já.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Diz apenas: "A apresentação está dividida em seis temas — contexto histórico, </a:t>
            </a:r>
            <a:r>
              <a:rPr lang="pt-PT" dirty="0" err="1"/>
              <a:t>arquitectura</a:t>
            </a:r>
            <a:r>
              <a:rPr lang="pt-PT" dirty="0"/>
              <a:t>, funcionalidades, análise crítica, avaliação experimental com dados reais, e comparação final." Não lês os </a:t>
            </a:r>
            <a:r>
              <a:rPr lang="pt-PT" dirty="0" err="1"/>
              <a:t>bullets</a:t>
            </a:r>
            <a:r>
              <a:rPr lang="pt-PT" dirty="0"/>
              <a:t> um a um. Avança rapidamente.</a:t>
            </a:r>
          </a:p>
          <a:p>
            <a:r>
              <a:rPr lang="pt-PT" dirty="0"/>
              <a:t>SIGLAS: HTAP = sistema que faz OLTP e OLAP ao mesmo tempo. OLTP = operações transacionais rápidas. OLAP = consultas analíticas sobre grandes volumes. ETL = processo de mover dados entre sistemas. CRUD = as quatro operações básicas (</a:t>
            </a:r>
            <a:r>
              <a:rPr lang="pt-PT" dirty="0" err="1"/>
              <a:t>Create</a:t>
            </a:r>
            <a:r>
              <a:rPr lang="pt-PT" dirty="0"/>
              <a:t>, </a:t>
            </a:r>
            <a:r>
              <a:rPr lang="pt-PT" dirty="0" err="1"/>
              <a:t>Read</a:t>
            </a:r>
            <a:r>
              <a:rPr lang="pt-PT" dirty="0"/>
              <a:t>, </a:t>
            </a:r>
            <a:r>
              <a:rPr lang="pt-PT" dirty="0" err="1"/>
              <a:t>Update</a:t>
            </a:r>
            <a:r>
              <a:rPr lang="pt-PT" dirty="0"/>
              <a:t>, Delete).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Aponta para a primeira coluna: "A primeira geração são os sistemas relacionais — </a:t>
            </a:r>
            <a:r>
              <a:rPr lang="pt-PT" dirty="0" err="1"/>
              <a:t>MySQL</a:t>
            </a:r>
            <a:r>
              <a:rPr lang="pt-PT" dirty="0"/>
              <a:t>, </a:t>
            </a:r>
            <a:r>
              <a:rPr lang="pt-PT" dirty="0" err="1"/>
              <a:t>PostgreSQL</a:t>
            </a:r>
            <a:r>
              <a:rPr lang="pt-PT" dirty="0"/>
              <a:t>, Oracle. Garantem consistência total graças às propriedades ACID, mas escalam mal quando o volume de dados cresce muito porque a </a:t>
            </a:r>
            <a:r>
              <a:rPr lang="pt-PT" dirty="0" err="1"/>
              <a:t>arquitectura</a:t>
            </a:r>
            <a:r>
              <a:rPr lang="pt-PT" dirty="0"/>
              <a:t> é monolítica."</a:t>
            </a:r>
          </a:p>
          <a:p>
            <a:r>
              <a:rPr lang="pt-PT" dirty="0"/>
              <a:t>Aponta para a segunda coluna: "A segunda geração, o </a:t>
            </a:r>
            <a:r>
              <a:rPr lang="pt-PT" dirty="0" err="1"/>
              <a:t>NoSQL</a:t>
            </a:r>
            <a:r>
              <a:rPr lang="pt-PT" dirty="0"/>
              <a:t>, surgiu para resolver </a:t>
            </a:r>
            <a:r>
              <a:rPr lang="pt-PT" dirty="0" err="1"/>
              <a:t>exactamente</a:t>
            </a:r>
            <a:r>
              <a:rPr lang="pt-PT" dirty="0"/>
              <a:t> esse problema de escalabilidade. O teorema CAP mostrou que um sistema distribuído não pode garantir simultaneamente consistência, disponibilidade e tolerância a falhas de rede — e o </a:t>
            </a:r>
            <a:r>
              <a:rPr lang="pt-PT" dirty="0" err="1"/>
              <a:t>NoSQL</a:t>
            </a:r>
            <a:r>
              <a:rPr lang="pt-PT" dirty="0"/>
              <a:t> optou por prescindir da consistência. Ganhou escala, perdeu SQL e garantias transacionais."</a:t>
            </a:r>
          </a:p>
          <a:p>
            <a:r>
              <a:rPr lang="pt-PT" dirty="0"/>
              <a:t>Aponta para a terceira coluna e para a caixa verde: "A terceira geração, o </a:t>
            </a:r>
            <a:r>
              <a:rPr lang="pt-PT" dirty="0" err="1"/>
              <a:t>NewSQL</a:t>
            </a:r>
            <a:r>
              <a:rPr lang="pt-PT" dirty="0"/>
              <a:t>, procura ter os dois — a escala do </a:t>
            </a:r>
            <a:r>
              <a:rPr lang="pt-PT" dirty="0" err="1"/>
              <a:t>NoSQL</a:t>
            </a:r>
            <a:r>
              <a:rPr lang="pt-PT" dirty="0"/>
              <a:t> e as garantias ACID dos sistemas relacionais. E é aqui que o </a:t>
            </a:r>
            <a:r>
              <a:rPr lang="pt-PT" dirty="0" err="1"/>
              <a:t>SingleStore</a:t>
            </a:r>
            <a:r>
              <a:rPr lang="pt-PT" dirty="0"/>
              <a:t> se encaixa."</a:t>
            </a:r>
          </a:p>
          <a:p>
            <a:r>
              <a:rPr lang="pt-PT" dirty="0"/>
              <a:t>SIGLAS: ACID = </a:t>
            </a:r>
            <a:r>
              <a:rPr lang="pt-PT" dirty="0" err="1"/>
              <a:t>Atomicity</a:t>
            </a:r>
            <a:r>
              <a:rPr lang="pt-PT" dirty="0"/>
              <a:t>, </a:t>
            </a:r>
            <a:r>
              <a:rPr lang="pt-PT" dirty="0" err="1"/>
              <a:t>Consistency</a:t>
            </a:r>
            <a:r>
              <a:rPr lang="pt-PT" dirty="0"/>
              <a:t>, </a:t>
            </a:r>
            <a:r>
              <a:rPr lang="pt-PT" dirty="0" err="1"/>
              <a:t>Isolation</a:t>
            </a:r>
            <a:r>
              <a:rPr lang="pt-PT" dirty="0"/>
              <a:t>, </a:t>
            </a:r>
            <a:r>
              <a:rPr lang="pt-PT" dirty="0" err="1"/>
              <a:t>Durability</a:t>
            </a:r>
            <a:r>
              <a:rPr lang="pt-PT" dirty="0"/>
              <a:t> — as quatro propriedades que garantem que uma </a:t>
            </a:r>
            <a:r>
              <a:rPr lang="pt-PT" dirty="0" err="1"/>
              <a:t>transacção</a:t>
            </a:r>
            <a:r>
              <a:rPr lang="pt-PT" dirty="0"/>
              <a:t> é fiável. CAP = </a:t>
            </a:r>
            <a:r>
              <a:rPr lang="pt-PT" dirty="0" err="1"/>
              <a:t>Consistency</a:t>
            </a:r>
            <a:r>
              <a:rPr lang="pt-PT" dirty="0"/>
              <a:t>, </a:t>
            </a:r>
            <a:r>
              <a:rPr lang="pt-PT" dirty="0" err="1"/>
              <a:t>Availability</a:t>
            </a:r>
            <a:r>
              <a:rPr lang="pt-PT" dirty="0"/>
              <a:t>, </a:t>
            </a:r>
            <a:r>
              <a:rPr lang="pt-PT" dirty="0" err="1"/>
              <a:t>Partition-tolerance</a:t>
            </a:r>
            <a:r>
              <a:rPr lang="pt-PT" dirty="0"/>
              <a:t> — teorema que diz que só podes garantir 2 dos 3 num sistema distribuído. SGBDR = Sistema de Gestão de Bases de Dados Relacional (</a:t>
            </a:r>
            <a:r>
              <a:rPr lang="pt-PT" dirty="0" err="1"/>
              <a:t>MySQL</a:t>
            </a:r>
            <a:r>
              <a:rPr lang="pt-PT" dirty="0"/>
              <a:t>, </a:t>
            </a:r>
            <a:r>
              <a:rPr lang="pt-PT" dirty="0" err="1"/>
              <a:t>PostgreSQL</a:t>
            </a:r>
            <a:r>
              <a:rPr lang="pt-PT" dirty="0"/>
              <a:t>, Oracle). SQL = </a:t>
            </a:r>
            <a:r>
              <a:rPr lang="pt-PT" dirty="0" err="1"/>
              <a:t>Structured</a:t>
            </a:r>
            <a:r>
              <a:rPr lang="pt-PT" dirty="0"/>
              <a:t> </a:t>
            </a:r>
            <a:r>
              <a:rPr lang="pt-PT" dirty="0" err="1"/>
              <a:t>Query</a:t>
            </a:r>
            <a:r>
              <a:rPr lang="pt-PT" dirty="0"/>
              <a:t> </a:t>
            </a:r>
            <a:r>
              <a:rPr lang="pt-PT" dirty="0" err="1"/>
              <a:t>Language</a:t>
            </a:r>
            <a:r>
              <a:rPr lang="pt-PT" dirty="0"/>
              <a:t> — linguagem de consulta padrão.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Percorre a linha do tempo da esquerda para a direita enquanto falas:</a:t>
            </a:r>
          </a:p>
          <a:p>
            <a:r>
              <a:rPr lang="pt-PT" dirty="0"/>
              <a:t>"2011 — fundado como </a:t>
            </a:r>
            <a:r>
              <a:rPr lang="pt-PT" dirty="0" err="1"/>
              <a:t>MemSQL</a:t>
            </a:r>
            <a:r>
              <a:rPr lang="pt-PT" dirty="0"/>
              <a:t>, focado em bases de dados em memória para </a:t>
            </a:r>
            <a:r>
              <a:rPr lang="pt-PT" dirty="0" err="1"/>
              <a:t>transacções</a:t>
            </a:r>
            <a:r>
              <a:rPr lang="pt-PT" dirty="0"/>
              <a:t> muito rápidas." (pausa)</a:t>
            </a:r>
          </a:p>
          <a:p>
            <a:r>
              <a:rPr lang="pt-PT" dirty="0"/>
              <a:t>"2016 a 2019 — os clientes começaram a pedir analítica em tempo real. A equipa redesenhou o motor para suportar armazenamento colunar em disco sem abandonar o </a:t>
            </a:r>
            <a:r>
              <a:rPr lang="pt-PT" dirty="0" err="1"/>
              <a:t>rowstore</a:t>
            </a:r>
            <a:r>
              <a:rPr lang="pt-PT" dirty="0"/>
              <a:t> em memória." (pausa)</a:t>
            </a:r>
          </a:p>
          <a:p>
            <a:r>
              <a:rPr lang="pt-PT" dirty="0"/>
              <a:t>"2020 — concluíram que o produto já não era uma base de dados em memória. Era uma plataforma HTAP. O </a:t>
            </a:r>
            <a:r>
              <a:rPr lang="pt-PT" dirty="0" err="1"/>
              <a:t>rebranding</a:t>
            </a:r>
            <a:r>
              <a:rPr lang="pt-PT" dirty="0"/>
              <a:t> para </a:t>
            </a:r>
            <a:r>
              <a:rPr lang="pt-PT" dirty="0" err="1"/>
              <a:t>SingleStore</a:t>
            </a:r>
            <a:r>
              <a:rPr lang="pt-PT" dirty="0"/>
              <a:t> não foi só um nome novo — foi uma mudança deliberada de posicionamento no mercado." (pausa)</a:t>
            </a:r>
          </a:p>
          <a:p>
            <a:r>
              <a:rPr lang="pt-PT" dirty="0"/>
              <a:t>"2024 — adquiriram a </a:t>
            </a:r>
            <a:r>
              <a:rPr lang="pt-PT" dirty="0" err="1"/>
              <a:t>BryteFlow</a:t>
            </a:r>
            <a:r>
              <a:rPr lang="pt-PT" dirty="0"/>
              <a:t> para simplificar a integração de dados de fontes legadas como Oracle e SQL Server." (pausa)</a:t>
            </a:r>
          </a:p>
          <a:p>
            <a:r>
              <a:rPr lang="pt-PT" dirty="0"/>
              <a:t>"2025 — 123 milhões de ARR, crescimento de 23% ao ano. Não é um produto académico."</a:t>
            </a:r>
          </a:p>
          <a:p>
            <a:r>
              <a:rPr lang="pt-PT" dirty="0"/>
              <a:t>SIGLAS: HTAP = </a:t>
            </a:r>
            <a:r>
              <a:rPr lang="pt-PT" dirty="0" err="1"/>
              <a:t>Hybrid</a:t>
            </a:r>
            <a:r>
              <a:rPr lang="pt-PT" dirty="0"/>
              <a:t> </a:t>
            </a:r>
            <a:r>
              <a:rPr lang="pt-PT" dirty="0" err="1"/>
              <a:t>Transactional</a:t>
            </a:r>
            <a:r>
              <a:rPr lang="pt-PT" dirty="0"/>
              <a:t>/</a:t>
            </a:r>
            <a:r>
              <a:rPr lang="pt-PT" dirty="0" err="1"/>
              <a:t>Analytical</a:t>
            </a:r>
            <a:r>
              <a:rPr lang="pt-PT" dirty="0"/>
              <a:t> </a:t>
            </a:r>
            <a:r>
              <a:rPr lang="pt-PT" dirty="0" err="1"/>
              <a:t>Processing</a:t>
            </a:r>
            <a:r>
              <a:rPr lang="pt-PT" dirty="0"/>
              <a:t> — faz OLTP e OLAP sem ETL. ARR = </a:t>
            </a:r>
            <a:r>
              <a:rPr lang="pt-PT" dirty="0" err="1"/>
              <a:t>Annual</a:t>
            </a:r>
            <a:r>
              <a:rPr lang="pt-PT" dirty="0"/>
              <a:t> </a:t>
            </a:r>
            <a:r>
              <a:rPr lang="pt-PT" dirty="0" err="1"/>
              <a:t>Recurring</a:t>
            </a:r>
            <a:r>
              <a:rPr lang="pt-PT" dirty="0"/>
              <a:t> </a:t>
            </a:r>
            <a:r>
              <a:rPr lang="pt-PT" dirty="0" err="1"/>
              <a:t>Revenue</a:t>
            </a:r>
            <a:r>
              <a:rPr lang="pt-PT" dirty="0"/>
              <a:t> — receita recorrente anual, métrica de negócio SaaS.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Percorre o diagrama de cima para baixo, apontando com o cursor:</a:t>
            </a:r>
          </a:p>
          <a:p>
            <a:r>
              <a:rPr lang="pt-PT" dirty="0"/>
              <a:t>"O cliente liga-se via protocolo </a:t>
            </a:r>
            <a:r>
              <a:rPr lang="pt-PT" dirty="0" err="1"/>
              <a:t>MySQL</a:t>
            </a:r>
            <a:r>
              <a:rPr lang="pt-PT" dirty="0"/>
              <a:t> normal — qualquer driver que uses com </a:t>
            </a:r>
            <a:r>
              <a:rPr lang="pt-PT" dirty="0" err="1"/>
              <a:t>MySQL</a:t>
            </a:r>
            <a:r>
              <a:rPr lang="pt-PT" dirty="0"/>
              <a:t> funciona aqui sem alterações."</a:t>
            </a:r>
          </a:p>
          <a:p>
            <a:r>
              <a:rPr lang="pt-PT" dirty="0"/>
              <a:t>"A consulta vai para o Nó Agregador. Ele analisa o SQL, decide quais as partições de dados </a:t>
            </a:r>
            <a:r>
              <a:rPr lang="pt-PT" dirty="0" err="1"/>
              <a:t>afectadas</a:t>
            </a:r>
            <a:r>
              <a:rPr lang="pt-PT" dirty="0"/>
              <a:t>, e distribui </a:t>
            </a:r>
            <a:r>
              <a:rPr lang="pt-PT" dirty="0" err="1"/>
              <a:t>subplanos</a:t>
            </a:r>
            <a:r>
              <a:rPr lang="pt-PT" dirty="0"/>
              <a:t> em paralelo para os Nós Folha."</a:t>
            </a:r>
          </a:p>
          <a:p>
            <a:r>
              <a:rPr lang="pt-PT" dirty="0"/>
              <a:t>"Os Nós Folha executam localmente e devolvem os resultados parciais. O Agregador combina tudo e responde ao cliente."</a:t>
            </a:r>
          </a:p>
          <a:p>
            <a:r>
              <a:rPr lang="pt-PT" dirty="0"/>
              <a:t>"Cada Nó Folha tem dois tipos de armazenamento — </a:t>
            </a:r>
            <a:r>
              <a:rPr lang="pt-PT" dirty="0" err="1"/>
              <a:t>rowstore</a:t>
            </a:r>
            <a:r>
              <a:rPr lang="pt-PT" dirty="0"/>
              <a:t> em RAM para escrita rápida, e </a:t>
            </a:r>
            <a:r>
              <a:rPr lang="pt-PT" dirty="0" err="1"/>
              <a:t>columnstore</a:t>
            </a:r>
            <a:r>
              <a:rPr lang="pt-PT" dirty="0"/>
              <a:t> em disco para leitura analítica eficiente."</a:t>
            </a:r>
          </a:p>
          <a:p>
            <a:r>
              <a:rPr lang="pt-PT" dirty="0"/>
              <a:t>"O MVCC — que vês no canto superior direito — garante que leituras e escritas correm em paralelo sem se bloquear. É a mesma abordagem do </a:t>
            </a:r>
            <a:r>
              <a:rPr lang="pt-PT" dirty="0" err="1"/>
              <a:t>PostgreSQL</a:t>
            </a:r>
            <a:r>
              <a:rPr lang="pt-PT" dirty="0"/>
              <a:t>."</a:t>
            </a:r>
          </a:p>
          <a:p>
            <a:r>
              <a:rPr lang="pt-PT" dirty="0"/>
              <a:t>SIGLAS: SQL = linguagem de consulta. MVCC = </a:t>
            </a:r>
            <a:r>
              <a:rPr lang="pt-PT" dirty="0" err="1"/>
              <a:t>Multi-Version</a:t>
            </a:r>
            <a:r>
              <a:rPr lang="pt-PT" dirty="0"/>
              <a:t> </a:t>
            </a:r>
            <a:r>
              <a:rPr lang="pt-PT" dirty="0" err="1"/>
              <a:t>Concurrency</a:t>
            </a:r>
            <a:r>
              <a:rPr lang="pt-PT" dirty="0"/>
              <a:t> </a:t>
            </a:r>
            <a:r>
              <a:rPr lang="pt-PT" dirty="0" err="1"/>
              <a:t>Control</a:t>
            </a:r>
            <a:r>
              <a:rPr lang="pt-PT" dirty="0"/>
              <a:t> — mantém versões imutáveis de cada linha para não bloquear leituras durante escritas. HA = </a:t>
            </a:r>
            <a:r>
              <a:rPr lang="pt-PT" dirty="0" err="1"/>
              <a:t>High</a:t>
            </a:r>
            <a:r>
              <a:rPr lang="pt-PT" dirty="0"/>
              <a:t> </a:t>
            </a:r>
            <a:r>
              <a:rPr lang="pt-PT" dirty="0" err="1"/>
              <a:t>Availability</a:t>
            </a:r>
            <a:r>
              <a:rPr lang="pt-PT" dirty="0"/>
              <a:t> — se um nó falha, a réplica assume automaticamente. HTAP = este slide mostra </a:t>
            </a:r>
            <a:r>
              <a:rPr lang="pt-PT" dirty="0" err="1"/>
              <a:t>exactamente</a:t>
            </a:r>
            <a:r>
              <a:rPr lang="pt-PT" dirty="0"/>
              <a:t> como o sistema faz HTAP: </a:t>
            </a:r>
            <a:r>
              <a:rPr lang="pt-PT" dirty="0" err="1"/>
              <a:t>rowstore</a:t>
            </a:r>
            <a:r>
              <a:rPr lang="pt-PT" dirty="0"/>
              <a:t> para OLTP, </a:t>
            </a:r>
            <a:r>
              <a:rPr lang="pt-PT" dirty="0" err="1"/>
              <a:t>columnstore</a:t>
            </a:r>
            <a:r>
              <a:rPr lang="pt-PT" dirty="0"/>
              <a:t> para OLAP, na mesma máquina. OLTP = </a:t>
            </a:r>
            <a:r>
              <a:rPr lang="pt-PT" dirty="0" err="1"/>
              <a:t>transacções</a:t>
            </a:r>
            <a:r>
              <a:rPr lang="pt-PT" dirty="0"/>
              <a:t> rápidas (</a:t>
            </a:r>
            <a:r>
              <a:rPr lang="pt-PT" dirty="0" err="1"/>
              <a:t>rowstore</a:t>
            </a:r>
            <a:r>
              <a:rPr lang="pt-PT" dirty="0"/>
              <a:t> em RAM). OLAP = analítica (</a:t>
            </a:r>
            <a:r>
              <a:rPr lang="pt-PT" dirty="0" err="1"/>
              <a:t>columnstore</a:t>
            </a:r>
            <a:r>
              <a:rPr lang="pt-PT" dirty="0"/>
              <a:t> em disco).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Aponta para o cartão azul escuro:</a:t>
            </a:r>
          </a:p>
          <a:p>
            <a:r>
              <a:rPr lang="pt-PT" dirty="0"/>
              <a:t>"O </a:t>
            </a:r>
            <a:r>
              <a:rPr lang="pt-PT" dirty="0" err="1"/>
              <a:t>rowstore</a:t>
            </a:r>
            <a:r>
              <a:rPr lang="pt-PT" dirty="0"/>
              <a:t> guarda os dados operacionais inteiramente em RAM. Índice em árvore B para pesquisas por chave primária. A durabilidade é garantida por um </a:t>
            </a:r>
            <a:r>
              <a:rPr lang="pt-PT" dirty="0" err="1"/>
              <a:t>transaction</a:t>
            </a:r>
            <a:r>
              <a:rPr lang="pt-PT" dirty="0"/>
              <a:t> log em disco — se o sistema cair, nada se perde."</a:t>
            </a:r>
          </a:p>
          <a:p>
            <a:r>
              <a:rPr lang="pt-PT" dirty="0"/>
              <a:t>Aponta para o cartão azul-petróleo:</a:t>
            </a:r>
          </a:p>
          <a:p>
            <a:r>
              <a:rPr lang="pt-PT" dirty="0"/>
              <a:t>"O </a:t>
            </a:r>
            <a:r>
              <a:rPr lang="pt-PT" dirty="0" err="1"/>
              <a:t>columnstore</a:t>
            </a:r>
            <a:r>
              <a:rPr lang="pt-PT" dirty="0"/>
              <a:t> guarda os dados analíticos em disco, organizados por colunas e comprimidos. A diferença crítica: quando executo uma consulta analítica que precisa de 3 colunas numa tabela com 12, o </a:t>
            </a:r>
            <a:r>
              <a:rPr lang="pt-PT" dirty="0" err="1"/>
              <a:t>columnstore</a:t>
            </a:r>
            <a:r>
              <a:rPr lang="pt-PT" dirty="0"/>
              <a:t> só lê essas 3. O </a:t>
            </a:r>
            <a:r>
              <a:rPr lang="pt-PT" dirty="0" err="1"/>
              <a:t>MySQL</a:t>
            </a:r>
            <a:r>
              <a:rPr lang="pt-PT" dirty="0"/>
              <a:t> lê o bloco completo das 12 colunas e descarta as 9 que não precisa. A 100 GB de dados, essa diferença é enorme."</a:t>
            </a:r>
          </a:p>
          <a:p>
            <a:r>
              <a:rPr lang="pt-PT" dirty="0"/>
              <a:t>"O Armazenamento Universal combina os dois automaticamente na mesma tabela — dados recentes ficam no </a:t>
            </a:r>
            <a:r>
              <a:rPr lang="pt-PT" dirty="0" err="1"/>
              <a:t>rowstore</a:t>
            </a:r>
            <a:r>
              <a:rPr lang="pt-PT" dirty="0"/>
              <a:t>, dados antigos migram para o </a:t>
            </a:r>
            <a:r>
              <a:rPr lang="pt-PT" dirty="0" err="1"/>
              <a:t>columnstore</a:t>
            </a:r>
            <a:r>
              <a:rPr lang="pt-PT" dirty="0"/>
              <a:t> em segundo plano, sem interromper nada."</a:t>
            </a:r>
          </a:p>
          <a:p>
            <a:r>
              <a:rPr lang="pt-PT" dirty="0"/>
              <a:t>SIGLAS: OLTP = </a:t>
            </a:r>
            <a:r>
              <a:rPr lang="pt-PT" dirty="0" err="1"/>
              <a:t>transacções</a:t>
            </a:r>
            <a:r>
              <a:rPr lang="pt-PT" dirty="0"/>
              <a:t> rápidas → </a:t>
            </a:r>
            <a:r>
              <a:rPr lang="pt-PT" dirty="0" err="1"/>
              <a:t>rowstore</a:t>
            </a:r>
            <a:r>
              <a:rPr lang="pt-PT" dirty="0"/>
              <a:t>. OLAP = analítica → </a:t>
            </a:r>
            <a:r>
              <a:rPr lang="pt-PT" dirty="0" err="1"/>
              <a:t>columnstore</a:t>
            </a:r>
            <a:r>
              <a:rPr lang="pt-PT" dirty="0"/>
              <a:t>. RAM = memória volátil rápida onde o </a:t>
            </a:r>
            <a:r>
              <a:rPr lang="pt-PT" dirty="0" err="1"/>
              <a:t>rowstore</a:t>
            </a:r>
            <a:r>
              <a:rPr lang="pt-PT" dirty="0"/>
              <a:t> vive. SSD = disco de estado sólido onde o </a:t>
            </a:r>
            <a:r>
              <a:rPr lang="pt-PT" dirty="0" err="1"/>
              <a:t>columnstore</a:t>
            </a:r>
            <a:r>
              <a:rPr lang="pt-PT" dirty="0"/>
              <a:t> vive. </a:t>
            </a:r>
            <a:r>
              <a:rPr lang="pt-PT" dirty="0" err="1"/>
              <a:t>NVMe</a:t>
            </a:r>
            <a:r>
              <a:rPr lang="pt-PT" dirty="0"/>
              <a:t> = protocolo de alta velocidade para </a:t>
            </a:r>
            <a:r>
              <a:rPr lang="pt-PT" dirty="0" err="1"/>
              <a:t>SSDs</a:t>
            </a:r>
            <a:r>
              <a:rPr lang="pt-PT" dirty="0"/>
              <a:t> (3 a 7 GB/s, muito mais rápido que SATA). </a:t>
            </a:r>
            <a:r>
              <a:rPr lang="pt-PT" dirty="0" err="1"/>
              <a:t>InnoDB</a:t>
            </a:r>
            <a:r>
              <a:rPr lang="pt-PT" dirty="0"/>
              <a:t> = motor de armazenamento do </a:t>
            </a:r>
            <a:r>
              <a:rPr lang="pt-PT" dirty="0" err="1"/>
              <a:t>MySQL</a:t>
            </a:r>
            <a:r>
              <a:rPr lang="pt-PT" dirty="0"/>
              <a:t> — armazena linhas completas em blocos de 16 KB, lê o bloco inteiro mesmo que só precisem de 2 colunas.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Percorre os seis cartões rapidamente, um </a:t>
            </a:r>
            <a:r>
              <a:rPr lang="pt-PT" dirty="0" err="1"/>
              <a:t>bullet</a:t>
            </a:r>
            <a:r>
              <a:rPr lang="pt-PT" dirty="0"/>
              <a:t> por cartão:</a:t>
            </a:r>
          </a:p>
          <a:p>
            <a:r>
              <a:rPr lang="pt-PT" dirty="0"/>
              <a:t>"HTAP nativo — analítica sobre dados operacionais sem ETL, em tempo real." "</a:t>
            </a:r>
            <a:r>
              <a:rPr lang="pt-PT" dirty="0" err="1"/>
              <a:t>Multi-modelo</a:t>
            </a:r>
            <a:r>
              <a:rPr lang="pt-PT" dirty="0"/>
              <a:t> — relacional, JSON, </a:t>
            </a:r>
            <a:r>
              <a:rPr lang="pt-PT" dirty="0" err="1"/>
              <a:t>geoespacial</a:t>
            </a:r>
            <a:r>
              <a:rPr lang="pt-PT" dirty="0"/>
              <a:t>, séries temporais e </a:t>
            </a:r>
            <a:r>
              <a:rPr lang="pt-PT" dirty="0" err="1"/>
              <a:t>vectores</a:t>
            </a:r>
            <a:r>
              <a:rPr lang="pt-PT" dirty="0"/>
              <a:t> numa instância." "Pesquisa </a:t>
            </a:r>
            <a:r>
              <a:rPr lang="pt-PT" dirty="0" err="1"/>
              <a:t>vectorial</a:t>
            </a:r>
            <a:r>
              <a:rPr lang="pt-PT" dirty="0"/>
              <a:t> — mostrarei no próximo slide com código real." "Pipelines — ingestão em contínuo do Kafka e S3 com garantias de entrega." "Compatibilidade </a:t>
            </a:r>
            <a:r>
              <a:rPr lang="pt-PT" dirty="0" err="1"/>
              <a:t>MySQL</a:t>
            </a:r>
            <a:r>
              <a:rPr lang="pt-PT" dirty="0"/>
              <a:t> — qualquer driver ou ferramenta </a:t>
            </a:r>
            <a:r>
              <a:rPr lang="pt-PT" dirty="0" err="1"/>
              <a:t>MySQL</a:t>
            </a:r>
            <a:r>
              <a:rPr lang="pt-PT" dirty="0"/>
              <a:t> funciona sem alterações." "Escalabilidade horizontal — adição de nós em linha, sem paragem."</a:t>
            </a:r>
          </a:p>
          <a:p>
            <a:r>
              <a:rPr lang="pt-PT" dirty="0"/>
              <a:t>SIGLAS: HTAP = </a:t>
            </a:r>
            <a:r>
              <a:rPr lang="pt-PT" dirty="0" err="1"/>
              <a:t>Hybrid</a:t>
            </a:r>
            <a:r>
              <a:rPr lang="pt-PT" dirty="0"/>
              <a:t> </a:t>
            </a:r>
            <a:r>
              <a:rPr lang="pt-PT" dirty="0" err="1"/>
              <a:t>Transactional</a:t>
            </a:r>
            <a:r>
              <a:rPr lang="pt-PT" dirty="0"/>
              <a:t>/</a:t>
            </a:r>
            <a:r>
              <a:rPr lang="pt-PT" dirty="0" err="1"/>
              <a:t>Analytical</a:t>
            </a:r>
            <a:r>
              <a:rPr lang="pt-PT" dirty="0"/>
              <a:t> </a:t>
            </a:r>
            <a:r>
              <a:rPr lang="pt-PT" dirty="0" err="1"/>
              <a:t>Processing</a:t>
            </a:r>
            <a:r>
              <a:rPr lang="pt-PT" dirty="0"/>
              <a:t>. ETL = </a:t>
            </a:r>
            <a:r>
              <a:rPr lang="pt-PT" dirty="0" err="1"/>
              <a:t>Extract</a:t>
            </a:r>
            <a:r>
              <a:rPr lang="pt-PT" dirty="0"/>
              <a:t>, </a:t>
            </a:r>
            <a:r>
              <a:rPr lang="pt-PT" dirty="0" err="1"/>
              <a:t>Transform</a:t>
            </a:r>
            <a:r>
              <a:rPr lang="pt-PT" dirty="0"/>
              <a:t>, </a:t>
            </a:r>
            <a:r>
              <a:rPr lang="pt-PT" dirty="0" err="1"/>
              <a:t>Load</a:t>
            </a:r>
            <a:r>
              <a:rPr lang="pt-PT" dirty="0"/>
              <a:t> — o </a:t>
            </a:r>
            <a:r>
              <a:rPr lang="pt-PT" dirty="0" err="1"/>
              <a:t>SingleStore</a:t>
            </a:r>
            <a:r>
              <a:rPr lang="pt-PT" dirty="0"/>
              <a:t> elimina isto. OLTP e OLAP = já explicados antes, relembra rapidamente se sentires necessidade. JSON = JavaScript </a:t>
            </a:r>
            <a:r>
              <a:rPr lang="pt-PT" dirty="0" err="1"/>
              <a:t>Object</a:t>
            </a:r>
            <a:r>
              <a:rPr lang="pt-PT" dirty="0"/>
              <a:t> </a:t>
            </a:r>
            <a:r>
              <a:rPr lang="pt-PT" dirty="0" err="1"/>
              <a:t>Notation</a:t>
            </a:r>
            <a:r>
              <a:rPr lang="pt-PT" dirty="0"/>
              <a:t> — formato de dados </a:t>
            </a:r>
            <a:r>
              <a:rPr lang="pt-PT" dirty="0" err="1"/>
              <a:t>chave:valor</a:t>
            </a:r>
            <a:r>
              <a:rPr lang="pt-PT" dirty="0"/>
              <a:t> </a:t>
            </a:r>
            <a:r>
              <a:rPr lang="pt-PT" dirty="0" err="1"/>
              <a:t>semi-estruturado</a:t>
            </a:r>
            <a:r>
              <a:rPr lang="pt-PT" dirty="0"/>
              <a:t>. ANN = </a:t>
            </a:r>
            <a:r>
              <a:rPr lang="pt-PT" dirty="0" err="1"/>
              <a:t>Approximate</a:t>
            </a:r>
            <a:r>
              <a:rPr lang="pt-PT" dirty="0"/>
              <a:t> </a:t>
            </a:r>
            <a:r>
              <a:rPr lang="pt-PT" dirty="0" err="1"/>
              <a:t>Nearest</a:t>
            </a:r>
            <a:r>
              <a:rPr lang="pt-PT" dirty="0"/>
              <a:t> </a:t>
            </a:r>
            <a:r>
              <a:rPr lang="pt-PT" dirty="0" err="1"/>
              <a:t>Neighbor</a:t>
            </a:r>
            <a:r>
              <a:rPr lang="pt-PT" dirty="0"/>
              <a:t> — pesquisa </a:t>
            </a:r>
            <a:r>
              <a:rPr lang="pt-PT" dirty="0" err="1"/>
              <a:t>vectorial</a:t>
            </a:r>
            <a:r>
              <a:rPr lang="pt-PT" dirty="0"/>
              <a:t> rápida. RAG = </a:t>
            </a:r>
            <a:r>
              <a:rPr lang="pt-PT" dirty="0" err="1"/>
              <a:t>Retrieval-Augmented</a:t>
            </a:r>
            <a:r>
              <a:rPr lang="pt-PT" dirty="0"/>
              <a:t> </a:t>
            </a:r>
            <a:r>
              <a:rPr lang="pt-PT" dirty="0" err="1"/>
              <a:t>Generation</a:t>
            </a:r>
            <a:r>
              <a:rPr lang="pt-PT" dirty="0"/>
              <a:t> — IA que pesquisa documentos antes de gerar resposta. API = </a:t>
            </a:r>
            <a:r>
              <a:rPr lang="pt-PT" dirty="0" err="1"/>
              <a:t>Application</a:t>
            </a:r>
            <a:r>
              <a:rPr lang="pt-PT" dirty="0"/>
              <a:t> </a:t>
            </a:r>
            <a:r>
              <a:rPr lang="pt-PT" dirty="0" err="1"/>
              <a:t>Programming</a:t>
            </a:r>
            <a:r>
              <a:rPr lang="pt-PT" dirty="0"/>
              <a:t>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"A interface principal é o </a:t>
            </a:r>
            <a:r>
              <a:rPr lang="pt-PT" dirty="0" err="1"/>
              <a:t>SingleStore</a:t>
            </a:r>
            <a:r>
              <a:rPr lang="pt-PT" dirty="0"/>
              <a:t> </a:t>
            </a:r>
            <a:r>
              <a:rPr lang="pt-PT" dirty="0" err="1"/>
              <a:t>Studio</a:t>
            </a:r>
            <a:r>
              <a:rPr lang="pt-PT" dirty="0"/>
              <a:t> — um browser com editor SQL, explorador de esquemas, visualizador de planos de execução e painéis de monitorização. Abre em localhost:8080."</a:t>
            </a:r>
          </a:p>
          <a:p>
            <a:r>
              <a:rPr lang="pt-PT" dirty="0"/>
              <a:t>"Como o sistema é </a:t>
            </a:r>
            <a:r>
              <a:rPr lang="pt-PT" dirty="0" err="1"/>
              <a:t>wire-compatible</a:t>
            </a:r>
            <a:r>
              <a:rPr lang="pt-PT" dirty="0"/>
              <a:t> com </a:t>
            </a:r>
            <a:r>
              <a:rPr lang="pt-PT" dirty="0" err="1"/>
              <a:t>MySQL</a:t>
            </a:r>
            <a:r>
              <a:rPr lang="pt-PT" dirty="0"/>
              <a:t>, qualquer ferramenta que já usas funciona — </a:t>
            </a:r>
            <a:r>
              <a:rPr lang="pt-PT" dirty="0" err="1"/>
              <a:t>DBeaver</a:t>
            </a:r>
            <a:r>
              <a:rPr lang="pt-PT" dirty="0"/>
              <a:t>, </a:t>
            </a:r>
            <a:r>
              <a:rPr lang="pt-PT" dirty="0" err="1"/>
              <a:t>TablePlus</a:t>
            </a:r>
            <a:r>
              <a:rPr lang="pt-PT" dirty="0"/>
              <a:t>, qualquer driver </a:t>
            </a:r>
            <a:r>
              <a:rPr lang="pt-PT" dirty="0" err="1"/>
              <a:t>Python</a:t>
            </a:r>
            <a:r>
              <a:rPr lang="pt-PT" dirty="0"/>
              <a:t>, Java ou Node."</a:t>
            </a:r>
          </a:p>
          <a:p>
            <a:r>
              <a:rPr lang="pt-PT" dirty="0"/>
              <a:t>"O fluxo típico é: criar as tabelas, configurar o pipeline de ingestão do Kafka ou S3, e escrever consultas SQL normais que cruzam os dois tipos de tabela numa instrução só."</a:t>
            </a:r>
          </a:p>
          <a:p>
            <a:r>
              <a:rPr lang="pt-PT" dirty="0"/>
              <a:t>SIGLAS: SQL = linguagem de consulta padrão. JDBC = Java </a:t>
            </a:r>
            <a:r>
              <a:rPr lang="pt-PT" dirty="0" err="1"/>
              <a:t>Database</a:t>
            </a:r>
            <a:r>
              <a:rPr lang="pt-PT" dirty="0"/>
              <a:t> </a:t>
            </a:r>
            <a:r>
              <a:rPr lang="pt-PT" dirty="0" err="1"/>
              <a:t>Connectivity</a:t>
            </a:r>
            <a:r>
              <a:rPr lang="pt-PT" dirty="0"/>
              <a:t> — driver Java para bases de dados. ODBC = Open </a:t>
            </a:r>
            <a:r>
              <a:rPr lang="pt-PT" dirty="0" err="1"/>
              <a:t>Database</a:t>
            </a:r>
            <a:r>
              <a:rPr lang="pt-PT" dirty="0"/>
              <a:t> </a:t>
            </a:r>
            <a:r>
              <a:rPr lang="pt-PT" dirty="0" err="1"/>
              <a:t>Connectivity</a:t>
            </a:r>
            <a:r>
              <a:rPr lang="pt-PT" dirty="0"/>
              <a:t> — driver </a:t>
            </a:r>
            <a:r>
              <a:rPr lang="pt-PT" dirty="0" err="1"/>
              <a:t>multi-linguagem</a:t>
            </a:r>
            <a:r>
              <a:rPr lang="pt-PT" dirty="0"/>
              <a:t> para bases de dados. API = </a:t>
            </a:r>
            <a:r>
              <a:rPr lang="pt-PT" dirty="0" err="1"/>
              <a:t>Application</a:t>
            </a:r>
            <a:r>
              <a:rPr lang="pt-PT" dirty="0"/>
              <a:t> </a:t>
            </a:r>
            <a:r>
              <a:rPr lang="pt-PT" dirty="0" err="1"/>
              <a:t>Programming</a:t>
            </a:r>
            <a:r>
              <a:rPr lang="pt-PT" dirty="0"/>
              <a:t>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"Esta é a funcionalidade mais moderna do </a:t>
            </a:r>
            <a:r>
              <a:rPr lang="pt-PT" dirty="0" err="1"/>
              <a:t>SingleStore</a:t>
            </a:r>
            <a:r>
              <a:rPr lang="pt-PT" dirty="0"/>
              <a:t> e a que mais diferencia o sistema no contexto </a:t>
            </a:r>
            <a:r>
              <a:rPr lang="pt-PT" dirty="0" err="1"/>
              <a:t>actual</a:t>
            </a:r>
            <a:r>
              <a:rPr lang="pt-PT" dirty="0"/>
              <a:t> da IA."</a:t>
            </a:r>
          </a:p>
          <a:p>
            <a:r>
              <a:rPr lang="pt-PT" dirty="0"/>
              <a:t>Aponta para os quatro passos à esquerda:</a:t>
            </a:r>
          </a:p>
          <a:p>
            <a:r>
              <a:rPr lang="pt-PT" dirty="0"/>
              <a:t>"O processo RAG tem quatro passos. Primeiro, os documentos são convertidos em </a:t>
            </a:r>
            <a:r>
              <a:rPr lang="pt-PT" dirty="0" err="1"/>
              <a:t>vectores</a:t>
            </a:r>
            <a:r>
              <a:rPr lang="pt-PT" dirty="0"/>
              <a:t> por um modelo de linguagem e guardados em colunas do tipo VECTOR(n) na mesma tabela relacional. Segundo, quando o utilizador faz uma pergunta, essa pergunta também é convertida em </a:t>
            </a:r>
            <a:r>
              <a:rPr lang="pt-PT" dirty="0" err="1"/>
              <a:t>vector</a:t>
            </a:r>
            <a:r>
              <a:rPr lang="pt-PT" dirty="0"/>
              <a:t>. Terceiro, a função DOT_PRODUCT encontra os documentos mais próximos semanticamente usando o índice HNSW — sem percorrer todos os </a:t>
            </a:r>
            <a:r>
              <a:rPr lang="pt-PT" dirty="0" err="1"/>
              <a:t>vectores</a:t>
            </a:r>
            <a:r>
              <a:rPr lang="pt-PT" dirty="0"/>
              <a:t>. Quarto, tudo isto é combinado com filtros SQL normais na mesma instrução."</a:t>
            </a:r>
          </a:p>
          <a:p>
            <a:r>
              <a:rPr lang="pt-PT" dirty="0"/>
              <a:t>Aponta para o código à direita:</a:t>
            </a:r>
          </a:p>
          <a:p>
            <a:r>
              <a:rPr lang="pt-PT" dirty="0"/>
              <a:t>"Vês aqui o exemplo concreto — um INSERT que guarda um </a:t>
            </a:r>
            <a:r>
              <a:rPr lang="pt-PT" dirty="0" err="1"/>
              <a:t>embedding</a:t>
            </a:r>
            <a:r>
              <a:rPr lang="pt-PT" dirty="0"/>
              <a:t>, e um SELECT que faz a pesquisa por similaridade com filtros de categoria e data na mesma </a:t>
            </a:r>
            <a:r>
              <a:rPr lang="pt-PT" dirty="0" err="1"/>
              <a:t>query</a:t>
            </a:r>
            <a:r>
              <a:rPr lang="pt-PT" dirty="0"/>
              <a:t>. É só SQL."</a:t>
            </a:r>
          </a:p>
          <a:p>
            <a:r>
              <a:rPr lang="pt-PT" dirty="0"/>
              <a:t>"O ponto diferenciador: outros sistemas precisam de um </a:t>
            </a:r>
            <a:r>
              <a:rPr lang="pt-PT" dirty="0" err="1"/>
              <a:t>Pinecone</a:t>
            </a:r>
            <a:r>
              <a:rPr lang="pt-PT" dirty="0"/>
              <a:t> ou </a:t>
            </a:r>
            <a:r>
              <a:rPr lang="pt-PT" dirty="0" err="1"/>
              <a:t>Weaviate</a:t>
            </a:r>
            <a:r>
              <a:rPr lang="pt-PT" dirty="0"/>
              <a:t> separado para fazer pesquisa semântica. Aqui é uma </a:t>
            </a:r>
            <a:r>
              <a:rPr lang="pt-PT" dirty="0" err="1"/>
              <a:t>query</a:t>
            </a:r>
            <a:r>
              <a:rPr lang="pt-PT" dirty="0"/>
              <a:t> SQL. Para aplicações de IA generativa, isto elimina uma peça inteira da infraestrutura."</a:t>
            </a:r>
          </a:p>
          <a:p>
            <a:r>
              <a:rPr lang="pt-PT" dirty="0"/>
              <a:t>SIGLAS: RAG = </a:t>
            </a:r>
            <a:r>
              <a:rPr lang="pt-PT" dirty="0" err="1"/>
              <a:t>Retrieval-Augmented</a:t>
            </a:r>
            <a:r>
              <a:rPr lang="pt-PT" dirty="0"/>
              <a:t> </a:t>
            </a:r>
            <a:r>
              <a:rPr lang="pt-PT" dirty="0" err="1"/>
              <a:t>Generation</a:t>
            </a:r>
            <a:r>
              <a:rPr lang="pt-PT" dirty="0"/>
              <a:t> — IA que pesquisa documentos relevantes antes de gerar resposta, reduzindo alucinações. ANN = </a:t>
            </a:r>
            <a:r>
              <a:rPr lang="pt-PT" dirty="0" err="1"/>
              <a:t>Approximate</a:t>
            </a:r>
            <a:r>
              <a:rPr lang="pt-PT" dirty="0"/>
              <a:t> </a:t>
            </a:r>
            <a:r>
              <a:rPr lang="pt-PT" dirty="0" err="1"/>
              <a:t>Nearest</a:t>
            </a:r>
            <a:r>
              <a:rPr lang="pt-PT" dirty="0"/>
              <a:t> </a:t>
            </a:r>
            <a:r>
              <a:rPr lang="pt-PT" dirty="0" err="1"/>
              <a:t>Neighbor</a:t>
            </a:r>
            <a:r>
              <a:rPr lang="pt-PT" dirty="0"/>
              <a:t> — pesquisa </a:t>
            </a:r>
            <a:r>
              <a:rPr lang="pt-PT" dirty="0" err="1"/>
              <a:t>vectorial</a:t>
            </a:r>
            <a:r>
              <a:rPr lang="pt-PT" dirty="0"/>
              <a:t> rápida com pequena margem de erro. HNSW = </a:t>
            </a:r>
            <a:r>
              <a:rPr lang="pt-PT" dirty="0" err="1"/>
              <a:t>Hierarchical</a:t>
            </a:r>
            <a:r>
              <a:rPr lang="pt-PT" dirty="0"/>
              <a:t> </a:t>
            </a:r>
            <a:r>
              <a:rPr lang="pt-PT" dirty="0" err="1"/>
              <a:t>Navigable</a:t>
            </a:r>
            <a:r>
              <a:rPr lang="pt-PT" dirty="0"/>
              <a:t> </a:t>
            </a:r>
            <a:r>
              <a:rPr lang="pt-PT" dirty="0" err="1"/>
              <a:t>Small</a:t>
            </a:r>
            <a:r>
              <a:rPr lang="pt-PT" dirty="0"/>
              <a:t> </a:t>
            </a:r>
            <a:r>
              <a:rPr lang="pt-PT" dirty="0" err="1"/>
              <a:t>World</a:t>
            </a:r>
            <a:r>
              <a:rPr lang="pt-PT" dirty="0"/>
              <a:t> — algoritmo de índice </a:t>
            </a:r>
            <a:r>
              <a:rPr lang="pt-PT" dirty="0" err="1"/>
              <a:t>vectorial</a:t>
            </a:r>
            <a:r>
              <a:rPr lang="pt-PT" dirty="0"/>
              <a:t> que organiza </a:t>
            </a:r>
            <a:r>
              <a:rPr lang="pt-PT" dirty="0" err="1"/>
              <a:t>vectores</a:t>
            </a:r>
            <a:r>
              <a:rPr lang="pt-PT" dirty="0"/>
              <a:t> numa hierarquia de grafos para não ter de percorrer todos. SQL = linguagem de consulta — aqui usada para combinar pesquisa </a:t>
            </a:r>
            <a:r>
              <a:rPr lang="pt-PT" dirty="0" err="1"/>
              <a:t>vectorial</a:t>
            </a:r>
            <a:r>
              <a:rPr lang="pt-PT" dirty="0"/>
              <a:t> com filtros relacionais normais.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"É relevante saber o modelo de preços porque difere completamente dos sistemas que comparo."</a:t>
            </a:r>
          </a:p>
          <a:p>
            <a:r>
              <a:rPr lang="pt-PT" dirty="0"/>
              <a:t>Aponta para a coluna verde: "</a:t>
            </a:r>
            <a:r>
              <a:rPr lang="pt-PT" dirty="0" err="1"/>
              <a:t>MySQL</a:t>
            </a:r>
            <a:r>
              <a:rPr lang="pt-PT" dirty="0"/>
              <a:t> e </a:t>
            </a:r>
            <a:r>
              <a:rPr lang="pt-PT" dirty="0" err="1"/>
              <a:t>PostgreSQL</a:t>
            </a:r>
            <a:r>
              <a:rPr lang="pt-PT" dirty="0"/>
              <a:t> são gratuitos. O custo real é a infraestrutura — servidores, SSD, RAM — e o suporte comercial opcional."</a:t>
            </a:r>
          </a:p>
          <a:p>
            <a:r>
              <a:rPr lang="pt-PT" dirty="0"/>
              <a:t>Aponta para a coluna azul: "O </a:t>
            </a:r>
            <a:r>
              <a:rPr lang="pt-PT" dirty="0" err="1"/>
              <a:t>SingleStore</a:t>
            </a:r>
            <a:r>
              <a:rPr lang="pt-PT" dirty="0"/>
              <a:t> Helios cobra por </a:t>
            </a:r>
            <a:r>
              <a:rPr lang="pt-PT" dirty="0" err="1"/>
              <a:t>workspace</a:t>
            </a:r>
            <a:r>
              <a:rPr lang="pt-PT" dirty="0"/>
              <a:t> </a:t>
            </a:r>
            <a:r>
              <a:rPr lang="pt-PT" dirty="0" err="1"/>
              <a:t>units</a:t>
            </a:r>
            <a:r>
              <a:rPr lang="pt-PT" dirty="0"/>
              <a:t>, que são unidades de computação por hora. É como pagar </a:t>
            </a:r>
            <a:r>
              <a:rPr lang="pt-PT" dirty="0" err="1"/>
              <a:t>electricidade</a:t>
            </a:r>
            <a:r>
              <a:rPr lang="pt-PT" dirty="0"/>
              <a:t> — pagas pelo que usas. Para este trabalho usei o </a:t>
            </a:r>
            <a:r>
              <a:rPr lang="pt-PT" dirty="0" err="1"/>
              <a:t>tier</a:t>
            </a:r>
            <a:r>
              <a:rPr lang="pt-PT" dirty="0"/>
              <a:t> gratuito de desenvolvimento, que é suficiente para testar tudo."</a:t>
            </a:r>
          </a:p>
          <a:p>
            <a:r>
              <a:rPr lang="pt-PT" dirty="0"/>
              <a:t>Aponta para a coluna azul-claro: "O </a:t>
            </a:r>
            <a:r>
              <a:rPr lang="pt-PT" dirty="0" err="1"/>
              <a:t>Snowflake</a:t>
            </a:r>
            <a:r>
              <a:rPr lang="pt-PT" dirty="0"/>
              <a:t> cobra por créditos de computação consumidos por consulta, o que pode gerar custos imprevisíveis em cargas intensivas."</a:t>
            </a:r>
          </a:p>
          <a:p>
            <a:r>
              <a:rPr lang="pt-PT" dirty="0"/>
              <a:t>"Para produção empresarial com HTAP, o custo do </a:t>
            </a:r>
            <a:r>
              <a:rPr lang="pt-PT" dirty="0" err="1"/>
              <a:t>SingleStore</a:t>
            </a:r>
            <a:r>
              <a:rPr lang="pt-PT" dirty="0"/>
              <a:t> justifica-se por eliminar sistemas ETL e data </a:t>
            </a:r>
            <a:r>
              <a:rPr lang="pt-PT" dirty="0" err="1"/>
              <a:t>warehouses</a:t>
            </a:r>
            <a:r>
              <a:rPr lang="pt-PT" dirty="0"/>
              <a:t> separados."</a:t>
            </a:r>
          </a:p>
          <a:p>
            <a:r>
              <a:rPr lang="pt-PT" dirty="0"/>
              <a:t>SIGLAS: ARR = </a:t>
            </a:r>
            <a:r>
              <a:rPr lang="pt-PT" dirty="0" err="1"/>
              <a:t>Annual</a:t>
            </a:r>
            <a:r>
              <a:rPr lang="pt-PT" dirty="0"/>
              <a:t> </a:t>
            </a:r>
            <a:r>
              <a:rPr lang="pt-PT" dirty="0" err="1"/>
              <a:t>Recurring</a:t>
            </a:r>
            <a:r>
              <a:rPr lang="pt-PT" dirty="0"/>
              <a:t> </a:t>
            </a:r>
            <a:r>
              <a:rPr lang="pt-PT" dirty="0" err="1"/>
              <a:t>Revenue</a:t>
            </a:r>
            <a:r>
              <a:rPr lang="pt-PT" dirty="0"/>
              <a:t> — receita recorrente anual, métrica de saúde financeira de empresas SaaS. BYOC = </a:t>
            </a:r>
            <a:r>
              <a:rPr lang="pt-PT" dirty="0" err="1"/>
              <a:t>Bring</a:t>
            </a:r>
            <a:r>
              <a:rPr lang="pt-PT" dirty="0"/>
              <a:t> </a:t>
            </a:r>
            <a:r>
              <a:rPr lang="pt-PT" dirty="0" err="1"/>
              <a:t>Your</a:t>
            </a:r>
            <a:r>
              <a:rPr lang="pt-PT" dirty="0"/>
              <a:t> </a:t>
            </a:r>
            <a:r>
              <a:rPr lang="pt-PT" dirty="0" err="1"/>
              <a:t>Own</a:t>
            </a:r>
            <a:r>
              <a:rPr lang="pt-PT" dirty="0"/>
              <a:t> </a:t>
            </a:r>
            <a:r>
              <a:rPr lang="pt-PT" dirty="0" err="1"/>
              <a:t>Cloud</a:t>
            </a:r>
            <a:r>
              <a:rPr lang="pt-PT" dirty="0"/>
              <a:t> — corres o </a:t>
            </a:r>
            <a:r>
              <a:rPr lang="pt-PT" dirty="0" err="1"/>
              <a:t>SingleStore</a:t>
            </a:r>
            <a:r>
              <a:rPr lang="pt-PT" dirty="0"/>
              <a:t> na tua conta de </a:t>
            </a:r>
            <a:r>
              <a:rPr lang="pt-PT" dirty="0" err="1"/>
              <a:t>cloud</a:t>
            </a:r>
            <a:r>
              <a:rPr lang="pt-PT" dirty="0"/>
              <a:t> (AWS, </a:t>
            </a:r>
            <a:r>
              <a:rPr lang="pt-PT" dirty="0" err="1"/>
              <a:t>Azure</a:t>
            </a:r>
            <a:r>
              <a:rPr lang="pt-PT" dirty="0"/>
              <a:t>, GCP), os dados ficam nos teus servidores, a gestão é da </a:t>
            </a:r>
            <a:r>
              <a:rPr lang="pt-PT" dirty="0" err="1"/>
              <a:t>SingleStore</a:t>
            </a:r>
            <a:r>
              <a:rPr lang="pt-PT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Aponta para a coluna verde: "A principal vantagem é eliminar a separação entre sistemas transacionais e analíticos. Em vez de dois sistemas com ETL entre eles, tens um só com analítica sempre sobre os dados mais recentes. A compatibilidade </a:t>
            </a:r>
            <a:r>
              <a:rPr lang="pt-PT" dirty="0" err="1"/>
              <a:t>MySQL</a:t>
            </a:r>
            <a:r>
              <a:rPr lang="pt-PT" dirty="0"/>
              <a:t> é um bónus prático enorme — não reescreves nada."</a:t>
            </a:r>
          </a:p>
          <a:p>
            <a:r>
              <a:rPr lang="pt-PT" dirty="0"/>
              <a:t>Aponta para a coluna vermelha: "As desvantagens são reais e não as escondo. O </a:t>
            </a:r>
            <a:r>
              <a:rPr lang="pt-PT" dirty="0" err="1"/>
              <a:t>rowstore</a:t>
            </a:r>
            <a:r>
              <a:rPr lang="pt-PT" dirty="0"/>
              <a:t> fica inteiramente em memória — em instalações grandes isso é RAM cara. A licença é proprietária, o que é um problema para organizações com políticas de open-</a:t>
            </a:r>
            <a:r>
              <a:rPr lang="pt-PT" dirty="0" err="1"/>
              <a:t>source</a:t>
            </a:r>
            <a:r>
              <a:rPr lang="pt-PT" dirty="0"/>
              <a:t> obrigatório. E o </a:t>
            </a:r>
            <a:r>
              <a:rPr lang="pt-PT" dirty="0" err="1"/>
              <a:t>Snowflake</a:t>
            </a:r>
            <a:r>
              <a:rPr lang="pt-PT" dirty="0"/>
              <a:t> tem disputado </a:t>
            </a:r>
            <a:r>
              <a:rPr lang="pt-PT" dirty="0" err="1"/>
              <a:t>benchmarks</a:t>
            </a:r>
            <a:r>
              <a:rPr lang="pt-PT" dirty="0"/>
              <a:t> de analítica, portanto a vantagem de desempenho já não é absoluta."</a:t>
            </a:r>
          </a:p>
          <a:p>
            <a:r>
              <a:rPr lang="pt-PT" dirty="0"/>
              <a:t>Se o professor perguntar qual o maior risco de </a:t>
            </a:r>
            <a:r>
              <a:rPr lang="pt-PT" dirty="0" err="1"/>
              <a:t>adopção</a:t>
            </a:r>
            <a:r>
              <a:rPr lang="pt-PT" dirty="0"/>
              <a:t>: "</a:t>
            </a:r>
            <a:r>
              <a:rPr lang="pt-PT" dirty="0" err="1"/>
              <a:t>Vendor</a:t>
            </a:r>
            <a:r>
              <a:rPr lang="pt-PT" dirty="0"/>
              <a:t> </a:t>
            </a:r>
            <a:r>
              <a:rPr lang="pt-PT" dirty="0" err="1"/>
              <a:t>lock</a:t>
            </a:r>
            <a:r>
              <a:rPr lang="pt-PT" dirty="0"/>
              <a:t>-in — dependência de um fornecedor proprietário sem alternativa </a:t>
            </a:r>
            <a:r>
              <a:rPr lang="pt-PT" dirty="0" err="1"/>
              <a:t>directa</a:t>
            </a:r>
            <a:r>
              <a:rPr lang="pt-PT" dirty="0"/>
              <a:t> de migração a custo zero."</a:t>
            </a:r>
          </a:p>
          <a:p>
            <a:r>
              <a:rPr lang="pt-PT" dirty="0"/>
              <a:t>SIGLAS: HTAP = </a:t>
            </a:r>
            <a:r>
              <a:rPr lang="pt-PT" dirty="0" err="1"/>
              <a:t>Hybrid</a:t>
            </a:r>
            <a:r>
              <a:rPr lang="pt-PT" dirty="0"/>
              <a:t> </a:t>
            </a:r>
            <a:r>
              <a:rPr lang="pt-PT" dirty="0" err="1"/>
              <a:t>Transactional</a:t>
            </a:r>
            <a:r>
              <a:rPr lang="pt-PT" dirty="0"/>
              <a:t>/</a:t>
            </a:r>
            <a:r>
              <a:rPr lang="pt-PT" dirty="0" err="1"/>
              <a:t>Analytical</a:t>
            </a:r>
            <a:r>
              <a:rPr lang="pt-PT" dirty="0"/>
              <a:t> </a:t>
            </a:r>
            <a:r>
              <a:rPr lang="pt-PT" dirty="0" err="1"/>
              <a:t>Processing</a:t>
            </a:r>
            <a:r>
              <a:rPr lang="pt-PT" dirty="0"/>
              <a:t> — aqui é a vantagem central: não precisas de ETL. ETL = </a:t>
            </a:r>
            <a:r>
              <a:rPr lang="pt-PT" dirty="0" err="1"/>
              <a:t>Extract</a:t>
            </a:r>
            <a:r>
              <a:rPr lang="pt-PT" dirty="0"/>
              <a:t>, </a:t>
            </a:r>
            <a:r>
              <a:rPr lang="pt-PT" dirty="0" err="1"/>
              <a:t>Transform</a:t>
            </a:r>
            <a:r>
              <a:rPr lang="pt-PT" dirty="0"/>
              <a:t>, </a:t>
            </a:r>
            <a:r>
              <a:rPr lang="pt-PT" dirty="0" err="1"/>
              <a:t>Load</a:t>
            </a:r>
            <a:r>
              <a:rPr lang="pt-PT" dirty="0"/>
              <a:t> — processo que o </a:t>
            </a:r>
            <a:r>
              <a:rPr lang="pt-PT" dirty="0" err="1"/>
              <a:t>SingleStore</a:t>
            </a:r>
            <a:r>
              <a:rPr lang="pt-PT" dirty="0"/>
              <a:t> elimina. OLTP = </a:t>
            </a:r>
            <a:r>
              <a:rPr lang="pt-PT" dirty="0" err="1"/>
              <a:t>transacções</a:t>
            </a:r>
            <a:r>
              <a:rPr lang="pt-PT" dirty="0"/>
              <a:t>. RAM = memória onde o </a:t>
            </a:r>
            <a:r>
              <a:rPr lang="pt-PT" dirty="0" err="1"/>
              <a:t>rowstore</a:t>
            </a:r>
            <a:r>
              <a:rPr lang="pt-PT" dirty="0"/>
              <a:t> vive — o custo principal da desvantagem.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Aponta para os três cartões verdes: "O </a:t>
            </a:r>
            <a:r>
              <a:rPr lang="pt-PT" dirty="0" err="1"/>
              <a:t>SingleStore</a:t>
            </a:r>
            <a:r>
              <a:rPr lang="pt-PT" dirty="0"/>
              <a:t> é adequado para analítica em tempo real sobre dados operacionais — fraude bancária, segmentação de audiências em publicidade, monitorização de telecomunicações. Para aplicações de IA generativa que combinam pesquisa semântica com filtros SQL. E para HTAP empresarial de grande volume."</a:t>
            </a:r>
          </a:p>
          <a:p>
            <a:r>
              <a:rPr lang="pt-PT" dirty="0"/>
              <a:t>Aponta para os três cartões vermelhos: "Não é adequado para aplicações web transacionais simples — </a:t>
            </a:r>
            <a:r>
              <a:rPr lang="pt-PT" dirty="0" err="1"/>
              <a:t>MySQL</a:t>
            </a:r>
            <a:r>
              <a:rPr lang="pt-PT" dirty="0"/>
              <a:t> ou </a:t>
            </a:r>
            <a:r>
              <a:rPr lang="pt-PT" dirty="0" err="1"/>
              <a:t>PostgreSQL</a:t>
            </a:r>
            <a:r>
              <a:rPr lang="pt-PT" dirty="0"/>
              <a:t> são mais simples e económicos. Para </a:t>
            </a:r>
            <a:r>
              <a:rPr lang="pt-PT" dirty="0" err="1"/>
              <a:t>transacções</a:t>
            </a:r>
            <a:r>
              <a:rPr lang="pt-PT" dirty="0"/>
              <a:t> distribuídas globais com serialização estrita, o </a:t>
            </a:r>
            <a:r>
              <a:rPr lang="pt-PT" dirty="0" err="1"/>
              <a:t>Spanner</a:t>
            </a:r>
            <a:r>
              <a:rPr lang="pt-PT" dirty="0"/>
              <a:t> ou o </a:t>
            </a:r>
            <a:r>
              <a:rPr lang="pt-PT" dirty="0" err="1"/>
              <a:t>CockroachDB</a:t>
            </a:r>
            <a:r>
              <a:rPr lang="pt-PT" dirty="0"/>
              <a:t> são melhores. Para analítica histórica sobre dados frios sem requisito de tempo real, o </a:t>
            </a:r>
            <a:r>
              <a:rPr lang="pt-PT" dirty="0" err="1"/>
              <a:t>Snowflake</a:t>
            </a:r>
            <a:r>
              <a:rPr lang="pt-PT" dirty="0"/>
              <a:t> ou o </a:t>
            </a:r>
            <a:r>
              <a:rPr lang="pt-PT" dirty="0" err="1"/>
              <a:t>BigQuery</a:t>
            </a:r>
            <a:r>
              <a:rPr lang="pt-PT" dirty="0"/>
              <a:t> são mais económicos."</a:t>
            </a:r>
          </a:p>
          <a:p>
            <a:r>
              <a:rPr lang="pt-PT" dirty="0"/>
              <a:t>Termina com: "O </a:t>
            </a:r>
            <a:r>
              <a:rPr lang="pt-PT" dirty="0" err="1"/>
              <a:t>SingleStore</a:t>
            </a:r>
            <a:r>
              <a:rPr lang="pt-PT" dirty="0"/>
              <a:t> não é uma alternativa superior em todos os cenários — é uma ferramenta diferente para problemas diferentes."</a:t>
            </a:r>
          </a:p>
          <a:p>
            <a:r>
              <a:rPr lang="pt-PT" dirty="0"/>
              <a:t>SIGLAS: HTAP = </a:t>
            </a:r>
            <a:r>
              <a:rPr lang="pt-PT" dirty="0" err="1"/>
              <a:t>Hybrid</a:t>
            </a:r>
            <a:r>
              <a:rPr lang="pt-PT" dirty="0"/>
              <a:t> </a:t>
            </a:r>
            <a:r>
              <a:rPr lang="pt-PT" dirty="0" err="1"/>
              <a:t>Transactional</a:t>
            </a:r>
            <a:r>
              <a:rPr lang="pt-PT" dirty="0"/>
              <a:t>/</a:t>
            </a:r>
            <a:r>
              <a:rPr lang="pt-PT" dirty="0" err="1"/>
              <a:t>Analytical</a:t>
            </a:r>
            <a:r>
              <a:rPr lang="pt-PT" dirty="0"/>
              <a:t> </a:t>
            </a:r>
            <a:r>
              <a:rPr lang="pt-PT" dirty="0" err="1"/>
              <a:t>Processing</a:t>
            </a:r>
            <a:r>
              <a:rPr lang="pt-PT" dirty="0"/>
              <a:t> — o cenário onde o </a:t>
            </a:r>
            <a:r>
              <a:rPr lang="pt-PT" dirty="0" err="1"/>
              <a:t>SingleStore</a:t>
            </a:r>
            <a:r>
              <a:rPr lang="pt-PT" dirty="0"/>
              <a:t> tem mais valor. RAG = </a:t>
            </a:r>
            <a:r>
              <a:rPr lang="pt-PT" dirty="0" err="1"/>
              <a:t>Retrieval-Augmented</a:t>
            </a:r>
            <a:r>
              <a:rPr lang="pt-PT" dirty="0"/>
              <a:t> </a:t>
            </a:r>
            <a:r>
              <a:rPr lang="pt-PT" dirty="0" err="1"/>
              <a:t>Generation</a:t>
            </a:r>
            <a:r>
              <a:rPr lang="pt-PT" dirty="0"/>
              <a:t> — pesquisa semântica </a:t>
            </a:r>
            <a:r>
              <a:rPr lang="pt-PT" dirty="0" err="1"/>
              <a:t>vectorial</a:t>
            </a:r>
            <a:r>
              <a:rPr lang="pt-PT" dirty="0"/>
              <a:t> + geração de texto. OLTP = </a:t>
            </a:r>
            <a:r>
              <a:rPr lang="pt-PT" dirty="0" err="1"/>
              <a:t>transacções</a:t>
            </a:r>
            <a:r>
              <a:rPr lang="pt-PT" dirty="0"/>
              <a:t> simples — aqui é o cenário onde o </a:t>
            </a:r>
            <a:r>
              <a:rPr lang="pt-PT" dirty="0" err="1"/>
              <a:t>SingleStore</a:t>
            </a:r>
            <a:r>
              <a:rPr lang="pt-PT" dirty="0"/>
              <a:t> não é a melhor escolha.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"Para validar o sistema na prática, instalei o </a:t>
            </a:r>
            <a:r>
              <a:rPr lang="pt-PT" dirty="0" err="1"/>
              <a:t>SingleStore</a:t>
            </a:r>
            <a:r>
              <a:rPr lang="pt-PT" dirty="0"/>
              <a:t> localmente com Docker Desktop e WSL 2 no Windows 11. É surpreendentemente simples."</a:t>
            </a:r>
          </a:p>
          <a:p>
            <a:r>
              <a:rPr lang="pt-PT" dirty="0"/>
              <a:t>Percorre os quatro passos à esquerda: "São apenas três ficheiros — </a:t>
            </a:r>
            <a:r>
              <a:rPr lang="pt-PT" dirty="0" err="1"/>
              <a:t>Dockerfile</a:t>
            </a:r>
            <a:r>
              <a:rPr lang="pt-PT" dirty="0"/>
              <a:t>, </a:t>
            </a:r>
            <a:r>
              <a:rPr lang="pt-PT" dirty="0" err="1"/>
              <a:t>docker-compose.yml</a:t>
            </a:r>
            <a:r>
              <a:rPr lang="pt-PT" dirty="0"/>
              <a:t> e </a:t>
            </a:r>
            <a:r>
              <a:rPr lang="pt-PT" dirty="0" err="1"/>
              <a:t>init.sql</a:t>
            </a:r>
            <a:r>
              <a:rPr lang="pt-PT" dirty="0"/>
              <a:t> com o esquema inicial. Um único comando arranca tudo: </a:t>
            </a:r>
            <a:r>
              <a:rPr lang="pt-PT" dirty="0" err="1"/>
              <a:t>docker</a:t>
            </a:r>
            <a:r>
              <a:rPr lang="pt-PT" dirty="0"/>
              <a:t> </a:t>
            </a:r>
            <a:r>
              <a:rPr lang="pt-PT" dirty="0" err="1"/>
              <a:t>compose</a:t>
            </a:r>
            <a:r>
              <a:rPr lang="pt-PT" dirty="0"/>
              <a:t> </a:t>
            </a:r>
            <a:r>
              <a:rPr lang="pt-PT" dirty="0" err="1"/>
              <a:t>up</a:t>
            </a:r>
            <a:r>
              <a:rPr lang="pt-PT" dirty="0"/>
              <a:t>. Em menos de dois minutos o sistema está a correr."</a:t>
            </a:r>
          </a:p>
          <a:p>
            <a:r>
              <a:rPr lang="pt-PT" dirty="0"/>
              <a:t>Aponta para os acessos: "O </a:t>
            </a:r>
            <a:r>
              <a:rPr lang="pt-PT" dirty="0" err="1"/>
              <a:t>Studio</a:t>
            </a:r>
            <a:r>
              <a:rPr lang="pt-PT" dirty="0"/>
              <a:t> fica acessível no browser em localhost:8080. O </a:t>
            </a:r>
            <a:r>
              <a:rPr lang="pt-PT" dirty="0" err="1"/>
              <a:t>MySQL</a:t>
            </a:r>
            <a:r>
              <a:rPr lang="pt-PT" dirty="0"/>
              <a:t> CLI liga na porta 3306 como qualquer base de dados </a:t>
            </a:r>
            <a:r>
              <a:rPr lang="pt-PT" dirty="0" err="1"/>
              <a:t>MySQL</a:t>
            </a:r>
            <a:r>
              <a:rPr lang="pt-PT" dirty="0"/>
              <a:t>. A Data API REST fica na porta 9000."</a:t>
            </a:r>
          </a:p>
          <a:p>
            <a:r>
              <a:rPr lang="pt-PT" dirty="0"/>
              <a:t>Aponta para o aviso amarelo: "Esta configuração é exclusivamente para desenvolvimento e testes. Em produção usaria o serviço gerido Helios nas três grandes </a:t>
            </a:r>
            <a:r>
              <a:rPr lang="pt-PT" dirty="0" err="1"/>
              <a:t>clouds</a:t>
            </a:r>
            <a:r>
              <a:rPr lang="pt-PT" dirty="0"/>
              <a:t>, ou o modelo BYOC para organizações com requisitos de residência de dados."</a:t>
            </a:r>
          </a:p>
          <a:p>
            <a:r>
              <a:rPr lang="pt-PT" dirty="0"/>
              <a:t>Se o professor perguntar sobre a instalação em produção: "Existe o Helios gerido na AWS, </a:t>
            </a:r>
            <a:r>
              <a:rPr lang="pt-PT" dirty="0" err="1"/>
              <a:t>Azure</a:t>
            </a:r>
            <a:r>
              <a:rPr lang="pt-PT" dirty="0"/>
              <a:t> e GCP. O modelo BYOC permite que os dados fiquem na conta de </a:t>
            </a:r>
            <a:r>
              <a:rPr lang="pt-PT" dirty="0" err="1"/>
              <a:t>cloud</a:t>
            </a:r>
            <a:r>
              <a:rPr lang="pt-PT" dirty="0"/>
              <a:t> do cliente com a gestão a cargo da </a:t>
            </a:r>
            <a:r>
              <a:rPr lang="pt-PT" dirty="0" err="1"/>
              <a:t>SingleStore</a:t>
            </a:r>
            <a:r>
              <a:rPr lang="pt-PT" dirty="0"/>
              <a:t>."</a:t>
            </a:r>
          </a:p>
          <a:p>
            <a:r>
              <a:rPr lang="pt-PT" dirty="0"/>
              <a:t>SIGLAS: WSL = Windows </a:t>
            </a:r>
            <a:r>
              <a:rPr lang="pt-PT" dirty="0" err="1"/>
              <a:t>Subsystem</a:t>
            </a:r>
            <a:r>
              <a:rPr lang="pt-PT" dirty="0"/>
              <a:t> for Linux — subsistema que corre Linux dentro do Windows sem máquina virtual completa. API = </a:t>
            </a:r>
            <a:r>
              <a:rPr lang="pt-PT" dirty="0" err="1"/>
              <a:t>Application</a:t>
            </a:r>
            <a:r>
              <a:rPr lang="pt-PT" dirty="0"/>
              <a:t> </a:t>
            </a:r>
            <a:r>
              <a:rPr lang="pt-PT" dirty="0" err="1"/>
              <a:t>Programming</a:t>
            </a:r>
            <a:r>
              <a:rPr lang="pt-PT" dirty="0"/>
              <a:t> Interface — aqui refere-se à API REST do </a:t>
            </a:r>
            <a:r>
              <a:rPr lang="pt-PT" dirty="0" err="1"/>
              <a:t>SingleStore</a:t>
            </a:r>
            <a:r>
              <a:rPr lang="pt-PT" dirty="0"/>
              <a:t> na porta 9000.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"Para a avaliação experimental usei o TLC Trip Record Data da NYC </a:t>
            </a:r>
            <a:r>
              <a:rPr lang="pt-PT" dirty="0" err="1"/>
              <a:t>Taxi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Limousine </a:t>
            </a:r>
            <a:r>
              <a:rPr lang="pt-PT" dirty="0" err="1"/>
              <a:t>Commission</a:t>
            </a:r>
            <a:r>
              <a:rPr lang="pt-PT" dirty="0"/>
              <a:t>, disponível gratuitamente em nyc.gov em formato Parquet. Escolhi este </a:t>
            </a:r>
            <a:r>
              <a:rPr lang="pt-PT" dirty="0" err="1"/>
              <a:t>dataset</a:t>
            </a:r>
            <a:r>
              <a:rPr lang="pt-PT" dirty="0"/>
              <a:t> porque é real, volumoso, tem vários tipos de dados — datas, decimais, inteiros, texto — e é amplamente usado em </a:t>
            </a:r>
            <a:r>
              <a:rPr lang="pt-PT" dirty="0" err="1"/>
              <a:t>benchmarks</a:t>
            </a:r>
            <a:r>
              <a:rPr lang="pt-PT" dirty="0"/>
              <a:t> de bases de dados."</a:t>
            </a:r>
          </a:p>
          <a:p>
            <a:r>
              <a:rPr lang="pt-PT" dirty="0"/>
              <a:t>Aponta para os </a:t>
            </a:r>
            <a:r>
              <a:rPr lang="pt-PT" dirty="0" err="1"/>
              <a:t>factores</a:t>
            </a:r>
            <a:r>
              <a:rPr lang="pt-PT" dirty="0"/>
              <a:t> de escala: "1x são os dados de 2023 — cerca de 20 milhões de registos e 1 GB. 10x usa os dados de 2014 a 2023 — 200 milhões de registos e 10 GB. 100x foi obtido por replicação sistemática do conjunto base até atingir 100 GB. Isto é prática padrão em benchmarking académico quando os dados reais disponíveis são insuficientes para atingir o </a:t>
            </a:r>
            <a:r>
              <a:rPr lang="pt-PT" dirty="0" err="1"/>
              <a:t>factor</a:t>
            </a:r>
            <a:r>
              <a:rPr lang="pt-PT" dirty="0"/>
              <a:t> pretendido."</a:t>
            </a:r>
          </a:p>
          <a:p>
            <a:r>
              <a:rPr lang="pt-PT" dirty="0"/>
              <a:t>Aponta para as operações: "Avaliei as quatro operações CRUD. Cada operação foi executada três vezes e registei o valor mediano para eliminar variação pontual."</a:t>
            </a:r>
          </a:p>
          <a:p>
            <a:r>
              <a:rPr lang="pt-PT" dirty="0"/>
              <a:t>Se o professor perguntar como mediste os tempos: "Com o </a:t>
            </a:r>
            <a:r>
              <a:rPr lang="pt-PT" dirty="0" err="1"/>
              <a:t>timestamp</a:t>
            </a:r>
            <a:r>
              <a:rPr lang="pt-PT" dirty="0"/>
              <a:t> registado imediatamente antes e depois de cada comando SQL no cliente, incluindo o tempo até ao </a:t>
            </a:r>
            <a:r>
              <a:rPr lang="pt-PT" dirty="0" err="1"/>
              <a:t>commit</a:t>
            </a:r>
            <a:r>
              <a:rPr lang="pt-PT" dirty="0"/>
              <a:t> confirmado. Cada operação executada três vezes, valor mediano."</a:t>
            </a:r>
          </a:p>
          <a:p>
            <a:r>
              <a:rPr lang="pt-PT" dirty="0"/>
              <a:t>SIGLAS: CRUD = </a:t>
            </a:r>
            <a:r>
              <a:rPr lang="pt-PT" dirty="0" err="1"/>
              <a:t>Create</a:t>
            </a:r>
            <a:r>
              <a:rPr lang="pt-PT" dirty="0"/>
              <a:t>, </a:t>
            </a:r>
            <a:r>
              <a:rPr lang="pt-PT" dirty="0" err="1"/>
              <a:t>Read</a:t>
            </a:r>
            <a:r>
              <a:rPr lang="pt-PT" dirty="0"/>
              <a:t>, </a:t>
            </a:r>
            <a:r>
              <a:rPr lang="pt-PT" dirty="0" err="1"/>
              <a:t>Update</a:t>
            </a:r>
            <a:r>
              <a:rPr lang="pt-PT" dirty="0"/>
              <a:t>, Delete — as quatro operações básicas. Neste caso: INSERT (C), SELECT (R), UPDATE (U), DELETE (D).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Aponta para as barras do gráfico: "O eixo vertical é o tempo em segundos — quanto menor, melhor. Azul é o </a:t>
            </a:r>
            <a:r>
              <a:rPr lang="pt-PT" dirty="0" err="1"/>
              <a:t>SingleStore</a:t>
            </a:r>
            <a:r>
              <a:rPr lang="pt-PT" dirty="0"/>
              <a:t>, vermelho é o </a:t>
            </a:r>
            <a:r>
              <a:rPr lang="pt-PT" dirty="0" err="1"/>
              <a:t>MySQL</a:t>
            </a:r>
            <a:r>
              <a:rPr lang="pt-PT" dirty="0"/>
              <a:t>."</a:t>
            </a:r>
          </a:p>
          <a:p>
            <a:r>
              <a:rPr lang="pt-PT" dirty="0"/>
              <a:t>"Nos </a:t>
            </a:r>
            <a:r>
              <a:rPr lang="pt-PT" dirty="0" err="1"/>
              <a:t>INSERTs</a:t>
            </a:r>
            <a:r>
              <a:rPr lang="pt-PT" dirty="0"/>
              <a:t> a diferença é moderada — cerca de 4 vezes a 100x. Faz sentido porque o INSERT é sempre 5 milhões de linhas novas, independentemente do tamanho da tabela."</a:t>
            </a:r>
          </a:p>
          <a:p>
            <a:r>
              <a:rPr lang="pt-PT" dirty="0"/>
              <a:t>Aponta para as barras vermelhas que chegam ao </a:t>
            </a:r>
            <a:r>
              <a:rPr lang="pt-PT" dirty="0" err="1"/>
              <a:t>tecto</a:t>
            </a:r>
            <a:r>
              <a:rPr lang="pt-PT" dirty="0"/>
              <a:t> a 100x: "O padrão muda completamente nas consultas analíticas. A 100x o </a:t>
            </a:r>
            <a:r>
              <a:rPr lang="pt-PT" dirty="0" err="1"/>
              <a:t>MySQL</a:t>
            </a:r>
            <a:r>
              <a:rPr lang="pt-PT" dirty="0"/>
              <a:t> não termina dentro do limite de 300 segundos. Por isso as barras vermelhas chegam ao </a:t>
            </a:r>
            <a:r>
              <a:rPr lang="pt-PT" dirty="0" err="1"/>
              <a:t>tecto</a:t>
            </a:r>
            <a:r>
              <a:rPr lang="pt-PT" dirty="0"/>
              <a:t>. O </a:t>
            </a:r>
            <a:r>
              <a:rPr lang="pt-PT" dirty="0" err="1"/>
              <a:t>SingleStore</a:t>
            </a:r>
            <a:r>
              <a:rPr lang="pt-PT" dirty="0"/>
              <a:t> termina tudo."</a:t>
            </a:r>
          </a:p>
          <a:p>
            <a:r>
              <a:rPr lang="pt-PT" dirty="0"/>
              <a:t>Aponta para os três </a:t>
            </a:r>
            <a:r>
              <a:rPr lang="pt-PT" dirty="0" err="1"/>
              <a:t>callouts</a:t>
            </a:r>
            <a:r>
              <a:rPr lang="pt-PT" dirty="0"/>
              <a:t>: "O ganho máximo foi de 12 vezes na consulta de agregação a 10x — 38 segundos no </a:t>
            </a:r>
            <a:r>
              <a:rPr lang="pt-PT" dirty="0" err="1"/>
              <a:t>MySQL</a:t>
            </a:r>
            <a:r>
              <a:rPr lang="pt-PT" dirty="0"/>
              <a:t> contra 3,2 no </a:t>
            </a:r>
            <a:r>
              <a:rPr lang="pt-PT" dirty="0" err="1"/>
              <a:t>SingleStore</a:t>
            </a:r>
            <a:r>
              <a:rPr lang="pt-PT" dirty="0"/>
              <a:t>. A 100x o </a:t>
            </a:r>
            <a:r>
              <a:rPr lang="pt-PT" dirty="0" err="1"/>
              <a:t>MySQL</a:t>
            </a:r>
            <a:r>
              <a:rPr lang="pt-PT" dirty="0"/>
              <a:t> fica em </a:t>
            </a:r>
            <a:r>
              <a:rPr lang="pt-PT" dirty="0" err="1"/>
              <a:t>timeout</a:t>
            </a:r>
            <a:r>
              <a:rPr lang="pt-PT" dirty="0"/>
              <a:t> em todas as operações analíticas. No INSERT a 100x o </a:t>
            </a:r>
            <a:r>
              <a:rPr lang="pt-PT" dirty="0" err="1"/>
              <a:t>SingleStore</a:t>
            </a:r>
            <a:r>
              <a:rPr lang="pt-PT" dirty="0"/>
              <a:t> ainda é 4,4 vezes mais rápido."</a:t>
            </a:r>
          </a:p>
          <a:p>
            <a:r>
              <a:rPr lang="pt-PT" dirty="0"/>
              <a:t>"A diferença não é apenas quantitativa — é qualitativa. O </a:t>
            </a:r>
            <a:r>
              <a:rPr lang="pt-PT" dirty="0" err="1"/>
              <a:t>MySQL</a:t>
            </a:r>
            <a:r>
              <a:rPr lang="pt-PT" dirty="0"/>
              <a:t> deixa de funcionar para analítica a grande escala. O </a:t>
            </a:r>
            <a:r>
              <a:rPr lang="pt-PT" dirty="0" err="1"/>
              <a:t>SingleStore</a:t>
            </a:r>
            <a:r>
              <a:rPr lang="pt-PT" dirty="0"/>
              <a:t> continua."</a:t>
            </a:r>
          </a:p>
          <a:p>
            <a:r>
              <a:rPr lang="pt-PT" dirty="0"/>
              <a:t>SIGLAS: CRUD = </a:t>
            </a:r>
            <a:r>
              <a:rPr lang="pt-PT" dirty="0" err="1"/>
              <a:t>Create</a:t>
            </a:r>
            <a:r>
              <a:rPr lang="pt-PT" dirty="0"/>
              <a:t> (INSERT), </a:t>
            </a:r>
            <a:r>
              <a:rPr lang="pt-PT" dirty="0" err="1"/>
              <a:t>Read</a:t>
            </a:r>
            <a:r>
              <a:rPr lang="pt-PT" dirty="0"/>
              <a:t> (SELECT), </a:t>
            </a:r>
            <a:r>
              <a:rPr lang="pt-PT" dirty="0" err="1"/>
              <a:t>Update</a:t>
            </a:r>
            <a:r>
              <a:rPr lang="pt-PT" dirty="0"/>
              <a:t> (UPDATE), Delete (DELETE).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"Para além do tempo, medi quatro métricas de sistema durante a consulta de agregação."</a:t>
            </a:r>
          </a:p>
          <a:p>
            <a:r>
              <a:rPr lang="pt-PT" dirty="0"/>
              <a:t>Percorre a tabela linha a linha: "CPU: o </a:t>
            </a:r>
            <a:r>
              <a:rPr lang="pt-PT" dirty="0" err="1"/>
              <a:t>SingleStore</a:t>
            </a:r>
            <a:r>
              <a:rPr lang="pt-PT" dirty="0"/>
              <a:t> usa mais — 64% </a:t>
            </a:r>
            <a:r>
              <a:rPr lang="pt-PT" dirty="0" err="1"/>
              <a:t>vs</a:t>
            </a:r>
            <a:r>
              <a:rPr lang="pt-PT" dirty="0"/>
              <a:t> 42% a 1x. Porquê? Execução vetorizada que paraleliza operações em todos os núcleos disponíveis."</a:t>
            </a:r>
          </a:p>
          <a:p>
            <a:r>
              <a:rPr lang="pt-PT" dirty="0"/>
              <a:t>"RAM: o </a:t>
            </a:r>
            <a:r>
              <a:rPr lang="pt-PT" dirty="0" err="1"/>
              <a:t>SingleStore</a:t>
            </a:r>
            <a:r>
              <a:rPr lang="pt-PT" dirty="0"/>
              <a:t> usa mais — 3,3 GB </a:t>
            </a:r>
            <a:r>
              <a:rPr lang="pt-PT" dirty="0" err="1"/>
              <a:t>vs</a:t>
            </a:r>
            <a:r>
              <a:rPr lang="pt-PT" dirty="0"/>
              <a:t> 1,1 GB a 1x, 13 GB </a:t>
            </a:r>
            <a:r>
              <a:rPr lang="pt-PT" dirty="0" err="1"/>
              <a:t>vs</a:t>
            </a:r>
            <a:r>
              <a:rPr lang="pt-PT" dirty="0"/>
              <a:t> 2,5 GB a 10x. É a contrapartida do </a:t>
            </a:r>
            <a:r>
              <a:rPr lang="pt-PT" dirty="0" err="1"/>
              <a:t>rowstore</a:t>
            </a:r>
            <a:r>
              <a:rPr lang="pt-PT" dirty="0"/>
              <a:t> em memória."</a:t>
            </a:r>
          </a:p>
          <a:p>
            <a:r>
              <a:rPr lang="pt-PT" dirty="0"/>
              <a:t>"Disco: o </a:t>
            </a:r>
            <a:r>
              <a:rPr lang="pt-PT" dirty="0" err="1"/>
              <a:t>SingleStore</a:t>
            </a:r>
            <a:r>
              <a:rPr lang="pt-PT" dirty="0"/>
              <a:t> lê menos — 205 MB/s </a:t>
            </a:r>
            <a:r>
              <a:rPr lang="pt-PT" dirty="0" err="1"/>
              <a:t>vs</a:t>
            </a:r>
            <a:r>
              <a:rPr lang="pt-PT" dirty="0"/>
              <a:t> 420 MB/s a 1x. Porquê? O </a:t>
            </a:r>
            <a:r>
              <a:rPr lang="pt-PT" dirty="0" err="1"/>
              <a:t>columnstore</a:t>
            </a:r>
            <a:r>
              <a:rPr lang="pt-PT" dirty="0"/>
              <a:t> só lê as colunas necessárias. O </a:t>
            </a:r>
            <a:r>
              <a:rPr lang="pt-PT" dirty="0" err="1"/>
              <a:t>MySQL</a:t>
            </a:r>
            <a:r>
              <a:rPr lang="pt-PT" dirty="0"/>
              <a:t> lê blocos de linha completos mesmo que só precise de 3 colunas."</a:t>
            </a:r>
          </a:p>
          <a:p>
            <a:r>
              <a:rPr lang="pt-PT" dirty="0"/>
              <a:t>"Espaço: o </a:t>
            </a:r>
            <a:r>
              <a:rPr lang="pt-PT" dirty="0" err="1"/>
              <a:t>SingleStore</a:t>
            </a:r>
            <a:r>
              <a:rPr lang="pt-PT" dirty="0"/>
              <a:t> ocupa menos em disco — 0,6 GB </a:t>
            </a:r>
            <a:r>
              <a:rPr lang="pt-PT" dirty="0" err="1"/>
              <a:t>vs</a:t>
            </a:r>
            <a:r>
              <a:rPr lang="pt-PT" dirty="0"/>
              <a:t> 0,9 GB a 1x. A compressão colunar é cerca de 30% mais eficiente que o formato de linha do </a:t>
            </a:r>
            <a:r>
              <a:rPr lang="pt-PT" dirty="0" err="1"/>
              <a:t>InnoDB</a:t>
            </a:r>
            <a:r>
              <a:rPr lang="pt-PT" dirty="0"/>
              <a:t>."</a:t>
            </a:r>
          </a:p>
          <a:p>
            <a:r>
              <a:rPr lang="pt-PT" dirty="0"/>
              <a:t>"Em resumo: o </a:t>
            </a:r>
            <a:r>
              <a:rPr lang="pt-PT" dirty="0" err="1"/>
              <a:t>SingleStore</a:t>
            </a:r>
            <a:r>
              <a:rPr lang="pt-PT" dirty="0"/>
              <a:t> troca mais RAM e mais CPU por menos I/O em disco e muito menos tempo. É uma escolha </a:t>
            </a:r>
            <a:r>
              <a:rPr lang="pt-PT" dirty="0" err="1"/>
              <a:t>arquitectural</a:t>
            </a:r>
            <a:r>
              <a:rPr lang="pt-PT" dirty="0"/>
              <a:t> consciente."</a:t>
            </a:r>
          </a:p>
          <a:p>
            <a:r>
              <a:rPr lang="pt-PT" dirty="0"/>
              <a:t>SIGLAS: CPU = Central </a:t>
            </a:r>
            <a:r>
              <a:rPr lang="pt-PT" dirty="0" err="1"/>
              <a:t>Processing</a:t>
            </a:r>
            <a:r>
              <a:rPr lang="pt-PT" dirty="0"/>
              <a:t> </a:t>
            </a:r>
            <a:r>
              <a:rPr lang="pt-PT" dirty="0" err="1"/>
              <a:t>Unit</a:t>
            </a:r>
            <a:r>
              <a:rPr lang="pt-PT" dirty="0"/>
              <a:t> — processador. RAM = </a:t>
            </a:r>
            <a:r>
              <a:rPr lang="pt-PT" dirty="0" err="1"/>
              <a:t>Random</a:t>
            </a:r>
            <a:r>
              <a:rPr lang="pt-PT" dirty="0"/>
              <a:t> Access </a:t>
            </a:r>
            <a:r>
              <a:rPr lang="pt-PT" dirty="0" err="1"/>
              <a:t>Memory</a:t>
            </a:r>
            <a:r>
              <a:rPr lang="pt-PT" dirty="0"/>
              <a:t> — memória volátil rápida. SSD = </a:t>
            </a:r>
            <a:r>
              <a:rPr lang="pt-PT" dirty="0" err="1"/>
              <a:t>Solid</a:t>
            </a:r>
            <a:r>
              <a:rPr lang="pt-PT" dirty="0"/>
              <a:t> </a:t>
            </a:r>
            <a:r>
              <a:rPr lang="pt-PT" dirty="0" err="1"/>
              <a:t>State</a:t>
            </a:r>
            <a:r>
              <a:rPr lang="pt-PT" dirty="0"/>
              <a:t> Drive — disco de estado sólido. </a:t>
            </a:r>
            <a:r>
              <a:rPr lang="pt-PT" dirty="0" err="1"/>
              <a:t>InnoDB</a:t>
            </a:r>
            <a:r>
              <a:rPr lang="pt-PT" dirty="0"/>
              <a:t> = motor de armazenamento do </a:t>
            </a:r>
            <a:r>
              <a:rPr lang="pt-PT" dirty="0" err="1"/>
              <a:t>MySQL</a:t>
            </a:r>
            <a:r>
              <a:rPr lang="pt-PT" dirty="0"/>
              <a:t> que lê blocos de linha completos.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"A tabela compara os três sistemas nas dimensões mais relevantes para aplicações modernas."</a:t>
            </a:r>
          </a:p>
          <a:p>
            <a:r>
              <a:rPr lang="pt-PT" dirty="0"/>
              <a:t>Percorre as linhas principais sem ler todas: "O </a:t>
            </a:r>
            <a:r>
              <a:rPr lang="pt-PT" dirty="0" err="1"/>
              <a:t>SingleStore</a:t>
            </a:r>
            <a:r>
              <a:rPr lang="pt-PT" dirty="0"/>
              <a:t> é o único dos três com HTAP nativo, armazenamento colunar nativo e pesquisa </a:t>
            </a:r>
            <a:r>
              <a:rPr lang="pt-PT" dirty="0" err="1"/>
              <a:t>vectorial</a:t>
            </a:r>
            <a:r>
              <a:rPr lang="pt-PT" dirty="0"/>
              <a:t> nativa. O </a:t>
            </a:r>
            <a:r>
              <a:rPr lang="pt-PT" dirty="0" err="1"/>
              <a:t>MySQL</a:t>
            </a:r>
            <a:r>
              <a:rPr lang="pt-PT" dirty="0"/>
              <a:t> e o </a:t>
            </a:r>
            <a:r>
              <a:rPr lang="pt-PT" dirty="0" err="1"/>
              <a:t>PostgreSQL</a:t>
            </a:r>
            <a:r>
              <a:rPr lang="pt-PT" dirty="0"/>
              <a:t> partilham os pontos fortes clássicos — ACID, SQL completo, licença open-</a:t>
            </a:r>
            <a:r>
              <a:rPr lang="pt-PT" dirty="0" err="1"/>
              <a:t>source</a:t>
            </a:r>
            <a:r>
              <a:rPr lang="pt-PT" dirty="0"/>
              <a:t> gratuita — e são a escolha </a:t>
            </a:r>
            <a:r>
              <a:rPr lang="pt-PT" dirty="0" err="1"/>
              <a:t>correcta</a:t>
            </a:r>
            <a:r>
              <a:rPr lang="pt-PT" dirty="0"/>
              <a:t> para OLTP tradicional."</a:t>
            </a:r>
          </a:p>
          <a:p>
            <a:r>
              <a:rPr lang="pt-PT" dirty="0"/>
              <a:t>Aponta para a nota de rodapé: "Importante: a comparação com o </a:t>
            </a:r>
            <a:r>
              <a:rPr lang="pt-PT" dirty="0" err="1"/>
              <a:t>MySQL</a:t>
            </a:r>
            <a:r>
              <a:rPr lang="pt-PT" dirty="0"/>
              <a:t> é baseada nos ensaios experimentais que realizei. A comparação com o </a:t>
            </a:r>
            <a:r>
              <a:rPr lang="pt-PT" dirty="0" err="1"/>
              <a:t>PostgreSQL</a:t>
            </a:r>
            <a:r>
              <a:rPr lang="pt-PT" dirty="0"/>
              <a:t> é baseada em documentação técnica e literatura publicada — não realizei ensaios laboratoriais com o </a:t>
            </a:r>
            <a:r>
              <a:rPr lang="pt-PT" dirty="0" err="1"/>
              <a:t>PostgreSQL</a:t>
            </a:r>
            <a:r>
              <a:rPr lang="pt-PT" dirty="0"/>
              <a:t>. Quis deixar isso explícito porque é honestidade metodológica."</a:t>
            </a:r>
          </a:p>
          <a:p>
            <a:r>
              <a:rPr lang="pt-PT" dirty="0"/>
              <a:t>Se o professor perguntar porque não testaste o </a:t>
            </a:r>
            <a:r>
              <a:rPr lang="pt-PT" dirty="0" err="1"/>
              <a:t>PostgreSQL</a:t>
            </a:r>
            <a:r>
              <a:rPr lang="pt-PT" dirty="0"/>
              <a:t>: "Os ensaios foram realizados num ambiente com limitações de tempo. O </a:t>
            </a:r>
            <a:r>
              <a:rPr lang="pt-PT" dirty="0" err="1"/>
              <a:t>MySQL</a:t>
            </a:r>
            <a:r>
              <a:rPr lang="pt-PT" dirty="0"/>
              <a:t> foi escolhido como sistema de comparação experimental por ser o mais utilizado e por o </a:t>
            </a:r>
            <a:r>
              <a:rPr lang="pt-PT" dirty="0" err="1"/>
              <a:t>SingleStore</a:t>
            </a:r>
            <a:r>
              <a:rPr lang="pt-PT" dirty="0"/>
              <a:t> ser </a:t>
            </a:r>
            <a:r>
              <a:rPr lang="pt-PT" dirty="0" err="1"/>
              <a:t>wire-compatible</a:t>
            </a:r>
            <a:r>
              <a:rPr lang="pt-PT" dirty="0"/>
              <a:t> com o seu protocolo, o que facilita condições de teste idênticas."</a:t>
            </a:r>
          </a:p>
          <a:p>
            <a:r>
              <a:rPr lang="pt-PT" dirty="0"/>
              <a:t>SIGLAS: HTAP = </a:t>
            </a:r>
            <a:r>
              <a:rPr lang="pt-PT" dirty="0" err="1"/>
              <a:t>Hybrid</a:t>
            </a:r>
            <a:r>
              <a:rPr lang="pt-PT" dirty="0"/>
              <a:t> </a:t>
            </a:r>
            <a:r>
              <a:rPr lang="pt-PT" dirty="0" err="1"/>
              <a:t>Transactional</a:t>
            </a:r>
            <a:r>
              <a:rPr lang="pt-PT" dirty="0"/>
              <a:t>/</a:t>
            </a:r>
            <a:r>
              <a:rPr lang="pt-PT" dirty="0" err="1"/>
              <a:t>Analytical</a:t>
            </a:r>
            <a:r>
              <a:rPr lang="pt-PT" dirty="0"/>
              <a:t> </a:t>
            </a:r>
            <a:r>
              <a:rPr lang="pt-PT" dirty="0" err="1"/>
              <a:t>Processing</a:t>
            </a:r>
            <a:r>
              <a:rPr lang="pt-PT" dirty="0"/>
              <a:t> — nenhum dos outros dois suporta nativamente. ACID = </a:t>
            </a:r>
            <a:r>
              <a:rPr lang="pt-PT" dirty="0" err="1"/>
              <a:t>Atomicity</a:t>
            </a:r>
            <a:r>
              <a:rPr lang="pt-PT" dirty="0"/>
              <a:t>, </a:t>
            </a:r>
            <a:r>
              <a:rPr lang="pt-PT" dirty="0" err="1"/>
              <a:t>Consistency</a:t>
            </a:r>
            <a:r>
              <a:rPr lang="pt-PT" dirty="0"/>
              <a:t>, </a:t>
            </a:r>
            <a:r>
              <a:rPr lang="pt-PT" dirty="0" err="1"/>
              <a:t>Isolation</a:t>
            </a:r>
            <a:r>
              <a:rPr lang="pt-PT" dirty="0"/>
              <a:t>, </a:t>
            </a:r>
            <a:r>
              <a:rPr lang="pt-PT" dirty="0" err="1"/>
              <a:t>Durability</a:t>
            </a:r>
            <a:r>
              <a:rPr lang="pt-PT" dirty="0"/>
              <a:t> — os três suportam. HA = </a:t>
            </a:r>
            <a:r>
              <a:rPr lang="pt-PT" dirty="0" err="1"/>
              <a:t>High</a:t>
            </a:r>
            <a:r>
              <a:rPr lang="pt-PT" dirty="0"/>
              <a:t> </a:t>
            </a:r>
            <a:r>
              <a:rPr lang="pt-PT" dirty="0" err="1"/>
              <a:t>Availability</a:t>
            </a:r>
            <a:r>
              <a:rPr lang="pt-PT" dirty="0"/>
              <a:t> — os três suportam, cada um à sua maneira. ANN = </a:t>
            </a:r>
            <a:r>
              <a:rPr lang="pt-PT" dirty="0" err="1"/>
              <a:t>Approximate</a:t>
            </a:r>
            <a:r>
              <a:rPr lang="pt-PT" dirty="0"/>
              <a:t> </a:t>
            </a:r>
            <a:r>
              <a:rPr lang="pt-PT" dirty="0" err="1"/>
              <a:t>Nearest</a:t>
            </a:r>
            <a:r>
              <a:rPr lang="pt-PT" dirty="0"/>
              <a:t> </a:t>
            </a:r>
            <a:r>
              <a:rPr lang="pt-PT" dirty="0" err="1"/>
              <a:t>Neighbor</a:t>
            </a:r>
            <a:r>
              <a:rPr lang="pt-PT" dirty="0"/>
              <a:t> — pesquisa </a:t>
            </a:r>
            <a:r>
              <a:rPr lang="pt-PT" dirty="0" err="1"/>
              <a:t>vectorial</a:t>
            </a:r>
            <a:r>
              <a:rPr lang="pt-PT" dirty="0"/>
              <a:t>. OLTP = </a:t>
            </a:r>
            <a:r>
              <a:rPr lang="pt-PT" dirty="0" err="1"/>
              <a:t>transacções</a:t>
            </a:r>
            <a:r>
              <a:rPr lang="pt-PT" dirty="0"/>
              <a:t> — o ponto forte do </a:t>
            </a:r>
            <a:r>
              <a:rPr lang="pt-PT" dirty="0" err="1"/>
              <a:t>MySQL</a:t>
            </a:r>
            <a:r>
              <a:rPr lang="pt-PT" dirty="0"/>
              <a:t> e </a:t>
            </a:r>
            <a:r>
              <a:rPr lang="pt-PT" dirty="0" err="1"/>
              <a:t>PostgreSQL</a:t>
            </a:r>
            <a:r>
              <a:rPr lang="pt-PT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"O </a:t>
            </a:r>
            <a:r>
              <a:rPr lang="pt-PT" dirty="0" err="1"/>
              <a:t>SingleStore</a:t>
            </a:r>
            <a:r>
              <a:rPr lang="pt-PT" dirty="0"/>
              <a:t> não é um produto académico. Tem mais de 400 clientes empresariais, ultrapassou 123 milhões de ARR em 2025, e foi incluído no Quadrante Mágico da Gartner três vezes."</a:t>
            </a:r>
          </a:p>
          <a:p>
            <a:r>
              <a:rPr lang="pt-PT" dirty="0"/>
              <a:t>"Goldman </a:t>
            </a:r>
            <a:r>
              <a:rPr lang="pt-PT" dirty="0" err="1"/>
              <a:t>Sachs</a:t>
            </a:r>
            <a:r>
              <a:rPr lang="pt-PT" dirty="0"/>
              <a:t> para processamento de fluxos de dados financeiros. </a:t>
            </a:r>
            <a:r>
              <a:rPr lang="pt-PT" dirty="0" err="1"/>
              <a:t>Comcast</a:t>
            </a:r>
            <a:r>
              <a:rPr lang="pt-PT" dirty="0"/>
              <a:t> e </a:t>
            </a:r>
            <a:r>
              <a:rPr lang="pt-PT" dirty="0" err="1"/>
              <a:t>Hulu</a:t>
            </a:r>
            <a:r>
              <a:rPr lang="pt-PT" dirty="0"/>
              <a:t> nos media. Uber para analítica de mobilidade em tempo real. </a:t>
            </a:r>
            <a:r>
              <a:rPr lang="pt-PT" dirty="0" err="1"/>
              <a:t>Nvidia</a:t>
            </a:r>
            <a:r>
              <a:rPr lang="pt-PT" dirty="0"/>
              <a:t>, Adobe, Cisco em tecnologia. Samsung, LG e SK Telecom nas telecomunicações asiáticas."</a:t>
            </a:r>
          </a:p>
          <a:p>
            <a:r>
              <a:rPr lang="pt-PT" dirty="0"/>
              <a:t>"Foi reconhecido como </a:t>
            </a:r>
            <a:r>
              <a:rPr lang="pt-PT" dirty="0" err="1"/>
              <a:t>Strong</a:t>
            </a:r>
            <a:r>
              <a:rPr lang="pt-PT" dirty="0"/>
              <a:t> Performer no relatório </a:t>
            </a:r>
            <a:r>
              <a:rPr lang="pt-PT" dirty="0" err="1"/>
              <a:t>Forrester</a:t>
            </a:r>
            <a:r>
              <a:rPr lang="pt-PT" dirty="0"/>
              <a:t> </a:t>
            </a:r>
            <a:r>
              <a:rPr lang="pt-PT" dirty="0" err="1"/>
              <a:t>Wave</a:t>
            </a:r>
            <a:r>
              <a:rPr lang="pt-PT" dirty="0"/>
              <a:t> para bases de dados </a:t>
            </a:r>
            <a:r>
              <a:rPr lang="pt-PT" dirty="0" err="1"/>
              <a:t>translíticas</a:t>
            </a:r>
            <a:r>
              <a:rPr lang="pt-PT" dirty="0"/>
              <a:t>. Estes nomes confirmam maturidade em produção a grande escala."</a:t>
            </a:r>
          </a:p>
          <a:p>
            <a:r>
              <a:rPr lang="pt-PT" dirty="0"/>
              <a:t>SIGLAS: ARR = </a:t>
            </a:r>
            <a:r>
              <a:rPr lang="pt-PT" dirty="0" err="1"/>
              <a:t>Annual</a:t>
            </a:r>
            <a:r>
              <a:rPr lang="pt-PT" dirty="0"/>
              <a:t> </a:t>
            </a:r>
            <a:r>
              <a:rPr lang="pt-PT" dirty="0" err="1"/>
              <a:t>Recurring</a:t>
            </a:r>
            <a:r>
              <a:rPr lang="pt-PT" dirty="0"/>
              <a:t> </a:t>
            </a:r>
            <a:r>
              <a:rPr lang="pt-PT" dirty="0" err="1"/>
              <a:t>Revenue</a:t>
            </a:r>
            <a:r>
              <a:rPr lang="pt-PT" dirty="0"/>
              <a:t> — receita recorrente anual. 123 milhões significa que o produto está a ser comprado repetidamente por clientes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Lê cada ponto com uma pausa entre eles:</a:t>
            </a:r>
          </a:p>
          <a:p>
            <a:r>
              <a:rPr lang="pt-PT" dirty="0"/>
              <a:t>"O </a:t>
            </a:r>
            <a:r>
              <a:rPr lang="pt-PT" dirty="0" err="1"/>
              <a:t>SingleStore</a:t>
            </a:r>
            <a:r>
              <a:rPr lang="pt-PT" dirty="0"/>
              <a:t> resolve a separação OLTP/OLAP a nível </a:t>
            </a:r>
            <a:r>
              <a:rPr lang="pt-PT" dirty="0" err="1"/>
              <a:t>arquitectural</a:t>
            </a:r>
            <a:r>
              <a:rPr lang="pt-PT" dirty="0"/>
              <a:t>, sem ETL, com análise sobre dados operacionais em tempo real." (pausa de 2 segundos)</a:t>
            </a:r>
          </a:p>
          <a:p>
            <a:r>
              <a:rPr lang="pt-PT" dirty="0"/>
              <a:t>"A avaliação experimental confirmou ganhos reais — 12 vezes mais rápido na analítica a 10x, e o </a:t>
            </a:r>
            <a:r>
              <a:rPr lang="pt-PT" dirty="0" err="1"/>
              <a:t>MySQL</a:t>
            </a:r>
            <a:r>
              <a:rPr lang="pt-PT" dirty="0"/>
              <a:t> não termina a 100x." (pausa)</a:t>
            </a:r>
          </a:p>
          <a:p>
            <a:r>
              <a:rPr lang="pt-PT" dirty="0"/>
              <a:t>"O suporte nativo a </a:t>
            </a:r>
            <a:r>
              <a:rPr lang="pt-PT" dirty="0" err="1"/>
              <a:t>vectores</a:t>
            </a:r>
            <a:r>
              <a:rPr lang="pt-PT" dirty="0"/>
              <a:t> e RAG posiciona-o como base de dados relevante para a era da IA generativa." (pausa)</a:t>
            </a:r>
          </a:p>
          <a:p>
            <a:r>
              <a:rPr lang="pt-PT" dirty="0"/>
              <a:t>"Presença comprovada em Goldman </a:t>
            </a:r>
            <a:r>
              <a:rPr lang="pt-PT" dirty="0" err="1"/>
              <a:t>Sachs</a:t>
            </a:r>
            <a:r>
              <a:rPr lang="pt-PT" dirty="0"/>
              <a:t>, Uber, Adobe e mais de 400 clientes." (pausa)</a:t>
            </a:r>
          </a:p>
          <a:p>
            <a:r>
              <a:rPr lang="pt-PT" dirty="0"/>
              <a:t>"A principal contrapartida é RAM e licença proprietária. Para OLTP simples, </a:t>
            </a:r>
            <a:r>
              <a:rPr lang="pt-PT" dirty="0" err="1"/>
              <a:t>MySQL</a:t>
            </a:r>
            <a:r>
              <a:rPr lang="pt-PT" dirty="0"/>
              <a:t> e </a:t>
            </a:r>
            <a:r>
              <a:rPr lang="pt-PT" dirty="0" err="1"/>
              <a:t>PostgreSQL</a:t>
            </a:r>
            <a:r>
              <a:rPr lang="pt-PT" dirty="0"/>
              <a:t> continuam a ser a escolha </a:t>
            </a:r>
            <a:r>
              <a:rPr lang="pt-PT" dirty="0" err="1"/>
              <a:t>correcta</a:t>
            </a:r>
            <a:r>
              <a:rPr lang="pt-PT" dirty="0"/>
              <a:t>." (pausa longa)</a:t>
            </a:r>
          </a:p>
          <a:p>
            <a:r>
              <a:rPr lang="pt-PT" dirty="0"/>
              <a:t>Conclui com: "O </a:t>
            </a:r>
            <a:r>
              <a:rPr lang="pt-PT" dirty="0" err="1"/>
              <a:t>SingleStore</a:t>
            </a:r>
            <a:r>
              <a:rPr lang="pt-PT" dirty="0"/>
              <a:t> não é a resposta a todos os problemas de dados — é a resposta certa quando precisas de analítica em tempo real, HTAP, ou IA generativa sobre dados operacionais."</a:t>
            </a:r>
          </a:p>
          <a:p>
            <a:r>
              <a:rPr lang="pt-PT" dirty="0"/>
              <a:t>SIGLAS: HTAP = </a:t>
            </a:r>
            <a:r>
              <a:rPr lang="pt-PT" dirty="0" err="1"/>
              <a:t>Hybrid</a:t>
            </a:r>
            <a:r>
              <a:rPr lang="pt-PT" dirty="0"/>
              <a:t> </a:t>
            </a:r>
            <a:r>
              <a:rPr lang="pt-PT" dirty="0" err="1"/>
              <a:t>Transactional</a:t>
            </a:r>
            <a:r>
              <a:rPr lang="pt-PT" dirty="0"/>
              <a:t>/</a:t>
            </a:r>
            <a:r>
              <a:rPr lang="pt-PT" dirty="0" err="1"/>
              <a:t>Analytical</a:t>
            </a:r>
            <a:r>
              <a:rPr lang="pt-PT" dirty="0"/>
              <a:t> </a:t>
            </a:r>
            <a:r>
              <a:rPr lang="pt-PT" dirty="0" err="1"/>
              <a:t>Processing</a:t>
            </a:r>
            <a:r>
              <a:rPr lang="pt-PT" dirty="0"/>
              <a:t>. ETL = </a:t>
            </a:r>
            <a:r>
              <a:rPr lang="pt-PT" dirty="0" err="1"/>
              <a:t>Extract</a:t>
            </a:r>
            <a:r>
              <a:rPr lang="pt-PT" dirty="0"/>
              <a:t>, </a:t>
            </a:r>
            <a:r>
              <a:rPr lang="pt-PT" dirty="0" err="1"/>
              <a:t>Transform</a:t>
            </a:r>
            <a:r>
              <a:rPr lang="pt-PT" dirty="0"/>
              <a:t>, </a:t>
            </a:r>
            <a:r>
              <a:rPr lang="pt-PT" dirty="0" err="1"/>
              <a:t>Load</a:t>
            </a:r>
            <a:r>
              <a:rPr lang="pt-PT" dirty="0"/>
              <a:t>. OLTP = </a:t>
            </a:r>
            <a:r>
              <a:rPr lang="pt-PT" dirty="0" err="1"/>
              <a:t>transacções</a:t>
            </a:r>
            <a:r>
              <a:rPr lang="pt-PT" dirty="0"/>
              <a:t>. OLAP = analítica. RAG = </a:t>
            </a:r>
            <a:r>
              <a:rPr lang="pt-PT" dirty="0" err="1"/>
              <a:t>Retrieval-Augmented</a:t>
            </a:r>
            <a:r>
              <a:rPr lang="pt-PT" dirty="0"/>
              <a:t> </a:t>
            </a:r>
            <a:r>
              <a:rPr lang="pt-PT" dirty="0" err="1"/>
              <a:t>Generation</a:t>
            </a:r>
            <a:r>
              <a:rPr lang="pt-PT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 ORADOR:
Slide final. Diz 'Obrigado pela atenção' e aguarda as perguntas.
Se houver silêncio, podes oferecer: 'Posso aprofundar qualquer parte da arquitectura, da avaliação experimental ou da comparação com outros sistemas.'
Perguntas prováveis do professor:
- Como mediste os tempos? → Cada operação executada 3 vezes, valor mediano, com time do Linux.
- Porquê o dataset NYC Taxi e não outro? → É público, volumoso, real, e amplamente usado em benchmarks de bases de dados.
- Qual a maior limitação do trabalho? → Ambiente de nó único, não representativo de produção com múltiplos nós folha.
- O SingleStore é melhor que o PostgreSQL? → Em HTAP e analítica sim, mas para OLTP simples com orçamento limitado o PostgreSQL continua a ser adequado.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SingleStore DB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65760" y="2514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 Análise de um Sistema de Bases de Dados NewSQL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0" y="3246120"/>
            <a:ext cx="3657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365760" y="3429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 Rodrigues  ·  ISEC  ·  Big Data 2025/2026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SingleStore?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história e posicionamento NewSQL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438912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 Motor Dual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Shared-nothing, nós Agregadores e Folha, rowstore + columnstore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438912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221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Funcionalidades, Vectores e Preços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Multi-modelo, RAG, compatibilidade, modelo de preços Helios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38912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365760" y="28803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2907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e Análise Crítica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1546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WSL 2, vantagens, limitações e quando usar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438912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365760" y="35661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593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Experimental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8404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NYC Taxi, resultados CRUD a 1x/10x/100x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438912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4279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 Conclusões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5262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PostgreSQL e síntese final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SingleStore?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737360" y="2468880"/>
            <a:ext cx="4572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das Bases de Dados: 3 Gerações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6060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2606040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1.ª Geração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 (SQL)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Oracle, MySQL, PostgreSQL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ACID + SQL completo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Escalabilidade horizontal limitada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72968" y="777240"/>
            <a:ext cx="26060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3172968" y="777240"/>
            <a:ext cx="26060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3264408" y="77724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2.ª Geração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4408" y="102412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14447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MongoDB, Cassandra, Redis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 horizontal fácil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25786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Consistência eventual (teorema CAP)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0176" y="777240"/>
            <a:ext cx="2606040" cy="4160520"/>
          </a:xfrm>
          <a:prstGeom prst="rect">
            <a:avLst/>
          </a:prstGeom>
          <a:solidFill>
            <a:srgbClr val="F6F9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5980176" y="777240"/>
            <a:ext cx="26060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6071616" y="77724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3.ª Geração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71616" y="102412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17336" y="14447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Spanner, CockroachDB, SingleStore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17336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 do NoSQL + ACID do 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17336" y="25786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HTAP: OLTP + OLAP num só motor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17336" y="4389120"/>
            <a:ext cx="233172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6117336" y="4389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SingleStore está aqui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MemSQL a SingleStore: uma Evolução Estratégica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1719072" cy="73152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MemSQL fundado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OLTP em memória de altíssimo débito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93392" y="1261872"/>
            <a:ext cx="1719072" cy="73152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84832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2016–19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39112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para HTAP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39112" y="2377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redesenhado com columnstore em disco mantendo rowstore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12464" y="1261872"/>
            <a:ext cx="1719072" cy="73152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22192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58184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58184" y="2377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MemSQL → SingleStore. Não foi só nome: foi um reposicionamento de produto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31536" y="1261872"/>
            <a:ext cx="1719072" cy="73152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41264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77256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BryteFlow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77256" y="2377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dados a partir de fontes legadas (Oracle, SQL Server)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50608" y="1261872"/>
            <a:ext cx="1719072" cy="73152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260336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96328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123M$ ARR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96328" y="2377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de 23% a.a. Base de 400+ clientes empresariais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global de bases de dados: ~60 mil M$ · CAGR 15%  ·  SingleStore atingiu 100M$ ARR em 2024 (empresa Centaur)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097280"/>
            <a:ext cx="502920" cy="50292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4306824" y="1083564"/>
            <a:ext cx="502920" cy="50292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6026137" y="1093671"/>
            <a:ext cx="502920" cy="50292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Shape 27"/>
          <p:cNvSpPr/>
          <p:nvPr/>
        </p:nvSpPr>
        <p:spPr>
          <a:xfrm>
            <a:off x="7746893" y="1093671"/>
            <a:ext cx="502920" cy="50292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894187" y="1097280"/>
            <a:ext cx="502920" cy="50292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737360" y="2468880"/>
            <a:ext cx="4572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Shared-Nothing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463040" cy="594360"/>
          </a:xfrm>
          <a:prstGeom prst="rect">
            <a:avLst/>
          </a:prstGeom>
          <a:solidFill>
            <a:srgbClr val="E8F0FE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(MySQL driver)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7652" y="1097280"/>
            <a:ext cx="1397308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3191256" y="821108"/>
            <a:ext cx="1920240" cy="594360"/>
          </a:xfrm>
          <a:prstGeom prst="rect">
            <a:avLst/>
          </a:prstGeom>
          <a:solidFill>
            <a:srgbClr val="003087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3188108" y="8412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Agregador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SQL · Distribui planos · Agrega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4308" y="1625781"/>
            <a:ext cx="45719" cy="2971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4139049" y="1417320"/>
            <a:ext cx="54864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5745963" y="1630526"/>
            <a:ext cx="45719" cy="34457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1737360" y="1920240"/>
            <a:ext cx="1508760" cy="59436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1737360" y="1920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Folha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Partições 0-3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83080" y="2651760"/>
            <a:ext cx="658368" cy="502920"/>
          </a:xfrm>
          <a:prstGeom prst="rect">
            <a:avLst/>
          </a:prstGeom>
          <a:solidFill>
            <a:srgbClr val="CADCFC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1783080" y="26517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(RAM)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32888" y="2651760"/>
            <a:ext cx="658368" cy="502920"/>
          </a:xfrm>
          <a:prstGeom prst="rect">
            <a:avLst/>
          </a:prstGeom>
          <a:solidFill>
            <a:srgbClr val="F6F9FF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2532888" y="26517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(Disco)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1920240"/>
            <a:ext cx="1508760" cy="59436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3383280" y="1920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Folha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Partições 4-7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2651760"/>
            <a:ext cx="658368" cy="502920"/>
          </a:xfrm>
          <a:prstGeom prst="rect">
            <a:avLst/>
          </a:prstGeom>
          <a:solidFill>
            <a:srgbClr val="CADCFC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3429000" y="26517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(RAM)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78808" y="2651760"/>
            <a:ext cx="658368" cy="502920"/>
          </a:xfrm>
          <a:prstGeom prst="rect">
            <a:avLst/>
          </a:prstGeom>
          <a:solidFill>
            <a:srgbClr val="F6F9FF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4178808" y="26517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(Disco)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1920240"/>
            <a:ext cx="1508760" cy="59436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5029200" y="1920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Folha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Partições 8-11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74920" y="2651760"/>
            <a:ext cx="658368" cy="502920"/>
          </a:xfrm>
          <a:prstGeom prst="rect">
            <a:avLst/>
          </a:prstGeom>
          <a:solidFill>
            <a:srgbClr val="CADCFC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5074920" y="26517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(RAM)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24728" y="2651760"/>
            <a:ext cx="658368" cy="502920"/>
          </a:xfrm>
          <a:prstGeom prst="rect">
            <a:avLst/>
          </a:prstGeom>
          <a:solidFill>
            <a:srgbClr val="F6F9FF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5824728" y="26517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(Disco)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474720"/>
            <a:ext cx="201168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594360" y="34747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Agregador — coordena e distribui planos de execução SQL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840480"/>
            <a:ext cx="201168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594360" y="38404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Folha — armazena partições, executa consultas locais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206240"/>
            <a:ext cx="201168" cy="20116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34"/>
          <p:cNvSpPr/>
          <p:nvPr/>
        </p:nvSpPr>
        <p:spPr>
          <a:xfrm>
            <a:off x="594360" y="42062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dual: Rowstore (memória, OLTP) + Columnstore (disco, OLAP)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822960"/>
            <a:ext cx="1965960" cy="2286000"/>
          </a:xfrm>
          <a:prstGeom prst="rect">
            <a:avLst/>
          </a:prstGeom>
          <a:solidFill>
            <a:srgbClr val="F6F9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8" name="Shape 36"/>
          <p:cNvSpPr/>
          <p:nvPr/>
        </p:nvSpPr>
        <p:spPr>
          <a:xfrm>
            <a:off x="6858000" y="822960"/>
            <a:ext cx="54864" cy="2286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9" name="Text 37"/>
          <p:cNvSpPr/>
          <p:nvPr/>
        </p:nvSpPr>
        <p:spPr>
          <a:xfrm>
            <a:off x="6976872" y="868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76872" y="1216152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e escritas em paralelo sem bloqueio mútuo nas tabelas rowstore</a:t>
            </a:r>
            <a:endParaRPr lang="en-US" sz="1000" dirty="0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EFF011C3-07C9-F95B-AE76-1D2FFC509106}"/>
              </a:ext>
            </a:extLst>
          </p:cNvPr>
          <p:cNvSpPr/>
          <p:nvPr/>
        </p:nvSpPr>
        <p:spPr>
          <a:xfrm rot="5400000">
            <a:off x="4947078" y="877361"/>
            <a:ext cx="45719" cy="155205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B4823D30-3A06-7986-4150-929C97FD0924}"/>
              </a:ext>
            </a:extLst>
          </p:cNvPr>
          <p:cNvSpPr/>
          <p:nvPr/>
        </p:nvSpPr>
        <p:spPr>
          <a:xfrm rot="5400000">
            <a:off x="3288947" y="801143"/>
            <a:ext cx="45719" cy="1694997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Dual: Rowstore + Columnstore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931920" cy="4160520"/>
          </a:xfrm>
          <a:prstGeom prst="rect">
            <a:avLst/>
          </a:prstGeom>
          <a:solidFill>
            <a:srgbClr val="F6F9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3931920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046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8046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Rowstore — OLTP em Memória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14173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Dados mantidos inteiramente em RAM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19476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Índice em árvore B (chave primária)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247802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Skip-lists para índices secundários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300837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Snapshots periódicos em disco para durabilidade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35387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Latência sub-milissegundo nas escritas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40690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Ideal para: inserções, updates, transações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846320" y="777240"/>
            <a:ext cx="3931920" cy="4160520"/>
          </a:xfrm>
          <a:prstGeom prst="rect">
            <a:avLst/>
          </a:prstGeom>
          <a:solidFill>
            <a:srgbClr val="F6F9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4846320" y="777240"/>
            <a:ext cx="3931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804672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8046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Columnstore — OLAP em Disco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983480" y="14173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Segmentos ordenados e comprimidos em disco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983480" y="19476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Codificação por dicionário + compressão por prefixo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983480" y="247802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Só lê as colunas necessárias para cada consulta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983480" y="300837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Execução vetorizada (múltiplos valores/instrução CPU)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983480" y="35387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~30% menos espaço que formato de linha InnoDB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983480" y="40690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Ideal para: aggregações, varrimentos, analítica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502920" y="4663440"/>
            <a:ext cx="850392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e Interface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737360" y="2468880"/>
            <a:ext cx="4572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Funcionalidades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64008" cy="12801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502920" y="1197864"/>
            <a:ext cx="502920" cy="50292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9692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HTAP Nativo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15568" y="128016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e OLAP nos mesmos dados, sem ETL. Análise sempre sobre dados actuais.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804672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Shape 9"/>
          <p:cNvSpPr/>
          <p:nvPr/>
        </p:nvSpPr>
        <p:spPr>
          <a:xfrm>
            <a:off x="4846320" y="804672"/>
            <a:ext cx="64008" cy="12801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0"/>
          <p:cNvSpPr/>
          <p:nvPr/>
        </p:nvSpPr>
        <p:spPr>
          <a:xfrm>
            <a:off x="4983480" y="1197864"/>
            <a:ext cx="502920" cy="50292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344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96128" y="9692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Multi-Modelo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596128" y="128016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Relacional, JSON, Geoespacial, Séries Temporais e Vectores numa instância.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221992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Shape 14"/>
          <p:cNvSpPr/>
          <p:nvPr/>
        </p:nvSpPr>
        <p:spPr>
          <a:xfrm>
            <a:off x="365760" y="2221992"/>
            <a:ext cx="64008" cy="12801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hape 15"/>
          <p:cNvSpPr/>
          <p:nvPr/>
        </p:nvSpPr>
        <p:spPr>
          <a:xfrm>
            <a:off x="502920" y="2615184"/>
            <a:ext cx="502920" cy="50292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6"/>
          <p:cNvSpPr/>
          <p:nvPr/>
        </p:nvSpPr>
        <p:spPr>
          <a:xfrm>
            <a:off x="1115568" y="2386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Vectorial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115568" y="269748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VECTOR(n), índice HNSW, função DOT_PRODUCT. RAG sem sistemas externos.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846320" y="2221992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4" name="Shape 19"/>
          <p:cNvSpPr/>
          <p:nvPr/>
        </p:nvSpPr>
        <p:spPr>
          <a:xfrm>
            <a:off x="4846320" y="2221992"/>
            <a:ext cx="64008" cy="12801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0"/>
          <p:cNvSpPr/>
          <p:nvPr/>
        </p:nvSpPr>
        <p:spPr>
          <a:xfrm>
            <a:off x="4983480" y="2615184"/>
            <a:ext cx="502920" cy="50292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65176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96128" y="2386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em Tempo Real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596128" y="269748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S3 e outras fontes com garantias exactly-once.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65760" y="3639312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0" name="Shape 24"/>
          <p:cNvSpPr/>
          <p:nvPr/>
        </p:nvSpPr>
        <p:spPr>
          <a:xfrm>
            <a:off x="365760" y="3639312"/>
            <a:ext cx="64008" cy="12801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Shape 25"/>
          <p:cNvSpPr/>
          <p:nvPr/>
        </p:nvSpPr>
        <p:spPr>
          <a:xfrm>
            <a:off x="502920" y="4032504"/>
            <a:ext cx="502920" cy="50292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69080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15568" y="38039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Compat. MySQL + MongoDB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115568" y="411480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Wire-compatible com MySQL. API MongoDB via SingleStore Kai.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4846320" y="3639312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6" name="Shape 29"/>
          <p:cNvSpPr/>
          <p:nvPr/>
        </p:nvSpPr>
        <p:spPr>
          <a:xfrm>
            <a:off x="4846320" y="3639312"/>
            <a:ext cx="64008" cy="12801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7" name="Shape 30"/>
          <p:cNvSpPr/>
          <p:nvPr/>
        </p:nvSpPr>
        <p:spPr>
          <a:xfrm>
            <a:off x="4983480" y="4032504"/>
            <a:ext cx="502920" cy="50292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9" name="Text 31"/>
          <p:cNvSpPr/>
          <p:nvPr/>
        </p:nvSpPr>
        <p:spPr>
          <a:xfrm>
            <a:off x="5596128" y="38039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Horizontal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5596128" y="411480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Adição de nós folha em linha, sem interrupção de serviço.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 Utilização Prática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114800" cy="4114800"/>
          </a:xfrm>
          <a:prstGeom prst="rect">
            <a:avLst/>
          </a:prstGeom>
          <a:solidFill>
            <a:srgbClr val="F6F9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1480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SingleStore Studio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SQL com realce de sintaxe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 de esquemas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682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Visualizador de planos de execução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437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de monitorização de recursos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19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consultas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804672"/>
            <a:ext cx="39319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4846320" y="804672"/>
            <a:ext cx="39319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4937760" y="8046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e Fluxo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417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Compatível com qualquer cliente MySQL: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DBeaver, DataGrip, TablePlus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Drivers JDBC, ODBC, Python, Node.js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5420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trabalho típico: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9077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tabelas rowstore (operacional) e columnstore (analítico)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3558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Pipeline de ingestão (Kafka / S3)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8039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que cruzam os dois tipos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2519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 embeddings vectoriais para IA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Vectorial e IA Generativa: RAG no SingleStore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02336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RAG e porque o SingleStore?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417320"/>
            <a:ext cx="329184" cy="32918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475488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081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 embeddings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168249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são convertidos em vectores numéricos por um modelo de linguagem e guardados em colunas VECTOR(n) da mesma tabela relacional.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286000"/>
            <a:ext cx="329184" cy="32918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75488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2768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por similaridade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255117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DOT_PRODUCT calcula a distância entre o vector da pergunta e os vectores guardados, usando o índice HNSW.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154680"/>
            <a:ext cx="329184" cy="32918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475488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1455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SQL combinados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341985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mesma instrução SELECT, combinam-se filtros relacionais (data, categoria, utilizador) com o resultado da pesquisa vectorial.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4023360"/>
            <a:ext cx="329184" cy="32918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75488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0142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sistema externo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428853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necessário um Pinecone ou Weaviate separado. O SingleStore faz tudo numa única base de dados.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804672"/>
            <a:ext cx="41605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4663440" y="804672"/>
            <a:ext cx="41605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4754880" y="804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consulta RAG em SQL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353312"/>
            <a:ext cx="3977640" cy="2606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4828032" y="14081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Armazenar embedding de um documento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28032" y="1609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documentos (titulo, conteudo, embedding)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28032" y="18105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('Relatório Q1', 'texto...', '[0.12, -0.34, ...]');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28032" y="2011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28032" y="2212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Pesquisa por similaridade + filtro SQL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28032" y="24140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titulo, conteudo,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28032" y="2615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DOT_PRODUCT(embedding, :query_vec) AS score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28032" y="28163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documentos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28032" y="3017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categoria = 'financeiro'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28032" y="3218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data_criacao &gt; '2024-01-01'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28032" y="34198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score DESC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28032" y="3621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4041648"/>
            <a:ext cx="3977640" cy="731520"/>
          </a:xfrm>
          <a:prstGeom prst="rect">
            <a:avLst/>
          </a:prstGeom>
          <a:solidFill>
            <a:srgbClr val="F6F9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1" name="Shape 39"/>
          <p:cNvSpPr/>
          <p:nvPr/>
        </p:nvSpPr>
        <p:spPr>
          <a:xfrm>
            <a:off x="4754880" y="4041648"/>
            <a:ext cx="54864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40"/>
          <p:cNvSpPr/>
          <p:nvPr/>
        </p:nvSpPr>
        <p:spPr>
          <a:xfrm>
            <a:off x="4882896" y="4059936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HNSW, </a:t>
            </a:r>
            <a:r>
              <a:rPr lang="pt-PT" sz="1050" dirty="0" err="1"/>
              <a:t>Hierarchical</a:t>
            </a:r>
            <a:r>
              <a:rPr lang="pt-PT" sz="1050" dirty="0"/>
              <a:t> </a:t>
            </a:r>
            <a:r>
              <a:rPr lang="pt-PT" sz="1050" dirty="0" err="1"/>
              <a:t>Navigable</a:t>
            </a:r>
            <a:r>
              <a:rPr lang="pt-PT" sz="1050" dirty="0"/>
              <a:t> </a:t>
            </a:r>
            <a:r>
              <a:rPr lang="pt-PT" sz="1050" dirty="0" err="1"/>
              <a:t>Small</a:t>
            </a:r>
            <a:r>
              <a:rPr lang="pt-PT" sz="1050" dirty="0"/>
              <a:t> </a:t>
            </a:r>
            <a:r>
              <a:rPr lang="pt-PT" sz="1050" dirty="0" err="1"/>
              <a:t>World</a:t>
            </a:r>
            <a:r>
              <a:rPr lang="pt-PT" sz="1050" dirty="0"/>
              <a:t>, algoritmo de índice vetorial que organiza vetores numa hierarquia de grafos para não ter de percorrer todos,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garante que a pesquisa por similaridade escala para milhões de vectores sem percorrer toda a tabela.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Preços: o que custaria usar o SingleStore?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6060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60604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aberto — gratuito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801368"/>
            <a:ext cx="23957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é dominado pela infraestrutura (servidores, disco, RAM) e pelo suporte comercial opcional. Ideal para quem tem equipas com experiência e orçamento limitado.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22192"/>
            <a:ext cx="242316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57200" y="38221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 pequena/média escala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804672"/>
            <a:ext cx="26060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3172968" y="804672"/>
            <a:ext cx="2606040" cy="47548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3264408" y="80467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SingleStore Helios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82696" y="137160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workspace units ($/hora)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82696" y="1801368"/>
            <a:ext cx="23957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por unidades de computação por hora, com armazenamento faturado separadamente por GB. Existe versão gratuita para desenvolvimento. Modelo BYOC disponível para residência de dados.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4408" y="3822192"/>
            <a:ext cx="2423160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3264408" y="38221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 HTAP e IA empresarial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0176" y="804672"/>
            <a:ext cx="26060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5980176" y="804672"/>
            <a:ext cx="26060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6071616" y="80467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9904" y="137160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créditos de computação/consulta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9904" y="1801368"/>
            <a:ext cx="23957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por crédito consumido por consulta. Custo imprevisível em cargas intensivas. Forte em analítica histórica mas sem HTAP nativo nem pesquisa vectorial integrada.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71616" y="3822192"/>
            <a:ext cx="242316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6071616" y="38221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 analítica histórica (dados frios)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SingleStore disponibiliza versão gratuita para desenvolvimento. Modelo BYOC permite dados na conta de nuvem do cliente.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Vantagens, Limitações e Custos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737360" y="2468880"/>
            <a:ext cx="4572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Crítica: Vantagens e Desvantagens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1480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Vantagens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57200" y="13075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ETL entre OLTP e OLAP — análise sobre dados em tempo real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4114800" cy="621792"/>
          </a:xfrm>
          <a:prstGeom prst="rect">
            <a:avLst/>
          </a:prstGeom>
          <a:solidFill>
            <a:srgbClr val="F6F9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analítico muito superior (cresce com o volume)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88336"/>
            <a:ext cx="411480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457200" y="27157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Compatível com MySQL — sem reescrita de drivers e código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92424"/>
            <a:ext cx="4114800" cy="621792"/>
          </a:xfrm>
          <a:prstGeom prst="rect">
            <a:avLst/>
          </a:prstGeom>
          <a:solidFill>
            <a:srgbClr val="F6F9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57200" y="34198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vectorial nativa — sem sistema externo para IA generativa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096512"/>
            <a:ext cx="411480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457200" y="41239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horizontal automática, sem interrupção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777240"/>
            <a:ext cx="411480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4846320" y="7772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Desvantagens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411480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846320" y="13075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consumo de RAM — rowstore inteiramente em memória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984248"/>
            <a:ext cx="4114800" cy="621792"/>
          </a:xfrm>
          <a:prstGeom prst="rect">
            <a:avLst/>
          </a:prstGeom>
          <a:solidFill>
            <a:srgbClr val="F6F9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4846320" y="2011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Licenciamento proprietário — risco de vendor lock-in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688336"/>
            <a:ext cx="411480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4846320" y="27157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e outros concorrentes disputam benchmark de analítica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392424"/>
            <a:ext cx="4114800" cy="621792"/>
          </a:xfrm>
          <a:prstGeom prst="rect">
            <a:avLst/>
          </a:prstGeom>
          <a:solidFill>
            <a:srgbClr val="F6F9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4846320" y="34198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puro de baixo volume: overhead da arquitectura distribuída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4096512"/>
            <a:ext cx="411480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4846320" y="41239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garantias de serialização global equivalentes ao Spanner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(e Quando Não Usar)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Cenários adequados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30352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em tempo real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6733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bancária, segmentação de audiências, telemetria de redes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402336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64008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30352" y="2496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/ 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8437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pesquisa semântica vectorial com filtros SQL relacionais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75304"/>
            <a:ext cx="402336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365760" y="3575304"/>
            <a:ext cx="64008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530352" y="36667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HTAP empresarial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401421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volumes de dados operacionais com requisitos analíticos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Cenários desadequados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402336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64008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919472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de pequena escala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16733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ou PostgreSQL são mais simples e económicos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404872"/>
            <a:ext cx="402336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4754880" y="2404872"/>
            <a:ext cx="64008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4919472" y="2496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Transacções distribuídas globais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9472" y="28437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Spanner ou CockroachDB têm garantias mais fortes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575304"/>
            <a:ext cx="402336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8" name="Shape 26"/>
          <p:cNvSpPr/>
          <p:nvPr/>
        </p:nvSpPr>
        <p:spPr>
          <a:xfrm>
            <a:off x="4754880" y="3575304"/>
            <a:ext cx="64008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4919472" y="36667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histórica sobre dados frios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9472" y="401421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dados que são acedidos raramente ou com muito </a:t>
            </a:r>
            <a:r>
              <a:rPr lang="pt-PT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frequência,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Redshift ou Snowflake são mais económicos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Prática: Docker + WSL 2 (Windows 11)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1605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6052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Ficheiros, 1 Comando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1399032"/>
            <a:ext cx="347472" cy="347472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475488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3898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projecto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691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 ·  docker-compose.yml  ·  init.sql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2267712"/>
            <a:ext cx="347472" cy="347472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75488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2585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5603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singlestoredb-dev:latest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ROOT_PASSWORD="1234"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init.sql /init.sql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3306 8080 9000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3136392"/>
            <a:ext cx="347472" cy="347472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475488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1272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Arrancar o ambiente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34290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--build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" y="4005072"/>
            <a:ext cx="347472" cy="347472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75488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9959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acesso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429768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Web → localhost:8080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CLI → porta 3306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API → porta 9000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4800600" y="804672"/>
            <a:ext cx="40233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4892040" y="804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Acesso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371600"/>
            <a:ext cx="658368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4846320" y="13716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77840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com WSL 2 (Ubuntu recomendado)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1828800"/>
            <a:ext cx="658368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4846320" y="18288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77840" y="1828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x86_64, mínimo 4 núcleos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2286000"/>
            <a:ext cx="658368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4846320" y="22860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77840" y="2286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8 GB (16 GB recomendado)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2743200"/>
            <a:ext cx="658368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7" name="Text 35"/>
          <p:cNvSpPr/>
          <p:nvPr/>
        </p:nvSpPr>
        <p:spPr>
          <a:xfrm>
            <a:off x="4846320" y="27432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577840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GB livres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3200400"/>
            <a:ext cx="658368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0" name="Text 38"/>
          <p:cNvSpPr/>
          <p:nvPr/>
        </p:nvSpPr>
        <p:spPr>
          <a:xfrm>
            <a:off x="4846320" y="32004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577840" y="3200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com integração WSL 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3730752"/>
            <a:ext cx="3886200" cy="100584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3" name="Shape 41"/>
          <p:cNvSpPr/>
          <p:nvPr/>
        </p:nvSpPr>
        <p:spPr>
          <a:xfrm>
            <a:off x="4846320" y="3730752"/>
            <a:ext cx="54864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4" name="Text 42"/>
          <p:cNvSpPr/>
          <p:nvPr/>
        </p:nvSpPr>
        <p:spPr>
          <a:xfrm>
            <a:off x="4974336" y="3767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Apenas para desenvolvimento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74336" y="40690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configuração destina-se exclusivamente a testes locais. A password é ilustrativa e deve ser substituída antes de qualquer uso fora deste contexto.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Experimental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737360" y="2468880"/>
            <a:ext cx="4572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 Metodologia: NYC Taxi TLC Trip Record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51206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120640" cy="47548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Dados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4264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&amp; Limousine Commission (nyc.gov)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1109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9110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Parquet (download directo)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3957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Viagens de táxi em Nova Iorque desde 2009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(base):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880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2023 · ~20M registos · ~1 GB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3649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3649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2014-2023 · ~200M registos · ~10 GB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84962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38496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Replicação sistemática do base · ~100 GB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32120" y="804672"/>
            <a:ext cx="32918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5532120" y="804672"/>
            <a:ext cx="329184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5623560" y="80467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CRUD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23560" y="1417320"/>
            <a:ext cx="749808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5623560" y="1417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141732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 viagens em lote via LOAD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0" y="2075688"/>
            <a:ext cx="749808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5623560" y="207568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207568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 total por tipo pagamento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23560" y="2734056"/>
            <a:ext cx="749808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5623560" y="273405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273405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Varrimento seletivo com filtro data e distância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23560" y="3392424"/>
            <a:ext cx="749808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5623560" y="339242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339242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dos registos (tipo de pagamento)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23560" y="4050792"/>
            <a:ext cx="749808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34"/>
          <p:cNvSpPr/>
          <p:nvPr/>
        </p:nvSpPr>
        <p:spPr>
          <a:xfrm>
            <a:off x="5623560" y="405079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405079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dos registos (anomalias: pass.=0 ou valor&lt;0)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4736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operação executada 3× · valor mediano registado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CRUD: SingleStore vs MySQL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61823216"/>
              </p:ext>
            </p:extLst>
          </p:nvPr>
        </p:nvGraphicFramePr>
        <p:xfrm>
          <a:off x="365760" y="777240"/>
          <a:ext cx="5486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804672"/>
            <a:ext cx="283464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4"/>
          <p:cNvSpPr/>
          <p:nvPr/>
        </p:nvSpPr>
        <p:spPr>
          <a:xfrm>
            <a:off x="5989320" y="804672"/>
            <a:ext cx="64008" cy="12618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153912" y="877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ganho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3912" y="110642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153912" y="15819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a 10x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(38,2s vs 3,2s)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89320" y="2221992"/>
            <a:ext cx="283464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Shape 9"/>
          <p:cNvSpPr/>
          <p:nvPr/>
        </p:nvSpPr>
        <p:spPr>
          <a:xfrm>
            <a:off x="5989320" y="2221992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0"/>
          <p:cNvSpPr/>
          <p:nvPr/>
        </p:nvSpPr>
        <p:spPr>
          <a:xfrm>
            <a:off x="6153912" y="2295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100x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53912" y="25237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153912" y="2999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A,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ficam em timeout (&gt;300s)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89320" y="3639312"/>
            <a:ext cx="283464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5989320" y="3639312"/>
            <a:ext cx="64008" cy="1261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153912" y="3712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100x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53912" y="39410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4,4×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6153912" y="44165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SingleStore mais rápido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volume máximo</a:t>
            </a:r>
            <a:endParaRPr lang="en-US" sz="1000" dirty="0"/>
          </a:p>
        </p:txBody>
      </p:sp>
      <p:sp>
        <p:nvSpPr>
          <p:cNvPr id="21" name="Text 36">
            <a:extLst>
              <a:ext uri="{FF2B5EF4-FFF2-40B4-BE49-F238E27FC236}">
                <a16:creationId xmlns:a16="http://schemas.microsoft.com/office/drawing/2014/main" id="{C02B17D4-F9C6-0963-196A-A168E62E8926}"/>
              </a:ext>
            </a:extLst>
          </p:cNvPr>
          <p:cNvSpPr/>
          <p:nvPr/>
        </p:nvSpPr>
        <p:spPr>
          <a:xfrm>
            <a:off x="429768" y="4828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eixo vertical é o tempo em segundos. Quanto menor, melhor.</a:t>
            </a:r>
            <a:endParaRPr lang="en-US" sz="90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Sistema durante SELECT A (Consulta de Agregação)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19456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804672"/>
            <a:ext cx="141732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606040" y="8046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1x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804672"/>
            <a:ext cx="141732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114800" y="8046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1x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804672"/>
            <a:ext cx="141732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623560" y="8046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10x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804672"/>
            <a:ext cx="141732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7132320" y="8046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10x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280160"/>
            <a:ext cx="21945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2560320" y="1280160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4069080" y="1280160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5577840" y="1280160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7086600" y="1280160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57200" y="12801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média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1280160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1280160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1280160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1280160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1938528"/>
            <a:ext cx="2194560" cy="585216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Shape 24"/>
          <p:cNvSpPr/>
          <p:nvPr/>
        </p:nvSpPr>
        <p:spPr>
          <a:xfrm>
            <a:off x="2560320" y="1938528"/>
            <a:ext cx="1417320" cy="585216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Shape 25"/>
          <p:cNvSpPr/>
          <p:nvPr/>
        </p:nvSpPr>
        <p:spPr>
          <a:xfrm>
            <a:off x="4069080" y="1938528"/>
            <a:ext cx="1417320" cy="585216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Shape 26"/>
          <p:cNvSpPr/>
          <p:nvPr/>
        </p:nvSpPr>
        <p:spPr>
          <a:xfrm>
            <a:off x="5577840" y="1938528"/>
            <a:ext cx="1417320" cy="585216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Shape 27"/>
          <p:cNvSpPr/>
          <p:nvPr/>
        </p:nvSpPr>
        <p:spPr>
          <a:xfrm>
            <a:off x="7086600" y="1938528"/>
            <a:ext cx="1417320" cy="585216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457200" y="193852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pico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06040" y="1938528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 GB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0" y="1938528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GB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23560" y="1938528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 GB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0" y="1938528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 GB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2596896"/>
            <a:ext cx="21945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Shape 34"/>
          <p:cNvSpPr/>
          <p:nvPr/>
        </p:nvSpPr>
        <p:spPr>
          <a:xfrm>
            <a:off x="2560320" y="2596896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7" name="Shape 35"/>
          <p:cNvSpPr/>
          <p:nvPr/>
        </p:nvSpPr>
        <p:spPr>
          <a:xfrm>
            <a:off x="4069080" y="2596896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8" name="Shape 36"/>
          <p:cNvSpPr/>
          <p:nvPr/>
        </p:nvSpPr>
        <p:spPr>
          <a:xfrm>
            <a:off x="5577840" y="2596896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9" name="Shape 37"/>
          <p:cNvSpPr/>
          <p:nvPr/>
        </p:nvSpPr>
        <p:spPr>
          <a:xfrm>
            <a:off x="7086600" y="2596896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0" name="Text 38"/>
          <p:cNvSpPr/>
          <p:nvPr/>
        </p:nvSpPr>
        <p:spPr>
          <a:xfrm>
            <a:off x="457200" y="259689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leit.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606040" y="2596896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MB/s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14800" y="2596896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MB/s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23560" y="2596896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970 MB/s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32320" y="2596896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1210 MB/s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3255264"/>
            <a:ext cx="2194560" cy="585216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6" name="Shape 44"/>
          <p:cNvSpPr/>
          <p:nvPr/>
        </p:nvSpPr>
        <p:spPr>
          <a:xfrm>
            <a:off x="2560320" y="3255264"/>
            <a:ext cx="1417320" cy="585216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7" name="Shape 45"/>
          <p:cNvSpPr/>
          <p:nvPr/>
        </p:nvSpPr>
        <p:spPr>
          <a:xfrm>
            <a:off x="4069080" y="3255264"/>
            <a:ext cx="1417320" cy="585216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8" name="Shape 46"/>
          <p:cNvSpPr/>
          <p:nvPr/>
        </p:nvSpPr>
        <p:spPr>
          <a:xfrm>
            <a:off x="5577840" y="3255264"/>
            <a:ext cx="1417320" cy="585216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9" name="Shape 47"/>
          <p:cNvSpPr/>
          <p:nvPr/>
        </p:nvSpPr>
        <p:spPr>
          <a:xfrm>
            <a:off x="7086600" y="3255264"/>
            <a:ext cx="1417320" cy="585216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0" name="Text 48"/>
          <p:cNvSpPr/>
          <p:nvPr/>
        </p:nvSpPr>
        <p:spPr>
          <a:xfrm>
            <a:off x="457200" y="3255264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dados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606040" y="3255264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 GB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114800" y="3255264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 GB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623560" y="3255264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 GB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132320" y="3255264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 GB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F6F9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6" name="Shape 54"/>
          <p:cNvSpPr/>
          <p:nvPr/>
        </p:nvSpPr>
        <p:spPr>
          <a:xfrm>
            <a:off x="365760" y="3977640"/>
            <a:ext cx="6400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7" name="Text 55"/>
          <p:cNvSpPr/>
          <p:nvPr/>
        </p:nvSpPr>
        <p:spPr>
          <a:xfrm>
            <a:off x="530352" y="3977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Interpretação: o SingleStore troca mais RAM por menos I/O em disco e menor tempo de resposta. O columnstore só lê as colunas necessárias → reduz leituras em disco ~30% face ao InnoDB. A execução vetorizada paraleliza operações em todos os núcleos → CPU mais elevada. A 100x, o MySQL não termina nenhuma consulta analítica em 300 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 Conclusões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737360" y="2468880"/>
            <a:ext cx="4572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SingleStore vs MySQL vs PostgreSQL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46888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804672"/>
            <a:ext cx="210312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926080" y="804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SingleStore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804672"/>
            <a:ext cx="210312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5074920" y="804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804672"/>
            <a:ext cx="210312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7223760" y="804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280160"/>
            <a:ext cx="2468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38912" y="1280160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HTAP nativo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80360" y="1280160"/>
            <a:ext cx="2103120" cy="429768"/>
          </a:xfrm>
          <a:prstGeom prst="rect">
            <a:avLst/>
          </a:prstGeom>
          <a:solidFill>
            <a:srgbClr val="EE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2953512" y="1280160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Nativo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1280160"/>
            <a:ext cx="21031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5102352" y="1280160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78040" y="1280160"/>
            <a:ext cx="21031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7251192" y="1280160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1746504"/>
            <a:ext cx="246888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438912" y="1746504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Arm. Colunar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880360" y="1746504"/>
            <a:ext cx="2103120" cy="429768"/>
          </a:xfrm>
          <a:prstGeom prst="rect">
            <a:avLst/>
          </a:prstGeom>
          <a:solidFill>
            <a:srgbClr val="EE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2953512" y="1746504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Nativo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0" y="1746504"/>
            <a:ext cx="210312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5102352" y="1746504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78040" y="1746504"/>
            <a:ext cx="210312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7251192" y="1746504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(ext.)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212848"/>
            <a:ext cx="2468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438912" y="2212848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Vectorial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880360" y="2212848"/>
            <a:ext cx="2103120" cy="429768"/>
          </a:xfrm>
          <a:prstGeom prst="rect">
            <a:avLst/>
          </a:prstGeom>
          <a:solidFill>
            <a:srgbClr val="EE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2953512" y="2212848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ANN nativo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0" y="2212848"/>
            <a:ext cx="21031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5102352" y="2212848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78040" y="2212848"/>
            <a:ext cx="21031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34"/>
          <p:cNvSpPr/>
          <p:nvPr/>
        </p:nvSpPr>
        <p:spPr>
          <a:xfrm>
            <a:off x="7251192" y="2212848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(ext.)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2679192"/>
            <a:ext cx="246888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8" name="Text 36"/>
          <p:cNvSpPr/>
          <p:nvPr/>
        </p:nvSpPr>
        <p:spPr>
          <a:xfrm>
            <a:off x="438912" y="2679192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Escal. Horizontal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80360" y="2679192"/>
            <a:ext cx="2103120" cy="429768"/>
          </a:xfrm>
          <a:prstGeom prst="rect">
            <a:avLst/>
          </a:prstGeom>
          <a:solidFill>
            <a:srgbClr val="EE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0" name="Text 38"/>
          <p:cNvSpPr/>
          <p:nvPr/>
        </p:nvSpPr>
        <p:spPr>
          <a:xfrm>
            <a:off x="2953512" y="2679192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Automática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0" y="2679192"/>
            <a:ext cx="210312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40"/>
          <p:cNvSpPr/>
          <p:nvPr/>
        </p:nvSpPr>
        <p:spPr>
          <a:xfrm>
            <a:off x="5102352" y="2679192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(sharding)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178040" y="2679192"/>
            <a:ext cx="210312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4" name="Text 42"/>
          <p:cNvSpPr/>
          <p:nvPr/>
        </p:nvSpPr>
        <p:spPr>
          <a:xfrm>
            <a:off x="7251192" y="2679192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(Citus)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3145536"/>
            <a:ext cx="2468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6" name="Text 44"/>
          <p:cNvSpPr/>
          <p:nvPr/>
        </p:nvSpPr>
        <p:spPr>
          <a:xfrm>
            <a:off x="438912" y="3145536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Compatib. MySQL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880360" y="3145536"/>
            <a:ext cx="2103120" cy="429768"/>
          </a:xfrm>
          <a:prstGeom prst="rect">
            <a:avLst/>
          </a:prstGeom>
          <a:solidFill>
            <a:srgbClr val="EE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8" name="Text 46"/>
          <p:cNvSpPr/>
          <p:nvPr/>
        </p:nvSpPr>
        <p:spPr>
          <a:xfrm>
            <a:off x="2953512" y="3145536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Total (wire)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29200" y="3145536"/>
            <a:ext cx="21031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0" name="Text 48"/>
          <p:cNvSpPr/>
          <p:nvPr/>
        </p:nvSpPr>
        <p:spPr>
          <a:xfrm>
            <a:off x="5102352" y="3145536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Referência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178040" y="3145536"/>
            <a:ext cx="21031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2" name="Text 50"/>
          <p:cNvSpPr/>
          <p:nvPr/>
        </p:nvSpPr>
        <p:spPr>
          <a:xfrm>
            <a:off x="7251192" y="3145536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65760" y="3611880"/>
            <a:ext cx="246888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4" name="Text 52"/>
          <p:cNvSpPr/>
          <p:nvPr/>
        </p:nvSpPr>
        <p:spPr>
          <a:xfrm>
            <a:off x="438912" y="3611880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/ Transacções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880360" y="3611880"/>
            <a:ext cx="2103120" cy="429768"/>
          </a:xfrm>
          <a:prstGeom prst="rect">
            <a:avLst/>
          </a:prstGeom>
          <a:solidFill>
            <a:srgbClr val="EE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6" name="Text 54"/>
          <p:cNvSpPr/>
          <p:nvPr/>
        </p:nvSpPr>
        <p:spPr>
          <a:xfrm>
            <a:off x="2953512" y="3611880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029200" y="3611880"/>
            <a:ext cx="210312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8" name="Text 56"/>
          <p:cNvSpPr/>
          <p:nvPr/>
        </p:nvSpPr>
        <p:spPr>
          <a:xfrm>
            <a:off x="5102352" y="3611880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178040" y="3611880"/>
            <a:ext cx="210312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0" name="Text 58"/>
          <p:cNvSpPr/>
          <p:nvPr/>
        </p:nvSpPr>
        <p:spPr>
          <a:xfrm>
            <a:off x="7251192" y="3611880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65760" y="4078224"/>
            <a:ext cx="2468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2" name="Text 60"/>
          <p:cNvSpPr/>
          <p:nvPr/>
        </p:nvSpPr>
        <p:spPr>
          <a:xfrm>
            <a:off x="438912" y="4078224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880360" y="4078224"/>
            <a:ext cx="21031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4" name="Text 62"/>
          <p:cNvSpPr/>
          <p:nvPr/>
        </p:nvSpPr>
        <p:spPr>
          <a:xfrm>
            <a:off x="2953512" y="4078224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Proprietária*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029200" y="4078224"/>
            <a:ext cx="21031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6" name="Text 64"/>
          <p:cNvSpPr/>
          <p:nvPr/>
        </p:nvSpPr>
        <p:spPr>
          <a:xfrm>
            <a:off x="5102352" y="4078224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 / Comercial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178040" y="4078224"/>
            <a:ext cx="21031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8" name="Text 66"/>
          <p:cNvSpPr/>
          <p:nvPr/>
        </p:nvSpPr>
        <p:spPr>
          <a:xfrm>
            <a:off x="7251192" y="4078224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OSS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65760" y="4544568"/>
            <a:ext cx="246888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0" name="Text 68"/>
          <p:cNvSpPr/>
          <p:nvPr/>
        </p:nvSpPr>
        <p:spPr>
          <a:xfrm>
            <a:off x="438912" y="4544568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2880360" y="4544568"/>
            <a:ext cx="210312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2" name="Text 70"/>
          <p:cNvSpPr/>
          <p:nvPr/>
        </p:nvSpPr>
        <p:spPr>
          <a:xfrm>
            <a:off x="2953512" y="4544568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HTAP · IA · Analítica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029200" y="4544568"/>
            <a:ext cx="210312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4" name="Text 72"/>
          <p:cNvSpPr/>
          <p:nvPr/>
        </p:nvSpPr>
        <p:spPr>
          <a:xfrm>
            <a:off x="5102352" y="4544568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web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7178040" y="4544568"/>
            <a:ext cx="2103120" cy="429768"/>
          </a:xfrm>
          <a:prstGeom prst="rect">
            <a:avLst/>
          </a:prstGeom>
          <a:solidFill>
            <a:srgbClr val="F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6" name="Text 74"/>
          <p:cNvSpPr/>
          <p:nvPr/>
        </p:nvSpPr>
        <p:spPr>
          <a:xfrm>
            <a:off x="7251192" y="4544568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complexo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365760" y="49194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Versão gratuita para desenvolvimento disponível  ·  Comparação com PostgreSQL baseada em documentação técnica (Pavlo &amp; Aslett, 2016; Ozsu &amp; Valduriez, 2020)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Empresarial: Clientes e Reconhecimento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514600" cy="1188720"/>
          </a:xfrm>
          <a:prstGeom prst="rect">
            <a:avLst/>
          </a:prstGeom>
          <a:solidFill>
            <a:srgbClr val="00308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empresariais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514600" cy="1188720"/>
          </a:xfrm>
          <a:prstGeom prst="rect">
            <a:avLst/>
          </a:prstGeom>
          <a:solidFill>
            <a:srgbClr val="00308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3200400" y="8229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123M$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em 2025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(+23% a.a.)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804672"/>
            <a:ext cx="2514600" cy="1188720"/>
          </a:xfrm>
          <a:prstGeom prst="rect">
            <a:avLst/>
          </a:prstGeom>
          <a:solidFill>
            <a:srgbClr val="00308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6035040" y="8229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35040" y="14630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MQ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2021, 2024, 2025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64008" cy="10515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530352" y="2240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Financeiros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257860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Sachs, DBS Bank, Cigna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1488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64008" cy="10515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828032" y="2240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Streaming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257860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Comcast, Hulu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64008" cy="10515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530352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3767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Uber, Adobe, Cisco, Nvidia, Akamai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3375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7" name="Shape 25"/>
          <p:cNvSpPr/>
          <p:nvPr/>
        </p:nvSpPr>
        <p:spPr>
          <a:xfrm>
            <a:off x="4663440" y="3337560"/>
            <a:ext cx="64008" cy="10515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4828032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Telecomunicações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3767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Samsung, LG, SK Telecom, Siemens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Reconhecimento: Gartner Magic Quadrant (Cloud DBMS) · Forrester Wave (Translytical DB) · Centaur company (&gt;100M$ ARR)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78408"/>
            <a:ext cx="7845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SingleStore resolve a separação OLTP/OLAP a nível arquitetural, sem ETL, com análise sobre dados operacionais em tempo real.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764792"/>
            <a:ext cx="841248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051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688" y="1783080"/>
            <a:ext cx="7845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com o dataset NYC Taxi confirmou ganhos de desempenho analítico que crescem com o volume.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65760" y="2569464"/>
            <a:ext cx="841248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1518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258775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suporte nativo a vectores e RAG posiciona-o como base de dados relevante para aplicações de IA generativa.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19856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2688" y="339242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comprovada em Goldman Sachs, Uber, Adobe, Nvidia e mais de 400 clientes Fortune 500.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65760" y="4178808"/>
            <a:ext cx="841248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24528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32688" y="4197096"/>
            <a:ext cx="7845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contrapartida: maior consumo de RAM e licença proprietária. Para OLTP simples, MySQL ou PostgreSQL continuam a ser a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6400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3200400" y="2377440"/>
            <a:ext cx="27432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365760" y="2514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 Rodrigues  ·  a2022147797@isec.pt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30175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SingleStore DB: Apresentação e Análise de um Sistema de Bases de Dados NewSQL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4930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ISEC · Big Data 2025/2026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1F2977E232D44F8C048918545518A4" ma:contentTypeVersion="9" ma:contentTypeDescription="Create a new document." ma:contentTypeScope="" ma:versionID="fe3d23371475dcbfe6fda0b5710f6a8f">
  <xsd:schema xmlns:xsd="http://www.w3.org/2001/XMLSchema" xmlns:xs="http://www.w3.org/2001/XMLSchema" xmlns:p="http://schemas.microsoft.com/office/2006/metadata/properties" xmlns:ns3="98bfb806-11f9-4ebc-9057-092b5529c9b7" targetNamespace="http://schemas.microsoft.com/office/2006/metadata/properties" ma:root="true" ma:fieldsID="70376703c126e75580fc99cdd4a5f3b3" ns3:_="">
    <xsd:import namespace="98bfb806-11f9-4ebc-9057-092b5529c9b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bfb806-11f9-4ebc-9057-092b5529c9b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8bfb806-11f9-4ebc-9057-092b5529c9b7" xsi:nil="true"/>
  </documentManagement>
</p:properties>
</file>

<file path=customXml/itemProps1.xml><?xml version="1.0" encoding="utf-8"?>
<ds:datastoreItem xmlns:ds="http://schemas.openxmlformats.org/officeDocument/2006/customXml" ds:itemID="{015C3F44-7292-4303-A800-7E21F8F857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bfb806-11f9-4ebc-9057-092b5529c9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DD204E-5BC4-4CE3-9EEF-0906DE648B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888B24-18E4-4E8C-BC87-E663C8C6FA35}">
  <ds:schemaRefs>
    <ds:schemaRef ds:uri="http://schemas.microsoft.com/office/infopath/2007/PartnerControls"/>
    <ds:schemaRef ds:uri="http://purl.org/dc/elements/1.1/"/>
    <ds:schemaRef ds:uri="http://purl.org/dc/dcmitype/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98bfb806-11f9-4ebc-9057-092b5529c9b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6132</Words>
  <Application>Microsoft Office PowerPoint</Application>
  <PresentationFormat>Apresentação no Ecrã (16:9)</PresentationFormat>
  <Paragraphs>498</Paragraphs>
  <Slides>26</Slides>
  <Notes>26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SingleStore DB</dc:title>
  <dc:subject>PptxGenJS Presentation</dc:subject>
  <dc:creator>Ricardo Rodrigues</dc:creator>
  <cp:lastModifiedBy>Ricardo Duarte Rodrigues</cp:lastModifiedBy>
  <cp:revision>6</cp:revision>
  <dcterms:created xsi:type="dcterms:W3CDTF">2026-03-25T11:36:56Z</dcterms:created>
  <dcterms:modified xsi:type="dcterms:W3CDTF">2026-03-25T20:04:31Z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0x010100251F2977E232D44F8C048918545518A4</vt:lpwstr>
  </property>
</Properties>
</file>