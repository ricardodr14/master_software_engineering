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7099300" cy="10234613"/>
  <p:defaultTextStyle>
    <a:defPPr>
      <a:defRPr lang="pt-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B5740-E18B-07B9-FBDF-AC09353D0C80}" v="190" dt="2025-09-14T15:49:41.3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7264" autoAdjust="0"/>
  </p:normalViewPr>
  <p:slideViewPr>
    <p:cSldViewPr snapToGrid="0">
      <p:cViewPr varScale="1">
        <p:scale>
          <a:sx n="42" d="100"/>
          <a:sy n="42" d="100"/>
        </p:scale>
        <p:origin x="1116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A7C10B-4A0D-40A7-B39F-C21DB7C51F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994F6-57D8-4E7B-A1E1-A827C33552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A3A8302-3923-4C9C-B09F-C234EE1D95FC}" type="datetimeFigureOut">
              <a:rPr lang="en-US"/>
              <a:pPr>
                <a:defRPr/>
              </a:pPr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A25C5-B975-4176-BF86-32BC03BB28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DDDF5-04CF-43CC-B8B5-00595666F4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9E3EFC6-32C0-4AD2-BE01-D1BABE62879D}" type="slidenum">
              <a:rPr lang="en-US" altLang="pt-PT"/>
              <a:pPr/>
              <a:t>‹#›</a:t>
            </a:fld>
            <a:endParaRPr lang="en-US" altLang="pt-PT"/>
          </a:p>
        </p:txBody>
      </p:sp>
    </p:spTree>
    <p:extLst>
      <p:ext uri="{BB962C8B-B14F-4D97-AF65-F5344CB8AC3E}">
        <p14:creationId xmlns:p14="http://schemas.microsoft.com/office/powerpoint/2010/main" val="4238809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5D7CD5-FA85-413C-BF3E-A1748AD122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D8F2A-57E8-463C-8DA0-BEE0EF6F11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36" tIns="49518" rIns="99036" bIns="4951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fld id="{D68D5303-17A7-4168-9F3E-FDD4287C718A}" type="datetimeFigureOut">
              <a:rPr lang="pt-PT"/>
              <a:pPr>
                <a:defRPr/>
              </a:pPr>
              <a:t>05/06/2026</a:t>
            </a:fld>
            <a:endParaRPr lang="pt-PT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8F8CC28-41CC-45B7-A0F6-88244D683C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6" tIns="49518" rIns="99036" bIns="49518" rtlCol="0" anchor="ctr"/>
          <a:lstStyle/>
          <a:p>
            <a:pPr lvl="0"/>
            <a:endParaRPr lang="pt-PT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3B091C8-9618-4BE1-B91F-BDFA72F94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36" tIns="49518" rIns="99036" bIns="49518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pt-PT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D41C9-2BEE-487D-A77E-48EB93CE79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36" tIns="49518" rIns="99036" bIns="4951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C2214-15FE-44A8-99B7-B5C2172AC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36" tIns="49518" rIns="99036" bIns="4951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Calibri" panose="020F0502020204030204" pitchFamily="34" charset="0"/>
              </a:defRPr>
            </a:lvl1pPr>
          </a:lstStyle>
          <a:p>
            <a:fld id="{F945E90A-3709-46B9-BEB6-87AEB17919A8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729664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B1DB049-9FDE-465A-B29D-9C290FA4BB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43A8F9E-53CF-498B-A327-BF059B7609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pt-PT" dirty="0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4C411C2F-F609-435E-9F2B-94F0BA6D2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840C32-CB2A-4E84-99B2-19373C0EB8EA}" type="slidenum">
              <a:rPr lang="pt-PT" altLang="pt-PT" sz="1400"/>
              <a:pPr>
                <a:spcBef>
                  <a:spcPct val="0"/>
                </a:spcBef>
              </a:pPr>
              <a:t>1</a:t>
            </a:fld>
            <a:endParaRPr lang="pt-PT" altLang="pt-PT" sz="1400"/>
          </a:p>
        </p:txBody>
      </p:sp>
    </p:spTree>
    <p:extLst>
      <p:ext uri="{BB962C8B-B14F-4D97-AF65-F5344CB8AC3E}">
        <p14:creationId xmlns:p14="http://schemas.microsoft.com/office/powerpoint/2010/main" val="1868909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CE14D91F-4897-42AD-AF3F-CA7A141324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DAE49CA5-4621-4010-AA87-4051CB1153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PT" dirty="0"/>
              <a:t>Start by introducing the project as a complete serverless polling platform.</a:t>
            </a:r>
            <a:br>
              <a:rPr lang="pt-PT" dirty="0"/>
            </a:br>
            <a:r>
              <a:rPr lang="pt-PT" dirty="0"/>
              <a:t>Explain that PollNow allows users to create polls, share them through links or QR Codes, collect votes and receive notifications when polls close.</a:t>
            </a:r>
          </a:p>
          <a:p>
            <a:r>
              <a:rPr lang="pt-PT" dirty="0"/>
              <a:t>Mention that the focus of the project is not only the frontend, but also the integration of several AWS services into one working cloud architecture.</a:t>
            </a:r>
          </a:p>
          <a:p>
            <a:br>
              <a:rPr lang="pt-PT" dirty="0"/>
            </a:br>
            <a:endParaRPr lang="pt-PT" dirty="0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CA866B6D-D968-45C4-AEC6-34DD75643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AEE014-3925-4687-9C73-BC888CC57F28}" type="slidenum">
              <a:rPr lang="pt-PT" altLang="pt-PT" sz="1400"/>
              <a:pPr>
                <a:spcBef>
                  <a:spcPct val="0"/>
                </a:spcBef>
              </a:pPr>
              <a:t>2</a:t>
            </a:fld>
            <a:endParaRPr lang="pt-PT" altLang="pt-PT" sz="1400"/>
          </a:p>
        </p:txBody>
      </p:sp>
    </p:spTree>
    <p:extLst>
      <p:ext uri="{BB962C8B-B14F-4D97-AF65-F5344CB8AC3E}">
        <p14:creationId xmlns:p14="http://schemas.microsoft.com/office/powerpoint/2010/main" val="236214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Explain that the goal was to build something useful but also technically relevant for an AWS project.</a:t>
            </a:r>
          </a:p>
          <a:p>
            <a:r>
              <a:rPr lang="pt-PT" dirty="0"/>
              <a:t>The project was designed to show real usage of cloud services: storage, backend logic, database, notifications and scheduling.</a:t>
            </a:r>
          </a:p>
          <a:p>
            <a:r>
              <a:rPr lang="pt-PT" dirty="0"/>
              <a:t>You can say that PollNow is simple from the user perspective but has a complete serverless structure behind it.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5E90A-3709-46B9-BEB6-87AEB17919A8}" type="slidenum">
              <a:rPr lang="pt-PT" altLang="pt-PT" smtClean="0"/>
              <a:pPr/>
              <a:t>3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64516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Walk through the flow slowly.</a:t>
            </a:r>
          </a:p>
          <a:p>
            <a:r>
              <a:rPr lang="pt-PT" dirty="0"/>
              <a:t>Use this slide to connect the user experience with the AWS services.</a:t>
            </a:r>
          </a:p>
          <a:p>
            <a:r>
              <a:rPr lang="pt-PT" dirty="0"/>
              <a:t>When the poll is created, the metadata goes to DynamoDB.</a:t>
            </a:r>
            <a:br>
              <a:rPr lang="pt-PT" dirty="0"/>
            </a:br>
            <a:r>
              <a:rPr lang="pt-PT" dirty="0"/>
              <a:t>If there is an image, it goes to S3.</a:t>
            </a:r>
            <a:br>
              <a:rPr lang="pt-PT" dirty="0"/>
            </a:br>
            <a:r>
              <a:rPr lang="pt-PT" dirty="0"/>
              <a:t>When people vote, votes are stored in DynamoDB.</a:t>
            </a:r>
            <a:br>
              <a:rPr lang="pt-PT" dirty="0"/>
            </a:br>
            <a:r>
              <a:rPr lang="pt-PT" dirty="0"/>
              <a:t>When the poll closes, EventBridge and Lambda process it and SNS sends notifications.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5E90A-3709-46B9-BEB6-87AEB17919A8}" type="slidenum">
              <a:rPr lang="pt-PT" altLang="pt-PT" smtClean="0"/>
              <a:pPr/>
              <a:t>4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062633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Main idea:</a:t>
            </a:r>
            <a:br>
              <a:rPr lang="pt-PT" dirty="0"/>
            </a:br>
            <a:r>
              <a:rPr lang="pt-PT" dirty="0"/>
              <a:t>Frontend and backend are separated. Backend is fully serverless.</a:t>
            </a:r>
          </a:p>
          <a:p>
            <a:r>
              <a:rPr lang="pt-PT" b="1" dirty="0"/>
              <a:t>Presenter Notes</a:t>
            </a:r>
          </a:p>
          <a:p>
            <a:r>
              <a:rPr lang="pt-PT" dirty="0"/>
              <a:t>Explain the architecture from top to bottom.</a:t>
            </a:r>
          </a:p>
          <a:p>
            <a:r>
              <a:rPr lang="pt-PT" dirty="0"/>
              <a:t>The user interacts with the React frontend hosted on Netlify.</a:t>
            </a:r>
            <a:br>
              <a:rPr lang="pt-PT" dirty="0"/>
            </a:br>
            <a:r>
              <a:rPr lang="pt-PT" dirty="0"/>
              <a:t>The frontend sends HTTP requests to API Gateway.</a:t>
            </a:r>
            <a:br>
              <a:rPr lang="pt-PT" dirty="0"/>
            </a:br>
            <a:r>
              <a:rPr lang="pt-PT" dirty="0"/>
              <a:t>API Gateway triggers Lambda functions.</a:t>
            </a:r>
            <a:br>
              <a:rPr lang="pt-PT" dirty="0"/>
            </a:br>
            <a:r>
              <a:rPr lang="pt-PT" dirty="0"/>
              <a:t>Lambdas interact with DynamoDB, S3 and SNS.</a:t>
            </a:r>
          </a:p>
          <a:p>
            <a:r>
              <a:rPr lang="pt-PT" dirty="0"/>
              <a:t>EventBridge works separately as a scheduler. It periodically calls the </a:t>
            </a: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checkExpired</a:t>
            </a:r>
            <a:r>
              <a:rPr lang="pt-PT" dirty="0"/>
              <a:t> Lambda to process polls whose closing time has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5E90A-3709-46B9-BEB6-87AEB17919A8}" type="slidenum">
              <a:rPr lang="pt-PT" altLang="pt-PT" smtClean="0"/>
              <a:pPr/>
              <a:t>5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699892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For each AWS service, explain the practical reason it exists in the project.</a:t>
            </a:r>
          </a:p>
          <a:p>
            <a:r>
              <a:rPr lang="pt-PT" dirty="0"/>
              <a:t>Do not just list services. Show that each one has a clear purpose.</a:t>
            </a:r>
          </a:p>
          <a:p>
            <a:r>
              <a:rPr lang="pt-PT" dirty="0"/>
              <a:t>Example: S3 is not just included randomly. It stores poll images and CSV exports.</a:t>
            </a:r>
            <a:br>
              <a:rPr lang="pt-PT" dirty="0"/>
            </a:br>
            <a:r>
              <a:rPr lang="pt-PT" dirty="0"/>
              <a:t>SNS sends notifications.</a:t>
            </a:r>
            <a:br>
              <a:rPr lang="pt-PT" dirty="0"/>
            </a:br>
            <a:r>
              <a:rPr lang="pt-PT" dirty="0"/>
              <a:t>EventBridge automates the closure/processing flow.</a:t>
            </a:r>
          </a:p>
          <a:p>
            <a:r>
              <a:rPr lang="pt-PT" dirty="0"/>
              <a:t>This is important because the teacher will likely evaluate whether the AWS services are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5E90A-3709-46B9-BEB6-87AEB17919A8}" type="slidenum">
              <a:rPr lang="pt-PT" altLang="pt-PT" smtClean="0"/>
              <a:pPr/>
              <a:t>6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704490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Explain that the backend is divided into small Lambda functions, each with one responsibility.</a:t>
            </a:r>
          </a:p>
          <a:p>
            <a:r>
              <a:rPr lang="pt-PT" dirty="0"/>
              <a:t>This is a serverless design pattern: instead of one big server, each action has its own function.</a:t>
            </a:r>
          </a:p>
          <a:p>
            <a:r>
              <a:rPr lang="pt-PT" dirty="0"/>
              <a:t>Then explain the database:</a:t>
            </a:r>
          </a:p>
          <a:p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pt-PT" dirty="0"/>
              <a:t> stores accounts and notification state.</a:t>
            </a:r>
            <a:br>
              <a:rPr lang="pt-PT" dirty="0"/>
            </a:b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polls</a:t>
            </a:r>
            <a:r>
              <a:rPr lang="pt-PT" dirty="0"/>
              <a:t> stores poll metadata, owner, options, status, closing date and image URL.</a:t>
            </a:r>
            <a:br>
              <a:rPr lang="pt-PT" dirty="0"/>
            </a:b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votes</a:t>
            </a:r>
            <a:r>
              <a:rPr lang="pt-PT" dirty="0"/>
              <a:t> stores anonymous votes connected to a poll.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5E90A-3709-46B9-BEB6-87AEB17919A8}" type="slidenum">
              <a:rPr lang="pt-PT" altLang="pt-PT" smtClean="0"/>
              <a:pPr/>
              <a:t>7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00254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This slide is for showing project value.</a:t>
            </a:r>
          </a:p>
          <a:p>
            <a:r>
              <a:rPr lang="pt-PT" dirty="0"/>
              <a:t>Mention that the application started as a simple poll system but was improved with stronger cloud features.</a:t>
            </a:r>
          </a:p>
          <a:p>
            <a:r>
              <a:rPr lang="pt-PT" dirty="0"/>
              <a:t>The most important features to highlight are:</a:t>
            </a:r>
          </a:p>
          <a:p>
            <a:r>
              <a:rPr lang="pt-PT" dirty="0"/>
              <a:t>QR Code sharing, because it is visible and easy to demonstrate.</a:t>
            </a:r>
            <a:br>
              <a:rPr lang="pt-PT" dirty="0"/>
            </a:br>
            <a:r>
              <a:rPr lang="pt-PT" dirty="0"/>
              <a:t>S3 images, because it makes polls more realistic.</a:t>
            </a:r>
            <a:br>
              <a:rPr lang="pt-PT" dirty="0"/>
            </a:br>
            <a:r>
              <a:rPr lang="pt-PT" dirty="0"/>
              <a:t>EventBridge automatic processing, because it shows cloud automation.</a:t>
            </a:r>
            <a:br>
              <a:rPr lang="pt-PT" dirty="0"/>
            </a:br>
            <a:r>
              <a:rPr lang="pt-PT" dirty="0"/>
              <a:t>SNS per-owner notifications, because it shows message filtering and user-specific communication.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5E90A-3709-46B9-BEB6-87AEB17919A8}" type="slidenum">
              <a:rPr lang="pt-PT" altLang="pt-PT" smtClean="0"/>
              <a:pPr/>
              <a:t>8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969623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Use this as your demo script.</a:t>
            </a:r>
          </a:p>
          <a:p>
            <a:r>
              <a:rPr lang="pt-PT" dirty="0"/>
              <a:t>One person can present the explanation while the other controls the demo.</a:t>
            </a:r>
          </a:p>
          <a:p>
            <a:r>
              <a:rPr lang="pt-PT" dirty="0"/>
              <a:t>Keep the demo short. Do not spend too much time typing. Prepare a test account and a small image before the presentation.</a:t>
            </a:r>
          </a:p>
          <a:p>
            <a:r>
              <a:rPr lang="pt-PT" dirty="0"/>
              <a:t>If something fails live, explain the expected flow using the slide and documentation. Do not panic.</a:t>
            </a:r>
          </a:p>
          <a:p>
            <a:r>
              <a:rPr lang="pt-PT" dirty="0"/>
              <a:t>Recommended demo poll:</a:t>
            </a:r>
          </a:p>
          <a:p>
            <a:r>
              <a:rPr lang="pt-PT" dirty="0"/>
              <a:t>Title: “Class Representative Election”</a:t>
            </a:r>
            <a:br>
              <a:rPr lang="pt-PT" dirty="0"/>
            </a:br>
            <a:r>
              <a:rPr lang="pt-PT" dirty="0"/>
              <a:t>Options: “Candidate A”, “Candidate B”, “Blank vote”</a:t>
            </a:r>
            <a:br>
              <a:rPr lang="pt-PT" dirty="0"/>
            </a:br>
            <a:r>
              <a:rPr lang="pt-PT" dirty="0"/>
              <a:t>Image: class/school/candidate image.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5E90A-3709-46B9-BEB6-87AEB17919A8}" type="slidenum">
              <a:rPr lang="pt-PT" altLang="pt-PT" smtClean="0"/>
              <a:pPr/>
              <a:t>9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198789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Finish by summarizing the value of the project.</a:t>
            </a:r>
          </a:p>
          <a:p>
            <a:r>
              <a:rPr lang="pt-PT" dirty="0"/>
              <a:t>Say that PollNow is not just a frontend app; it is a complete cloud-based system.</a:t>
            </a:r>
          </a:p>
          <a:p>
            <a:r>
              <a:rPr lang="pt-PT" dirty="0"/>
              <a:t>Mention that the project demonstrates how different AWS services can work together to solve a practical problem.</a:t>
            </a:r>
          </a:p>
          <a:p>
            <a:r>
              <a:rPr lang="pt-PT" dirty="0"/>
              <a:t>End by saying that the system is ready for demonstration and can be extended in the future with Cognito, WebSockets, SES, CloudFront and Infrastructure as Code.</a:t>
            </a:r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5E90A-3709-46B9-BEB6-87AEB17919A8}" type="slidenum">
              <a:rPr lang="pt-PT" altLang="pt-PT" smtClean="0"/>
              <a:pPr/>
              <a:t>10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77236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6E63B9-536D-40F9-8E4D-F56782EB3B3E}"/>
              </a:ext>
            </a:extLst>
          </p:cNvPr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50B389-917F-4FD5-8D74-1B720BF5FF26}"/>
              </a:ext>
            </a:extLst>
          </p:cNvPr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0BF792-575E-444B-A947-4A811A1D63E8}"/>
              </a:ext>
            </a:extLst>
          </p:cNvPr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4510CF-EA31-4B9C-89AA-6622674CEC02}"/>
              </a:ext>
            </a:extLst>
          </p:cNvPr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F8E22-8EFA-4619-BE74-9BE26F7397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8688" y="642938"/>
            <a:ext cx="59799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PT" sz="2000" b="1">
                <a:solidFill>
                  <a:schemeClr val="tx2"/>
                </a:solidFill>
                <a:latin typeface="Cambria" pitchFamily="18" charset="0"/>
              </a:rPr>
              <a:t>Mestrado em Engenharia Informática 2024/2025</a:t>
            </a:r>
            <a:endParaRPr lang="en-US" sz="2000" b="1">
              <a:solidFill>
                <a:schemeClr val="tx2"/>
              </a:solidFill>
              <a:latin typeface="Cambria" pitchFamily="18" charset="0"/>
            </a:endParaRPr>
          </a:p>
          <a:p>
            <a:pPr eaLnBrk="1" hangingPunct="1">
              <a:defRPr/>
            </a:pPr>
            <a:r>
              <a:rPr lang="pt-PT" sz="2000" b="1">
                <a:solidFill>
                  <a:schemeClr val="tx2"/>
                </a:solidFill>
                <a:latin typeface="Cambria" pitchFamily="18" charset="0"/>
              </a:rPr>
              <a:t>Metodologias de Desenvolvimento de Software</a:t>
            </a:r>
            <a:endParaRPr lang="en-US" sz="2000" b="1">
              <a:solidFill>
                <a:schemeClr val="tx2"/>
              </a:solidFill>
              <a:latin typeface="Cambria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7523D5-CD57-4B68-818C-870A7B61120B}"/>
              </a:ext>
            </a:extLst>
          </p:cNvPr>
          <p:cNvCxnSpPr/>
          <p:nvPr userDrawn="1"/>
        </p:nvCxnSpPr>
        <p:spPr>
          <a:xfrm>
            <a:off x="928688" y="1357313"/>
            <a:ext cx="7286625" cy="1587"/>
          </a:xfrm>
          <a:prstGeom prst="line">
            <a:avLst/>
          </a:prstGeom>
          <a:ln>
            <a:solidFill>
              <a:schemeClr val="accent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48F6A70D-136D-4251-878D-FA6BEE5108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2F0149D-8387-4AC1-8B04-3A493B6780CA}" type="slidenum">
              <a:rPr lang="pt-PT" altLang="pt-PT"/>
              <a:pPr/>
              <a:t>‹#›</a:t>
            </a:fld>
            <a:endParaRPr lang="pt-PT" altLang="pt-PT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15E0D989-770B-45A3-95BE-C5144574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PT"/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CE9798A5-BEC6-455F-A23F-40612347F4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80" y="63501"/>
            <a:ext cx="17383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5850733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96C61B30-BD98-4360-96E7-4FD411D1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F6417-8A9F-4FAE-9B3F-466C8EBA90FD}" type="datetime1">
              <a:rPr lang="pt-PT" smtClean="0"/>
              <a:t>05/06/2026</a:t>
            </a:fld>
            <a:endParaRPr lang="pt-PT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1711CEC-1EF6-47F6-895B-6880814D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05379FF-DFDB-41EA-A04D-A413BB4A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3E4A2D-EB4A-4004-BBDA-5F45473D4CB7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169938983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9249B-53C1-4855-9CD0-ECA79201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D3AEC-219B-4442-91A5-6436DCDB80F7}" type="datetime1">
              <a:rPr lang="pt-PT" smtClean="0"/>
              <a:t>05/06/2026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D5F91-D73D-4AE5-BF77-D3EA8CCC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90217-7F25-471A-9D81-1CF31950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CFA66-A633-4D72-A232-0E48A7B965CB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021103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E94B37-D7B6-486B-8AC3-FA5C896A5653}"/>
              </a:ext>
            </a:extLst>
          </p:cNvPr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307D5-7732-40AA-9A1C-DDBFA94D565E}"/>
              </a:ext>
            </a:extLst>
          </p:cNvPr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82F3565-CD59-4DD7-9FF2-DABED15B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D124C-CAA7-4FBF-9FCE-4F9792030758}" type="datetime1">
              <a:rPr lang="pt-PT" smtClean="0"/>
              <a:t>05/06/2026</a:t>
            </a:fld>
            <a:endParaRPr lang="pt-PT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DBEE112-B6F7-4617-AC72-65C8681C46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4031C9-8C03-46BF-A366-EABBF6432CC6}" type="slidenum">
              <a:rPr lang="pt-PT" altLang="pt-PT"/>
              <a:pPr/>
              <a:t>‹#›</a:t>
            </a:fld>
            <a:endParaRPr lang="pt-PT" altLang="pt-PT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AC4B787-6F7E-42DD-BECF-3FCF7C59BC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PT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EEAB729F-9398-41BD-BFDB-020CF197D9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80" y="63501"/>
            <a:ext cx="17383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7817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54447C44-423C-47C0-810C-8A70343C8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0BBE5-0DC5-47CE-9E9C-381311807DA8}" type="datetime1">
              <a:rPr lang="pt-PT" smtClean="0"/>
              <a:t>05/06/2026</a:t>
            </a:fld>
            <a:endParaRPr lang="pt-PT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B0355F7-59B3-4D85-BF46-B345AD87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C0ECC5B2-DE95-4BCA-8934-8979DC9C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D7BD3C-04A2-42E3-AC75-1A9A29E92356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968076108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F9F02-4020-41BE-B290-57FF4404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393003F-C3BF-4783-95E2-8BEDA6963F8B}" type="datetime1">
              <a:rPr lang="pt-PT" smtClean="0"/>
              <a:t>05/06/2026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452AD-776E-4677-B269-56ACB8586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96B61-BC4E-4420-A9DF-7DF2C991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E3434E-6591-491F-9B86-266097E43B70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42012847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61AC1135-5570-461F-A1DE-1097983FE8A7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CAFB7E8-A20E-48B8-8308-50F6FBD9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D7B6523-EB93-4B93-BB15-9969FB7C5EC4}" type="datetime1">
              <a:rPr lang="pt-PT" smtClean="0"/>
              <a:t>05/06/2026</a:t>
            </a:fld>
            <a:endParaRPr lang="pt-PT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EE495C7-CFE9-4BC4-B882-439E0D2E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E2A420B-2438-4FB3-8301-D7AE0BCE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B433E7-9F5F-43AD-B37A-AC13833CCA5D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967811936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0">
            <a:extLst>
              <a:ext uri="{FF2B5EF4-FFF2-40B4-BE49-F238E27FC236}">
                <a16:creationId xmlns:a16="http://schemas.microsoft.com/office/drawing/2014/main" id="{6FF630D9-4066-45A7-A21D-623A7027F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5292822-17E9-4418-913E-8764CA86CABF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6978E12-BDFD-415A-94E6-B809FED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1706AD2-FF27-421E-A6CF-233CDF25B26A}" type="datetime1">
              <a:rPr lang="pt-PT" smtClean="0"/>
              <a:t>05/06/2026</a:t>
            </a:fld>
            <a:endParaRPr lang="pt-PT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BC405BB-D7D7-4ACE-BA96-8F71FF14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B0B35CE-2862-4778-942F-CB14DAC8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BDF0B-7E88-414A-9DA2-50398519DA07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678635274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0">
            <a:extLst>
              <a:ext uri="{FF2B5EF4-FFF2-40B4-BE49-F238E27FC236}">
                <a16:creationId xmlns:a16="http://schemas.microsoft.com/office/drawing/2014/main" id="{FCE43238-EB8D-4787-A041-28E1690B7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6" name="Straight Connector 11">
            <a:extLst>
              <a:ext uri="{FF2B5EF4-FFF2-40B4-BE49-F238E27FC236}">
                <a16:creationId xmlns:a16="http://schemas.microsoft.com/office/drawing/2014/main" id="{A6265F5F-2658-416A-9B98-64435CA5581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0EA9E41C-131A-4495-9CFB-70F476445E2D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74F1C1FD-B71F-48F0-A1A8-A7A25DA1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72015BA-E260-41F9-8B58-A364CDBF193F}" type="datetime1">
              <a:rPr lang="pt-PT" smtClean="0"/>
              <a:t>05/06/2026</a:t>
            </a:fld>
            <a:endParaRPr lang="pt-PT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E5F9B8B-78A3-46B8-9949-6299391C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6721B89-3953-4163-8905-FF38159B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5D67D-EBD3-49FB-888B-CC08539FE29A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64426307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0">
            <a:extLst>
              <a:ext uri="{FF2B5EF4-FFF2-40B4-BE49-F238E27FC236}">
                <a16:creationId xmlns:a16="http://schemas.microsoft.com/office/drawing/2014/main" id="{121A1209-5071-46B4-998D-0D51E9A64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C98B370B-8923-4B09-97DF-6B858DC7B5A5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DD5793-3814-4949-9B56-51CC5B14ADE6}"/>
              </a:ext>
            </a:extLst>
          </p:cNvPr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77B44FD9-DBE4-4463-8E3C-83337514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04E2002-4873-4B3C-A359-7957F3F1289B}" type="datetime1">
              <a:rPr lang="pt-PT" smtClean="0"/>
              <a:t>05/06/2026</a:t>
            </a:fld>
            <a:endParaRPr lang="pt-PT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E93FF8B-C404-41C1-B91E-57C5BDC7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585F7BCF-09F3-4AB9-BE6F-F7AF40E5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35ED72-AB25-4672-8AD1-EB2B9B3F8E3E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4168461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54991-84CC-45F8-A3C5-BDDA392D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F823554-1ADC-45B5-BC44-3D1FAD2EA6D9}" type="datetime1">
              <a:rPr lang="pt-PT" smtClean="0"/>
              <a:t>05/06/2026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D68C3-ADF1-4524-9297-4BCBD17F2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0023C-9074-43BA-B421-A611468E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A342E-8B19-4920-BC9E-3F0B46D5D069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563669033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0">
            <a:extLst>
              <a:ext uri="{FF2B5EF4-FFF2-40B4-BE49-F238E27FC236}">
                <a16:creationId xmlns:a16="http://schemas.microsoft.com/office/drawing/2014/main" id="{D5D6B471-CFD4-49B5-A6C8-4CA7135FB8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305132E-E8DE-4B00-B068-1540FF0ED374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Straight Connector 12">
            <a:extLst>
              <a:ext uri="{FF2B5EF4-FFF2-40B4-BE49-F238E27FC236}">
                <a16:creationId xmlns:a16="http://schemas.microsoft.com/office/drawing/2014/main" id="{51BEC90F-32CA-45C5-ACE2-F59D72F01D8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35C2A3D-DB6F-42EF-897B-37478E99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F8ED068-99E1-4AC4-B733-3CF3A6904D8C}" type="datetime1">
              <a:rPr lang="pt-PT" smtClean="0"/>
              <a:t>05/06/2026</a:t>
            </a:fld>
            <a:endParaRPr lang="pt-PT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4F6B581-F30E-45B4-8CE6-95018474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81BEBB1-6500-46C1-A26F-8978C4BA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54006E-2FC6-4358-A15D-D5BE9F684EBF}" type="slidenum">
              <a:rPr lang="pt-PT" altLang="pt-PT"/>
              <a:pPr/>
              <a:t>‹#›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013755083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17E768EF-C100-471B-B92B-807DA483BDA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PT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12807D53-6BFE-475C-81AD-B9B089799C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PT"/>
              <a:t>Click to edit Master text styles</a:t>
            </a:r>
          </a:p>
          <a:p>
            <a:pPr lvl="1"/>
            <a:r>
              <a:rPr lang="en-US" altLang="pt-PT"/>
              <a:t>Second level</a:t>
            </a:r>
          </a:p>
          <a:p>
            <a:pPr lvl="2"/>
            <a:r>
              <a:rPr lang="en-US" altLang="pt-PT"/>
              <a:t>Third level</a:t>
            </a:r>
          </a:p>
          <a:p>
            <a:pPr lvl="3"/>
            <a:r>
              <a:rPr lang="en-US" altLang="pt-PT"/>
              <a:t>Fourth level</a:t>
            </a:r>
          </a:p>
          <a:p>
            <a:pPr lvl="4"/>
            <a:r>
              <a:rPr lang="en-US" altLang="pt-PT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6B04CBF-A4DE-45CC-97EA-08AFB8916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29375" y="6357938"/>
            <a:ext cx="2289175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5CCBF9BA-9E52-4F7F-8312-EA90E64E386B}" type="datetime1">
              <a:rPr lang="pt-PT" smtClean="0"/>
              <a:t>05/06/2026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6F4B1-C179-46C2-A959-D8F4B3D35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1750" y="6356350"/>
            <a:ext cx="3832225" cy="365125"/>
          </a:xfrm>
          <a:prstGeom prst="rect">
            <a:avLst/>
          </a:prstGeom>
        </p:spPr>
        <p:txBody>
          <a:bodyPr vert="horz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3B76857-0653-4DEA-9A37-2DBE8F8F8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fld id="{A18D516C-F334-4EF6-AD83-9E9A7288E7B1}" type="slidenum">
              <a:rPr lang="pt-PT" altLang="pt-PT"/>
              <a:pPr/>
              <a:t>‹#›</a:t>
            </a:fld>
            <a:endParaRPr lang="pt-PT" altLang="pt-PT"/>
          </a:p>
        </p:txBody>
      </p:sp>
      <p:sp>
        <p:nvSpPr>
          <p:cNvPr id="1031" name="Straight Connector 27">
            <a:extLst>
              <a:ext uri="{FF2B5EF4-FFF2-40B4-BE49-F238E27FC236}">
                <a16:creationId xmlns:a16="http://schemas.microsoft.com/office/drawing/2014/main" id="{2C98CAB0-78DC-4E67-8C0F-4151E1E241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1032" name="Straight Connector 28">
            <a:extLst>
              <a:ext uri="{FF2B5EF4-FFF2-40B4-BE49-F238E27FC236}">
                <a16:creationId xmlns:a16="http://schemas.microsoft.com/office/drawing/2014/main" id="{C9E92468-2071-4336-B446-6B01360FE6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0B15473-0110-44D7-8DE1-F8B8F413E878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35" name="Picture 11">
            <a:extLst>
              <a:ext uri="{FF2B5EF4-FFF2-40B4-BE49-F238E27FC236}">
                <a16:creationId xmlns:a16="http://schemas.microsoft.com/office/drawing/2014/main" id="{744BF476-AC6C-408A-B151-3C9F261750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80" y="68263"/>
            <a:ext cx="17383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1" r:id="rId2"/>
    <p:sldLayoutId id="2147484214" r:id="rId3"/>
    <p:sldLayoutId id="2147484215" r:id="rId4"/>
    <p:sldLayoutId id="2147484212" r:id="rId5"/>
    <p:sldLayoutId id="2147484216" r:id="rId6"/>
    <p:sldLayoutId id="2147484217" r:id="rId7"/>
    <p:sldLayoutId id="2147484218" r:id="rId8"/>
    <p:sldLayoutId id="2147484219" r:id="rId9"/>
    <p:sldLayoutId id="2147484220" r:id="rId10"/>
    <p:sldLayoutId id="2147484221" r:id="rId11"/>
    <p:sldLayoutId id="2147484222" r:id="rId12"/>
  </p:sldLayoutIdLst>
  <p:transition>
    <p:wipe dir="r"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A94543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02C927-6D2D-4A18-9360-093988D50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5124450"/>
            <a:ext cx="3505200" cy="533400"/>
          </a:xfrm>
        </p:spPr>
        <p:txBody>
          <a:bodyPr>
            <a:normAutofit fontScale="85000" lnSpcReduction="10000"/>
          </a:bodyPr>
          <a:lstStyle/>
          <a:p>
            <a:r>
              <a:rPr lang="pt-PT" dirty="0"/>
              <a:t>Docente: Prof. Ricardo Santos Filipe </a:t>
            </a:r>
            <a:endParaRPr lang="en-US" dirty="0"/>
          </a:p>
        </p:txBody>
      </p:sp>
      <p:sp>
        <p:nvSpPr>
          <p:cNvPr id="14340" name="Slide Number Placeholder 6">
            <a:extLst>
              <a:ext uri="{FF2B5EF4-FFF2-40B4-BE49-F238E27FC236}">
                <a16:creationId xmlns:a16="http://schemas.microsoft.com/office/drawing/2014/main" id="{B56D9D93-37EB-4811-9FDC-307783459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12775" y="6356350"/>
            <a:ext cx="1981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94543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PT" altLang="pt-P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2C52CE-5620-EC61-EF74-8716F664F6AB}"/>
              </a:ext>
            </a:extLst>
          </p:cNvPr>
          <p:cNvSpPr txBox="1"/>
          <p:nvPr/>
        </p:nvSpPr>
        <p:spPr>
          <a:xfrm>
            <a:off x="810768" y="704088"/>
            <a:ext cx="738835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b="1" dirty="0">
                <a:solidFill>
                  <a:srgbClr val="002060"/>
                </a:solidFill>
              </a:rPr>
              <a:t>Departamento de Engenharia Informática e de Sistemas</a:t>
            </a:r>
          </a:p>
          <a:p>
            <a:pPr algn="ctr"/>
            <a:r>
              <a:rPr lang="pt-PT" b="1" dirty="0">
                <a:solidFill>
                  <a:srgbClr val="002060"/>
                </a:solidFill>
              </a:rPr>
              <a:t>Mestrado em Engenharia Informática</a:t>
            </a:r>
          </a:p>
          <a:p>
            <a:pPr algn="ctr"/>
            <a:endParaRPr lang="pt-PT" b="1" dirty="0">
              <a:solidFill>
                <a:srgbClr val="002060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912E9DD-45BE-8558-0820-614410B99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3742944"/>
            <a:ext cx="6858000" cy="600456"/>
          </a:xfrm>
        </p:spPr>
        <p:txBody>
          <a:bodyPr/>
          <a:lstStyle/>
          <a:p>
            <a:pPr algn="l"/>
            <a:r>
              <a:rPr lang="pt-PT" b="1" dirty="0">
                <a:solidFill>
                  <a:srgbClr val="002060"/>
                </a:solidFill>
              </a:rPr>
              <a:t>Plataformas de desenvolvimento</a:t>
            </a:r>
            <a:br>
              <a:rPr lang="pt-PT" b="1" dirty="0">
                <a:solidFill>
                  <a:srgbClr val="002060"/>
                </a:solidFill>
              </a:rPr>
            </a:br>
            <a:r>
              <a:rPr lang="pt-PT" dirty="0"/>
              <a:t>PollNow: AWS </a:t>
            </a:r>
            <a:endParaRPr lang="pt-PT" b="1" dirty="0">
              <a:solidFill>
                <a:srgbClr val="002060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C46E4FD-3ACB-C7E1-CB22-1883E0B179DB}"/>
              </a:ext>
            </a:extLst>
          </p:cNvPr>
          <p:cNvSpPr txBox="1">
            <a:spLocks/>
          </p:cNvSpPr>
          <p:nvPr/>
        </p:nvSpPr>
        <p:spPr bwMode="auto">
          <a:xfrm>
            <a:off x="1094232" y="5011674"/>
            <a:ext cx="4117848" cy="103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r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None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94543"/>
              </a:buClr>
              <a:buSzPct val="70000"/>
              <a:buFont typeface="Wingdings" panose="05000000000000000000" pitchFamily="2" charset="2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dirty="0"/>
              <a:t>Ricardo Rodrigues</a:t>
            </a:r>
          </a:p>
          <a:p>
            <a:pPr algn="l"/>
            <a:r>
              <a:rPr lang="pt-PT" dirty="0"/>
              <a:t>Ruben Ferreiro</a:t>
            </a:r>
          </a:p>
          <a:p>
            <a:pPr algn="l"/>
            <a:endParaRPr lang="pt-PT" dirty="0"/>
          </a:p>
        </p:txBody>
      </p:sp>
      <p:sp>
        <p:nvSpPr>
          <p:cNvPr id="2" name="AutoShape 2" descr="DevOps Vector Logo - Download Free SVG Icon | Worldvectorlogo">
            <a:extLst>
              <a:ext uri="{FF2B5EF4-FFF2-40B4-BE49-F238E27FC236}">
                <a16:creationId xmlns:a16="http://schemas.microsoft.com/office/drawing/2014/main" id="{8A0D1B3B-4291-D126-E981-4F61137724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1539240"/>
            <a:ext cx="2042160" cy="204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B73CA344-B7AD-4AB6-BF24-600D02F6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pPr eaLnBrk="1" hangingPunct="1"/>
            <a:r>
              <a:rPr lang="pt-PT" dirty="0"/>
              <a:t>PollNow: Serverless Polling Application</a:t>
            </a:r>
            <a:endParaRPr lang="en-US" altLang="pt-P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FDF5DC-3ED1-8447-8970-11CB773322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PT" b="1" dirty="0"/>
              <a:t>PollNow</a:t>
            </a:r>
            <a:br>
              <a:rPr lang="pt-PT" dirty="0"/>
            </a:br>
            <a:r>
              <a:rPr lang="pt-PT" dirty="0"/>
              <a:t>Serverless web application for creating, sharing and voting in online polls.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AE1C36-CDE9-9971-506A-ACA97428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80407475-D19A-45EA-944D-652A2B1DACD0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16388" name="Slide Number Placeholder 8">
            <a:extLst>
              <a:ext uri="{FF2B5EF4-FFF2-40B4-BE49-F238E27FC236}">
                <a16:creationId xmlns:a16="http://schemas.microsoft.com/office/drawing/2014/main" id="{67A72EEB-5035-4932-BC07-EC5C69AD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94543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fld id="{9F22D5E1-6FA5-489F-8988-23D68F926B82}" type="slidenum">
              <a:rPr lang="pt-PT" altLang="pt-PT" sz="1400">
                <a:solidFill>
                  <a:schemeClr val="tx2"/>
                </a:solidFill>
              </a:rPr>
              <a:pPr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t>2</a:t>
            </a:fld>
            <a:endParaRPr lang="pt-PT" altLang="pt-PT" sz="1400" dirty="0">
              <a:solidFill>
                <a:schemeClr val="tx2"/>
              </a:solidFill>
            </a:endParaRPr>
          </a:p>
        </p:txBody>
      </p:sp>
      <p:sp>
        <p:nvSpPr>
          <p:cNvPr id="3" name="AutoShape 2" descr="Tech stack overview with neon accents">
            <a:extLst>
              <a:ext uri="{FF2B5EF4-FFF2-40B4-BE49-F238E27FC236}">
                <a16:creationId xmlns:a16="http://schemas.microsoft.com/office/drawing/2014/main" id="{F65E7C3C-F70B-4AF6-A2AF-4266C0D494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D5436-D56C-A457-6D79-1D62A35E7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4119"/>
            <a:ext cx="9144000" cy="4600037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7B93-4E6F-FC05-669C-B45DF611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wrap="square" anchor="b">
            <a:normAutofit/>
          </a:bodyPr>
          <a:lstStyle/>
          <a:p>
            <a:r>
              <a:rPr lang="pt-PT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EC1EB-6301-8630-7152-F20484E7DD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 wrap="square" anchor="t">
            <a:normAutofit/>
          </a:bodyPr>
          <a:lstStyle/>
          <a:p>
            <a:r>
              <a:rPr lang="pt-PT" dirty="0"/>
              <a:t>Create a practical serverless application that allows users to:</a:t>
            </a:r>
          </a:p>
          <a:p>
            <a:r>
              <a:rPr lang="pt-PT" dirty="0"/>
              <a:t>create and manage polls;</a:t>
            </a:r>
          </a:p>
          <a:p>
            <a:r>
              <a:rPr lang="pt-PT" dirty="0"/>
              <a:t>share polls publicly;</a:t>
            </a:r>
          </a:p>
          <a:p>
            <a:r>
              <a:rPr lang="pt-PT" dirty="0"/>
              <a:t>collect anonymous votes;</a:t>
            </a:r>
          </a:p>
          <a:p>
            <a:r>
              <a:rPr lang="pt-PT" dirty="0"/>
              <a:t>display results;</a:t>
            </a:r>
          </a:p>
          <a:p>
            <a:r>
              <a:rPr lang="pt-PT" dirty="0"/>
              <a:t>receive email notifications;</a:t>
            </a:r>
          </a:p>
          <a:p>
            <a:r>
              <a:rPr lang="pt-PT" dirty="0"/>
              <a:t>automatically process expired polls.</a:t>
            </a:r>
          </a:p>
          <a:p>
            <a:endParaRPr lang="pt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51972-E1B0-653A-37EF-DA6D13119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375" y="6357938"/>
            <a:ext cx="22891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D5F6417-8A9F-4FAE-9B3F-466C8EBA90FD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B7825-C75F-5D0F-4DFD-DDBC6811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93E4A2D-EB4A-4004-BBDA-5F45473D4CB7}" type="slidenum">
              <a:rPr lang="pt-PT" altLang="pt-PT" smtClean="0"/>
              <a:pPr>
                <a:spcAft>
                  <a:spcPts val="600"/>
                </a:spcAft>
              </a:pPr>
              <a:t>3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971105974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DCB4-30ED-F27A-A100-B8822707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wrap="square" anchor="b">
            <a:normAutofit/>
          </a:bodyPr>
          <a:lstStyle/>
          <a:p>
            <a:r>
              <a:rPr lang="pt-PT" dirty="0"/>
              <a:t>User Flow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3DC9CF1-FD3D-9EF1-803D-1409345A0BB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373505"/>
            <a:ext cx="8229600" cy="462914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8C565-090C-8A2C-DE4C-B2952DB8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375" y="6357938"/>
            <a:ext cx="22891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D5F6417-8A9F-4FAE-9B3F-466C8EBA90FD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DA553-9FFE-6B4B-B065-627378F6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93E4A2D-EB4A-4004-BBDA-5F45473D4CB7}" type="slidenum">
              <a:rPr lang="pt-PT" altLang="pt-PT" smtClean="0"/>
              <a:pPr>
                <a:spcAft>
                  <a:spcPts val="600"/>
                </a:spcAft>
              </a:pPr>
              <a:t>4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21423620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FE9A17-B807-B2C0-7870-04CA3FA2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wrap="square" anchor="b">
            <a:normAutofit/>
          </a:bodyPr>
          <a:lstStyle/>
          <a:p>
            <a:r>
              <a:rPr lang="pt-PT" dirty="0"/>
              <a:t>AWS Architecture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720E-CDC6-AF6F-996E-BB821895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375" y="6357938"/>
            <a:ext cx="22891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D5F6417-8A9F-4FAE-9B3F-466C8EBA90FD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80281-3CBD-43DF-63EB-7FC4A8F7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93E4A2D-EB4A-4004-BBDA-5F45473D4CB7}" type="slidenum">
              <a:rPr lang="pt-PT" altLang="pt-PT" smtClean="0"/>
              <a:pPr>
                <a:spcAft>
                  <a:spcPts val="600"/>
                </a:spcAft>
              </a:pPr>
              <a:t>5</a:t>
            </a:fld>
            <a:endParaRPr lang="pt-PT" altLang="pt-PT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B7CB04-0FBF-75BB-5E7B-8341D5AE41A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371957"/>
            <a:ext cx="8229600" cy="4631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9572128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CA2D3-1DF6-D486-E4F8-45CB1189D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wrap="square" anchor="b">
            <a:normAutofit/>
          </a:bodyPr>
          <a:lstStyle/>
          <a:p>
            <a:r>
              <a:rPr lang="pt-PT" dirty="0"/>
              <a:t>AWS Services Used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62D38B-984A-9E53-D83D-64566FD46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039" y="1219200"/>
            <a:ext cx="6391922" cy="493776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7DD82-0DC6-751E-BF25-DA4C9061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375" y="6357938"/>
            <a:ext cx="22891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D5F6417-8A9F-4FAE-9B3F-466C8EBA90FD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935B4-8955-52A1-C454-ABFA41B6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93E4A2D-EB4A-4004-BBDA-5F45473D4CB7}" type="slidenum">
              <a:rPr lang="pt-PT" altLang="pt-PT" smtClean="0"/>
              <a:pPr>
                <a:spcAft>
                  <a:spcPts val="600"/>
                </a:spcAft>
              </a:pPr>
              <a:t>6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916983289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F010-8D0C-213A-FCBE-F9B89F171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wrap="square" anchor="b">
            <a:normAutofit/>
          </a:bodyPr>
          <a:lstStyle/>
          <a:p>
            <a:r>
              <a:rPr lang="pt-PT" dirty="0"/>
              <a:t>Backend and Data Structure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88E876-7BCB-46F0-ED61-13406FAF1A9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373505"/>
            <a:ext cx="8229600" cy="462914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FB733-359D-0EB7-A5E6-61A6E45A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375" y="6357938"/>
            <a:ext cx="22891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D5F6417-8A9F-4FAE-9B3F-466C8EBA90FD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403DD-D7B0-5B42-CA85-5AE1D1C0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93E4A2D-EB4A-4004-BBDA-5F45473D4CB7}" type="slidenum">
              <a:rPr lang="pt-PT" altLang="pt-PT" smtClean="0"/>
              <a:pPr>
                <a:spcAft>
                  <a:spcPts val="600"/>
                </a:spcAft>
              </a:pPr>
              <a:t>7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391966151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7EDD6B-B063-5D5C-1897-B67279AD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wrap="square" anchor="b">
            <a:normAutofit/>
          </a:bodyPr>
          <a:lstStyle/>
          <a:p>
            <a:r>
              <a:rPr lang="pt-PT" dirty="0"/>
              <a:t>Key Features Implemented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C218B01-B81A-0234-9240-626D121DD9A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457200" y="1219200"/>
            <a:ext cx="8229600" cy="493776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Private dashboard per user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Public anonymous voting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Vote change while poll is open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QR Code sharing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Optional poll images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Chart-based results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Manual poll close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Automatic expired poll processing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Per-owner result notifications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b="0" i="0" u="none" strike="noStrike" cap="none" normalizeH="0" baseline="0">
                <a:ln>
                  <a:noFill/>
                </a:ln>
                <a:effectLst/>
              </a:rPr>
              <a:t>CSV result export to S3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67D82-A867-BB30-79E0-4747A8EFE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375" y="6357938"/>
            <a:ext cx="22891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D5F6417-8A9F-4FAE-9B3F-466C8EBA90FD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8294B-5258-D05E-82B1-EEB48CEB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93E4A2D-EB4A-4004-BBDA-5F45473D4CB7}" type="slidenum">
              <a:rPr lang="pt-PT" altLang="pt-PT" smtClean="0"/>
              <a:pPr>
                <a:spcAft>
                  <a:spcPts val="600"/>
                </a:spcAft>
              </a:pPr>
              <a:t>8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586733365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9CB6-9B5A-AA4D-0BE4-344F1A74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wrap="square" anchor="b">
            <a:normAutofit/>
          </a:bodyPr>
          <a:lstStyle/>
          <a:p>
            <a:r>
              <a:rPr lang="pt-PT" dirty="0"/>
              <a:t>Demo Plan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540FB54-6FE1-0189-EB10-656CCD79A84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457200" y="1219200"/>
            <a:ext cx="8229600" cy="493776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Open PollNow.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Log in.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Show private dashboard.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Create a poll with image.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Open share page.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Show QR Code.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Vote in the public page.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Change the vote.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Open results page.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Close the poll.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Show voting blocked after close.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2400" b="0" i="0" u="none" strike="noStrike" cap="none" normalizeH="0" baseline="0">
                <a:ln>
                  <a:noFill/>
                </a:ln>
                <a:effectLst/>
              </a:rPr>
              <a:t>Explain automatic expiration and SNS notifications.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3DF77-F722-0C7B-6101-96A7F099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375" y="6357938"/>
            <a:ext cx="22891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D5F6417-8A9F-4FAE-9B3F-466C8EBA90FD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688EF-8C59-9E90-9BEE-34BE775A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93E4A2D-EB4A-4004-BBDA-5F45473D4CB7}" type="slidenum">
              <a:rPr lang="pt-PT" altLang="pt-PT" smtClean="0"/>
              <a:pPr>
                <a:spcAft>
                  <a:spcPts val="600"/>
                </a:spcAft>
              </a:pPr>
              <a:t>9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2586638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F2460-EE9D-6E9D-2477-F62471D1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wrap="square" anchor="b">
            <a:normAutofit/>
          </a:bodyPr>
          <a:lstStyle/>
          <a:p>
            <a:r>
              <a:rPr lang="pt-PT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9DBCE-9C87-CCCC-2C47-AE0D797C4A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 wrap="square" anchor="t">
            <a:normAutofit/>
          </a:bodyPr>
          <a:lstStyle/>
          <a:p>
            <a:r>
              <a:rPr lang="pt-PT" dirty="0"/>
              <a:t>PollNow demonstrates a complete serverless polling system using multiple AWS services.</a:t>
            </a:r>
          </a:p>
          <a:p>
            <a:r>
              <a:rPr lang="pt-PT" dirty="0"/>
              <a:t>The project includes:</a:t>
            </a:r>
          </a:p>
          <a:p>
            <a:r>
              <a:rPr lang="pt-PT" dirty="0"/>
              <a:t>frontend/backend separation;</a:t>
            </a:r>
          </a:p>
          <a:p>
            <a:r>
              <a:rPr lang="pt-PT" dirty="0"/>
              <a:t>serverless backend logic;</a:t>
            </a:r>
          </a:p>
          <a:p>
            <a:r>
              <a:rPr lang="pt-PT" dirty="0"/>
              <a:t>persistent data storage;</a:t>
            </a:r>
          </a:p>
          <a:p>
            <a:r>
              <a:rPr lang="pt-PT" dirty="0"/>
              <a:t>object storage;</a:t>
            </a:r>
          </a:p>
          <a:p>
            <a:r>
              <a:rPr lang="pt-PT" dirty="0"/>
              <a:t>notifications;</a:t>
            </a:r>
          </a:p>
          <a:p>
            <a:r>
              <a:rPr lang="pt-PT" dirty="0"/>
              <a:t>scheduled automation;</a:t>
            </a:r>
          </a:p>
          <a:p>
            <a:r>
              <a:rPr lang="pt-PT" dirty="0"/>
              <a:t>public and private workflows.</a:t>
            </a:r>
          </a:p>
          <a:p>
            <a:endParaRPr lang="pt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C7F54-15A5-3B16-0016-4BE0FB8F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9375" y="6357938"/>
            <a:ext cx="228917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D5F6417-8A9F-4FAE-9B3F-466C8EBA90FD}" type="datetime1">
              <a:rPr lang="pt-PT" smtClean="0"/>
              <a:pPr>
                <a:spcAft>
                  <a:spcPts val="600"/>
                </a:spcAft>
                <a:defRPr/>
              </a:pPr>
              <a:t>05/06/2026</a:t>
            </a:fld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30F65-A9DB-B9CC-8E9E-54863CAA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775" y="6356350"/>
            <a:ext cx="1981200" cy="3651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C93E4A2D-EB4A-4004-BBDA-5F45473D4CB7}" type="slidenum">
              <a:rPr lang="pt-PT" altLang="pt-PT" smtClean="0"/>
              <a:pPr>
                <a:spcAft>
                  <a:spcPts val="600"/>
                </a:spcAft>
              </a:pPr>
              <a:t>10</a:t>
            </a:fld>
            <a:endParaRPr lang="pt-PT" altLang="pt-PT"/>
          </a:p>
        </p:txBody>
      </p:sp>
    </p:spTree>
    <p:extLst>
      <p:ext uri="{BB962C8B-B14F-4D97-AF65-F5344CB8AC3E}">
        <p14:creationId xmlns:p14="http://schemas.microsoft.com/office/powerpoint/2010/main" val="1366532886"/>
      </p:ext>
    </p:extLst>
  </p:cSld>
  <p:clrMapOvr>
    <a:masterClrMapping/>
  </p:clrMapOvr>
  <p:transition>
    <p:wipe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5D2D6496219D48AFA0EDB2D779698D" ma:contentTypeVersion="3" ma:contentTypeDescription="Create a new document." ma:contentTypeScope="" ma:versionID="9901f286e7d89da678b7ecd424c48534">
  <xsd:schema xmlns:xsd="http://www.w3.org/2001/XMLSchema" xmlns:xs="http://www.w3.org/2001/XMLSchema" xmlns:p="http://schemas.microsoft.com/office/2006/metadata/properties" xmlns:ns2="7cb54725-3ce4-4ca8-9b5a-4294bea4ea97" targetNamespace="http://schemas.microsoft.com/office/2006/metadata/properties" ma:root="true" ma:fieldsID="d3cf21c7c74f53e999beaa6cbdcc7ac8" ns2:_="">
    <xsd:import namespace="7cb54725-3ce4-4ca8-9b5a-4294bea4ea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b54725-3ce4-4ca8-9b5a-4294bea4e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5DE27C-29B3-4C0D-9993-E83A569002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b54725-3ce4-4ca8-9b5a-4294bea4e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735024-FF7B-49A0-B73D-654E7B38AF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C26A52-8D70-43BC-8642-D384C79B033D}">
  <ds:schemaRefs>
    <ds:schemaRef ds:uri="40f9b8ef-ce6e-41f8-9e3f-5d5a7ddfee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956</Words>
  <Application>Microsoft Office PowerPoint</Application>
  <PresentationFormat>On-screen Show (4:3)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Wingdings</vt:lpstr>
      <vt:lpstr>Wingdings 3</vt:lpstr>
      <vt:lpstr>Master</vt:lpstr>
      <vt:lpstr>Plataformas de desenvolvimento PollNow: AWS </vt:lpstr>
      <vt:lpstr>PollNow: Serverless Polling Application</vt:lpstr>
      <vt:lpstr>Objective</vt:lpstr>
      <vt:lpstr>User Flow</vt:lpstr>
      <vt:lpstr>AWS Architecture</vt:lpstr>
      <vt:lpstr>AWS Services Used</vt:lpstr>
      <vt:lpstr>Backend and Data Structure</vt:lpstr>
      <vt:lpstr>Key Features Implemented</vt:lpstr>
      <vt:lpstr>Demo Plan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Systems Workshop</dc:title>
  <dc:creator>JCunha;RFilipe</dc:creator>
  <cp:lastModifiedBy>Ruben João Rocha Pires Morffis Ferreiro</cp:lastModifiedBy>
  <cp:revision>54</cp:revision>
  <dcterms:created xsi:type="dcterms:W3CDTF">2007-12-28T01:48:16Z</dcterms:created>
  <dcterms:modified xsi:type="dcterms:W3CDTF">2026-06-05T16:00:22Z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0x010100755D2D6496219D48AFA0EDB2D779698D</vt:lpwstr>
  </property>
  <property fmtid="{D5CDD505-2E9C-101B-9397-08002B2CF9AE}" pid="3" name="MediaServiceImageTags">
    <vt:lpwstr/>
  </property>
  <property fmtid="{D5CDD505-2E9C-101B-9397-08002B2CF9AE}" pid="4" name="Order">
    <vt:r8>2800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